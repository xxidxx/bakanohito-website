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5261336" y="502920"/>
            <a:ext cx="2743200" cy="365760"/>
          </a:xfrm>
          <a:prstGeom prst="rect">
            <a:avLst/>
          </a:prstGeom>
          <a:noFill/>
        </p:spPr>
        <p:txBody>
          <a:bodyPr wrap="square">
            <a:spAutoFit/>
          </a:bodyPr>
          <a:lstStyle/>
          <a:p>
            <a:pPr algn="r">
              <a:defRPr sz="1800" b="0">
                <a:solidFill>
                  <a:srgbClr val="8A9099"/>
                </a:solidFill>
                <a:latin typeface="Arial"/>
              </a:defRPr>
            </a:pPr>
            <a:r>
              <a:t>MASTER OF BUSINESS ADMINISTRATION</a:t>
            </a:r>
          </a:p>
        </p:txBody>
      </p:sp>
      <p:sp>
        <p:nvSpPr>
          <p:cNvPr id="3" name="Rectangle 2"/>
          <p:cNvSpPr/>
          <p:nvPr/>
        </p:nvSpPr>
        <p:spPr>
          <a:xfrm>
            <a:off x="1051560" y="777240"/>
            <a:ext cx="109728" cy="320040"/>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25880" y="777240"/>
            <a:ext cx="7315200" cy="365760"/>
          </a:xfrm>
          <a:prstGeom prst="rect">
            <a:avLst/>
          </a:prstGeom>
          <a:noFill/>
        </p:spPr>
        <p:txBody>
          <a:bodyPr wrap="square">
            <a:spAutoFit/>
          </a:bodyPr>
          <a:lstStyle/>
          <a:p>
            <a:pPr algn="l">
              <a:defRPr sz="1800" b="1">
                <a:solidFill>
                  <a:srgbClr val="1A6E4F"/>
                </a:solidFill>
                <a:latin typeface="Arial"/>
              </a:defRPr>
            </a:pPr>
            <a:r>
              <a:t>NORTHEASTERN UNIVERSITY  ·  MBA THESIS DEFENSE</a:t>
            </a:r>
          </a:p>
        </p:txBody>
      </p:sp>
      <p:sp>
        <p:nvSpPr>
          <p:cNvPr id="5" name="TextBox 4"/>
          <p:cNvSpPr txBox="1"/>
          <p:nvPr/>
        </p:nvSpPr>
        <p:spPr>
          <a:xfrm>
            <a:off x="1051560" y="1828800"/>
            <a:ext cx="16194024" cy="2286000"/>
          </a:xfrm>
          <a:prstGeom prst="rect">
            <a:avLst/>
          </a:prstGeom>
          <a:noFill/>
        </p:spPr>
        <p:txBody>
          <a:bodyPr wrap="square">
            <a:spAutoFit/>
          </a:bodyPr>
          <a:lstStyle/>
          <a:p>
            <a:pPr algn="l">
              <a:defRPr sz="5850" b="1">
                <a:solidFill>
                  <a:srgbClr val="16191C"/>
                </a:solidFill>
                <a:latin typeface="Arial"/>
              </a:defRPr>
            </a:pPr>
            <a:r>
              <a:t>Research on the Marketing Strategy of</a:t>
            </a:r>
            <a:br/>
            <a:r>
              <a:t>Pertamina's Pertamax Green 95 in the Indonesian Market</a:t>
            </a:r>
          </a:p>
        </p:txBody>
      </p:sp>
      <p:sp>
        <p:nvSpPr>
          <p:cNvPr id="6" name="TextBox 5"/>
          <p:cNvSpPr txBox="1"/>
          <p:nvPr/>
        </p:nvSpPr>
        <p:spPr>
          <a:xfrm>
            <a:off x="1051560" y="3017520"/>
            <a:ext cx="16194024" cy="1097280"/>
          </a:xfrm>
          <a:prstGeom prst="rect">
            <a:avLst/>
          </a:prstGeom>
          <a:noFill/>
        </p:spPr>
        <p:txBody>
          <a:bodyPr wrap="square">
            <a:spAutoFit/>
          </a:bodyPr>
          <a:lstStyle/>
          <a:p>
            <a:pPr algn="l">
              <a:defRPr sz="3000" b="0">
                <a:solidFill>
                  <a:srgbClr val="1A6E4F"/>
                </a:solidFill>
                <a:latin typeface="Arial"/>
              </a:defRPr>
            </a:pPr>
            <a:r>
              <a:t>Evidence-Based 7Ps Strategy for Green Fuel Adoption</a:t>
            </a:r>
          </a:p>
        </p:txBody>
      </p:sp>
      <p:sp>
        <p:nvSpPr>
          <p:cNvPr id="7" name="Rectangle 6"/>
          <p:cNvSpPr/>
          <p:nvPr/>
        </p:nvSpPr>
        <p:spPr>
          <a:xfrm>
            <a:off x="1051560" y="1645920"/>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51560" y="4297680"/>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7772400"/>
            <a:ext cx="7315200" cy="457200"/>
          </a:xfrm>
          <a:prstGeom prst="rect">
            <a:avLst/>
          </a:prstGeom>
          <a:noFill/>
        </p:spPr>
        <p:txBody>
          <a:bodyPr wrap="square">
            <a:spAutoFit/>
          </a:bodyPr>
          <a:lstStyle/>
          <a:p>
            <a:pPr algn="l">
              <a:defRPr sz="2400" b="0">
                <a:solidFill>
                  <a:srgbClr val="8A9099"/>
                </a:solidFill>
                <a:latin typeface="Arial"/>
              </a:defRPr>
            </a:pPr>
            <a:r>
              <a:t>December 2026</a:t>
            </a:r>
          </a:p>
        </p:txBody>
      </p:sp>
      <p:sp>
        <p:nvSpPr>
          <p:cNvPr id="10" name="TextBox 9"/>
          <p:cNvSpPr txBox="1"/>
          <p:nvPr/>
        </p:nvSpPr>
        <p:spPr>
          <a:xfrm>
            <a:off x="1051560" y="8229600"/>
            <a:ext cx="7315200" cy="457200"/>
          </a:xfrm>
          <a:prstGeom prst="rect">
            <a:avLst/>
          </a:prstGeom>
          <a:noFill/>
        </p:spPr>
        <p:txBody>
          <a:bodyPr wrap="square">
            <a:spAutoFit/>
          </a:bodyPr>
          <a:lstStyle/>
          <a:p>
            <a:pPr algn="l">
              <a:defRPr sz="1800" b="0">
                <a:solidFill>
                  <a:srgbClr val="8A9099"/>
                </a:solidFill>
                <a:latin typeface="Arial"/>
              </a:defRPr>
            </a:pPr>
            <a:r>
              <a:t>School of Business Administration  ·  Northeastern University</a:t>
            </a:r>
          </a:p>
        </p:txBody>
      </p:sp>
      <p:pic>
        <p:nvPicPr>
          <p:cNvPr id="11" name="Picture 10" descr="neu_logo_cropped.png"/>
          <p:cNvPicPr>
            <a:picLocks noChangeAspect="1"/>
          </p:cNvPicPr>
          <p:nvPr/>
        </p:nvPicPr>
        <p:blipFill>
          <a:blip r:embed="rId2"/>
          <a:stretch>
            <a:fillRect/>
          </a:stretch>
        </p:blipFill>
        <p:spPr>
          <a:xfrm>
            <a:off x="15261336" y="822960"/>
            <a:ext cx="1984248" cy="731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1371600"/>
            <a:ext cx="4572000" cy="1371600"/>
          </a:xfrm>
          <a:prstGeom prst="rect">
            <a:avLst/>
          </a:prstGeom>
          <a:noFill/>
        </p:spPr>
        <p:txBody>
          <a:bodyPr wrap="square">
            <a:spAutoFit/>
          </a:bodyPr>
          <a:lstStyle/>
          <a:p>
            <a:pPr algn="l">
              <a:defRPr sz="15000" b="1">
                <a:solidFill>
                  <a:srgbClr val="EEF0F2"/>
                </a:solidFill>
                <a:latin typeface="Arial"/>
              </a:defRPr>
            </a:pPr>
            <a:r>
              <a:t>01</a:t>
            </a:r>
          </a:p>
        </p:txBody>
      </p:sp>
      <p:sp>
        <p:nvSpPr>
          <p:cNvPr id="3" name="Rectangle 2"/>
          <p:cNvSpPr/>
          <p:nvPr/>
        </p:nvSpPr>
        <p:spPr>
          <a:xfrm>
            <a:off x="1051560" y="2743200"/>
            <a:ext cx="420624" cy="27432"/>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926080"/>
            <a:ext cx="7315200" cy="457200"/>
          </a:xfrm>
          <a:prstGeom prst="rect">
            <a:avLst/>
          </a:prstGeom>
          <a:noFill/>
        </p:spPr>
        <p:txBody>
          <a:bodyPr wrap="square">
            <a:spAutoFit/>
          </a:bodyPr>
          <a:lstStyle/>
          <a:p>
            <a:pPr algn="l">
              <a:defRPr sz="1800" b="1">
                <a:solidFill>
                  <a:srgbClr val="1A6E4F"/>
                </a:solidFill>
                <a:latin typeface="Arial"/>
              </a:defRPr>
            </a:pPr>
            <a:r>
              <a:t>PART ONE</a:t>
            </a:r>
          </a:p>
        </p:txBody>
      </p:sp>
      <p:sp>
        <p:nvSpPr>
          <p:cNvPr id="5" name="TextBox 4"/>
          <p:cNvSpPr txBox="1"/>
          <p:nvPr/>
        </p:nvSpPr>
        <p:spPr>
          <a:xfrm>
            <a:off x="1051560" y="3474720"/>
            <a:ext cx="16194024" cy="1371600"/>
          </a:xfrm>
          <a:prstGeom prst="rect">
            <a:avLst/>
          </a:prstGeom>
          <a:noFill/>
        </p:spPr>
        <p:txBody>
          <a:bodyPr wrap="square">
            <a:spAutoFit/>
          </a:bodyPr>
          <a:lstStyle/>
          <a:p>
            <a:pPr algn="l">
              <a:defRPr sz="6900" b="1">
                <a:solidFill>
                  <a:srgbClr val="16191C"/>
                </a:solidFill>
                <a:latin typeface="Arial"/>
              </a:defRPr>
            </a:pPr>
            <a:r>
              <a:t>Context &amp; Problem:</a:t>
            </a:r>
            <a:br/>
            <a:r>
              <a:t>Why Pertamax Green 95 Is Stalled</a:t>
            </a:r>
          </a:p>
        </p:txBody>
      </p:sp>
      <p:sp>
        <p:nvSpPr>
          <p:cNvPr id="6" name="TextBox 5"/>
          <p:cNvSpPr txBox="1"/>
          <p:nvPr/>
        </p:nvSpPr>
        <p:spPr>
          <a:xfrm>
            <a:off x="1051560" y="5029200"/>
            <a:ext cx="13716000" cy="731520"/>
          </a:xfrm>
          <a:prstGeom prst="rect">
            <a:avLst/>
          </a:prstGeom>
          <a:noFill/>
        </p:spPr>
        <p:txBody>
          <a:bodyPr wrap="square">
            <a:spAutoFit/>
          </a:bodyPr>
          <a:lstStyle/>
          <a:p>
            <a:pPr algn="l">
              <a:defRPr sz="2250" b="0">
                <a:solidFill>
                  <a:srgbClr val="5B625F"/>
                </a:solidFill>
                <a:latin typeface="Arial"/>
              </a:defRPr>
            </a:pPr>
            <a:r>
              <a:t>Marketing activation failure — not product deficiency — drives low adoption</a:t>
            </a:r>
          </a:p>
        </p:txBody>
      </p:sp>
      <p:pic>
        <p:nvPicPr>
          <p:cNvPr id="7" name="Picture 6" descr="neu_logo_cropped.png"/>
          <p:cNvPicPr>
            <a:picLocks noChangeAspect="1"/>
          </p:cNvPicPr>
          <p:nvPr/>
        </p:nvPicPr>
        <p:blipFill>
          <a:blip r:embed="rId2"/>
          <a:stretch>
            <a:fillRect/>
          </a:stretch>
        </p:blipFill>
        <p:spPr>
          <a:xfrm>
            <a:off x="15261336" y="822960"/>
            <a:ext cx="1984248" cy="7315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804672"/>
            <a:ext cx="13716000" cy="365760"/>
          </a:xfrm>
          <a:prstGeom prst="rect">
            <a:avLst/>
          </a:prstGeom>
          <a:noFill/>
        </p:spPr>
        <p:txBody>
          <a:bodyPr wrap="square">
            <a:spAutoFit/>
          </a:bodyPr>
          <a:lstStyle/>
          <a:p>
            <a:pPr algn="l">
              <a:defRPr sz="1800" b="1">
                <a:solidFill>
                  <a:srgbClr val="1A6E4F"/>
                </a:solidFill>
                <a:latin typeface="Arial"/>
              </a:defRPr>
            </a:pPr>
            <a:r>
              <a:t>CONTEXT  ·  PROBLEM DIAGNOSIS</a:t>
            </a:r>
          </a:p>
        </p:txBody>
      </p:sp>
      <p:sp>
        <p:nvSpPr>
          <p:cNvPr id="3" name="TextBox 2"/>
          <p:cNvSpPr txBox="1"/>
          <p:nvPr/>
        </p:nvSpPr>
        <p:spPr>
          <a:xfrm>
            <a:off x="1051560" y="1197864"/>
            <a:ext cx="13716000" cy="731520"/>
          </a:xfrm>
          <a:prstGeom prst="rect">
            <a:avLst/>
          </a:prstGeom>
          <a:noFill/>
        </p:spPr>
        <p:txBody>
          <a:bodyPr wrap="square">
            <a:spAutoFit/>
          </a:bodyPr>
          <a:lstStyle/>
          <a:p>
            <a:pPr algn="l">
              <a:defRPr sz="3900" b="1">
                <a:solidFill>
                  <a:srgbClr val="16191C"/>
                </a:solidFill>
                <a:latin typeface="Arial"/>
              </a:defRPr>
            </a:pPr>
            <a:r>
              <a:t>Marketing Activation Failure Masks Operational Strength</a:t>
            </a:r>
          </a:p>
        </p:txBody>
      </p:sp>
      <p:sp>
        <p:nvSpPr>
          <p:cNvPr id="4" name="Rectangle 3"/>
          <p:cNvSpPr/>
          <p:nvPr/>
        </p:nvSpPr>
        <p:spPr>
          <a:xfrm>
            <a:off x="1051560" y="1975104"/>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u_logo_cropped.png"/>
          <p:cNvPicPr>
            <a:picLocks noChangeAspect="1"/>
          </p:cNvPicPr>
          <p:nvPr/>
        </p:nvPicPr>
        <p:blipFill>
          <a:blip r:embed="rId2"/>
          <a:stretch>
            <a:fillRect/>
          </a:stretch>
        </p:blipFill>
        <p:spPr>
          <a:xfrm>
            <a:off x="15261336" y="822960"/>
            <a:ext cx="1984248" cy="731520"/>
          </a:xfrm>
          <a:prstGeom prst="rect">
            <a:avLst/>
          </a:prstGeom>
        </p:spPr>
      </p:pic>
      <p:sp>
        <p:nvSpPr>
          <p:cNvPr id="6" name="Rectangle 5"/>
          <p:cNvSpPr/>
          <p:nvPr/>
        </p:nvSpPr>
        <p:spPr>
          <a:xfrm>
            <a:off x="1051560" y="2286000"/>
            <a:ext cx="3749039" cy="1463040"/>
          </a:xfrm>
          <a:prstGeom prst="rect">
            <a:avLst/>
          </a:prstGeom>
          <a:no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19" y="2377440"/>
            <a:ext cx="3474720" cy="548640"/>
          </a:xfrm>
          <a:prstGeom prst="rect">
            <a:avLst/>
          </a:prstGeom>
          <a:noFill/>
        </p:spPr>
        <p:txBody>
          <a:bodyPr wrap="square">
            <a:spAutoFit/>
          </a:bodyPr>
          <a:lstStyle/>
          <a:p>
            <a:pPr algn="ctr">
              <a:defRPr sz="4050" b="1">
                <a:solidFill>
                  <a:srgbClr val="16191C"/>
                </a:solidFill>
                <a:latin typeface="Arial"/>
              </a:defRPr>
            </a:pPr>
            <a:r>
              <a:t>3.449</a:t>
            </a:r>
          </a:p>
        </p:txBody>
      </p:sp>
      <p:sp>
        <p:nvSpPr>
          <p:cNvPr id="8" name="TextBox 7"/>
          <p:cNvSpPr txBox="1"/>
          <p:nvPr/>
        </p:nvSpPr>
        <p:spPr>
          <a:xfrm>
            <a:off x="1188719" y="2880360"/>
            <a:ext cx="3474720" cy="365760"/>
          </a:xfrm>
          <a:prstGeom prst="rect">
            <a:avLst/>
          </a:prstGeom>
          <a:noFill/>
        </p:spPr>
        <p:txBody>
          <a:bodyPr wrap="square">
            <a:spAutoFit/>
          </a:bodyPr>
          <a:lstStyle/>
          <a:p>
            <a:pPr algn="ctr">
              <a:defRPr sz="1800" b="0">
                <a:solidFill>
                  <a:srgbClr val="5B625F"/>
                </a:solidFill>
                <a:latin typeface="Arial"/>
              </a:defRPr>
            </a:pPr>
            <a:r>
              <a:t>Overall 7Ps Mean</a:t>
            </a:r>
            <a:br/>
            <a:r>
              <a:t>(Moderate)</a:t>
            </a:r>
          </a:p>
        </p:txBody>
      </p:sp>
      <p:sp>
        <p:nvSpPr>
          <p:cNvPr id="9" name="Rectangle 8"/>
          <p:cNvSpPr/>
          <p:nvPr/>
        </p:nvSpPr>
        <p:spPr>
          <a:xfrm>
            <a:off x="4983480" y="2286000"/>
            <a:ext cx="3749039" cy="1463040"/>
          </a:xfrm>
          <a:prstGeom prst="rect">
            <a:avLst/>
          </a:prstGeom>
          <a:no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2377440"/>
            <a:ext cx="3474720" cy="548640"/>
          </a:xfrm>
          <a:prstGeom prst="rect">
            <a:avLst/>
          </a:prstGeom>
          <a:noFill/>
        </p:spPr>
        <p:txBody>
          <a:bodyPr wrap="square">
            <a:spAutoFit/>
          </a:bodyPr>
          <a:lstStyle/>
          <a:p>
            <a:pPr algn="ctr">
              <a:defRPr sz="4050" b="1">
                <a:solidFill>
                  <a:srgbClr val="C0492F"/>
                </a:solidFill>
                <a:latin typeface="Arial"/>
              </a:defRPr>
            </a:pPr>
            <a:r>
              <a:t>2.848</a:t>
            </a:r>
          </a:p>
        </p:txBody>
      </p:sp>
      <p:sp>
        <p:nvSpPr>
          <p:cNvPr id="11" name="TextBox 10"/>
          <p:cNvSpPr txBox="1"/>
          <p:nvPr/>
        </p:nvSpPr>
        <p:spPr>
          <a:xfrm>
            <a:off x="5120640" y="2880360"/>
            <a:ext cx="3474720" cy="365760"/>
          </a:xfrm>
          <a:prstGeom prst="rect">
            <a:avLst/>
          </a:prstGeom>
          <a:noFill/>
        </p:spPr>
        <p:txBody>
          <a:bodyPr wrap="square">
            <a:spAutoFit/>
          </a:bodyPr>
          <a:lstStyle/>
          <a:p>
            <a:pPr algn="ctr">
              <a:defRPr sz="1800" b="0">
                <a:solidFill>
                  <a:srgbClr val="5B625F"/>
                </a:solidFill>
                <a:latin typeface="Arial"/>
              </a:defRPr>
            </a:pPr>
            <a:r>
              <a:t>Promotion</a:t>
            </a:r>
            <a:br/>
            <a:r>
              <a:t>(Needs Improvement)</a:t>
            </a:r>
          </a:p>
        </p:txBody>
      </p:sp>
      <p:sp>
        <p:nvSpPr>
          <p:cNvPr id="12" name="Rectangle 11"/>
          <p:cNvSpPr/>
          <p:nvPr/>
        </p:nvSpPr>
        <p:spPr>
          <a:xfrm>
            <a:off x="8915400" y="2286000"/>
            <a:ext cx="3749039" cy="1463040"/>
          </a:xfrm>
          <a:prstGeom prst="rect">
            <a:avLst/>
          </a:prstGeom>
          <a:no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0" y="2377440"/>
            <a:ext cx="3474720" cy="548640"/>
          </a:xfrm>
          <a:prstGeom prst="rect">
            <a:avLst/>
          </a:prstGeom>
          <a:noFill/>
        </p:spPr>
        <p:txBody>
          <a:bodyPr wrap="square">
            <a:spAutoFit/>
          </a:bodyPr>
          <a:lstStyle/>
          <a:p>
            <a:pPr algn="ctr">
              <a:defRPr sz="4050" b="1">
                <a:solidFill>
                  <a:srgbClr val="1A6E4F"/>
                </a:solidFill>
                <a:latin typeface="Arial"/>
              </a:defRPr>
            </a:pPr>
            <a:r>
              <a:t>3.869</a:t>
            </a:r>
          </a:p>
        </p:txBody>
      </p:sp>
      <p:sp>
        <p:nvSpPr>
          <p:cNvPr id="14" name="TextBox 13"/>
          <p:cNvSpPr txBox="1"/>
          <p:nvPr/>
        </p:nvSpPr>
        <p:spPr>
          <a:xfrm>
            <a:off x="9052560" y="2880360"/>
            <a:ext cx="3474720" cy="365760"/>
          </a:xfrm>
          <a:prstGeom prst="rect">
            <a:avLst/>
          </a:prstGeom>
          <a:noFill/>
        </p:spPr>
        <p:txBody>
          <a:bodyPr wrap="square">
            <a:spAutoFit/>
          </a:bodyPr>
          <a:lstStyle/>
          <a:p>
            <a:pPr algn="ctr">
              <a:defRPr sz="1800" b="0">
                <a:solidFill>
                  <a:srgbClr val="5B625F"/>
                </a:solidFill>
                <a:latin typeface="Arial"/>
              </a:defRPr>
            </a:pPr>
            <a:r>
              <a:t>Process</a:t>
            </a:r>
            <a:br/>
            <a:r>
              <a:t>(Good)</a:t>
            </a:r>
          </a:p>
        </p:txBody>
      </p:sp>
      <p:sp>
        <p:nvSpPr>
          <p:cNvPr id="15" name="Rectangle 14"/>
          <p:cNvSpPr/>
          <p:nvPr/>
        </p:nvSpPr>
        <p:spPr>
          <a:xfrm>
            <a:off x="12847320" y="2286000"/>
            <a:ext cx="3749039" cy="1463040"/>
          </a:xfrm>
          <a:prstGeom prst="rect">
            <a:avLst/>
          </a:prstGeom>
          <a:no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984480" y="2377440"/>
            <a:ext cx="3474720" cy="548640"/>
          </a:xfrm>
          <a:prstGeom prst="rect">
            <a:avLst/>
          </a:prstGeom>
          <a:noFill/>
        </p:spPr>
        <p:txBody>
          <a:bodyPr wrap="square">
            <a:spAutoFit/>
          </a:bodyPr>
          <a:lstStyle/>
          <a:p>
            <a:pPr algn="ctr">
              <a:defRPr sz="4050" b="1">
                <a:solidFill>
                  <a:srgbClr val="1A6E4F"/>
                </a:solidFill>
                <a:latin typeface="Arial"/>
              </a:defRPr>
            </a:pPr>
            <a:r>
              <a:t>3.851</a:t>
            </a:r>
          </a:p>
        </p:txBody>
      </p:sp>
      <p:sp>
        <p:nvSpPr>
          <p:cNvPr id="17" name="TextBox 16"/>
          <p:cNvSpPr txBox="1"/>
          <p:nvPr/>
        </p:nvSpPr>
        <p:spPr>
          <a:xfrm>
            <a:off x="12984480" y="2880360"/>
            <a:ext cx="3474720" cy="365760"/>
          </a:xfrm>
          <a:prstGeom prst="rect">
            <a:avLst/>
          </a:prstGeom>
          <a:noFill/>
        </p:spPr>
        <p:txBody>
          <a:bodyPr wrap="square">
            <a:spAutoFit/>
          </a:bodyPr>
          <a:lstStyle/>
          <a:p>
            <a:pPr algn="ctr">
              <a:defRPr sz="1800" b="0">
                <a:solidFill>
                  <a:srgbClr val="5B625F"/>
                </a:solidFill>
                <a:latin typeface="Arial"/>
              </a:defRPr>
            </a:pPr>
            <a:r>
              <a:t>Physical Evidence</a:t>
            </a:r>
            <a:br/>
            <a:r>
              <a:t>(Good)</a:t>
            </a:r>
          </a:p>
        </p:txBody>
      </p:sp>
      <p:sp>
        <p:nvSpPr>
          <p:cNvPr id="18" name="Rectangle 17"/>
          <p:cNvSpPr/>
          <p:nvPr/>
        </p:nvSpPr>
        <p:spPr>
          <a:xfrm>
            <a:off x="1051560" y="4114800"/>
            <a:ext cx="16194024"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297680"/>
            <a:ext cx="16194024" cy="1097280"/>
          </a:xfrm>
          <a:prstGeom prst="rect">
            <a:avLst/>
          </a:prstGeom>
          <a:noFill/>
        </p:spPr>
        <p:txBody>
          <a:bodyPr wrap="square">
            <a:spAutoFit/>
          </a:bodyPr>
          <a:lstStyle/>
          <a:p>
            <a:pPr algn="l">
              <a:defRPr sz="2100" b="0">
                <a:solidFill>
                  <a:srgbClr val="16191C"/>
                </a:solidFill>
                <a:latin typeface="Arial"/>
              </a:defRPr>
            </a:pPr>
            <a:r>
              <a:t>1.021-point gap between highest (Process) and lowest (Promotion) dimension — operational excellence is invisible to the market. 44.4% of respondents unaware or never tried after 28 months.</a:t>
            </a:r>
          </a:p>
        </p:txBody>
      </p:sp>
      <p:sp>
        <p:nvSpPr>
          <p:cNvPr id="20" name="TextBox 19"/>
          <p:cNvSpPr txBox="1"/>
          <p:nvPr/>
        </p:nvSpPr>
        <p:spPr>
          <a:xfrm>
            <a:off x="1051560" y="5669280"/>
            <a:ext cx="16194024" cy="365760"/>
          </a:xfrm>
          <a:prstGeom prst="rect">
            <a:avLst/>
          </a:prstGeom>
          <a:noFill/>
        </p:spPr>
        <p:txBody>
          <a:bodyPr wrap="square">
            <a:spAutoFit/>
          </a:bodyPr>
          <a:lstStyle/>
          <a:p>
            <a:pPr algn="l">
              <a:defRPr sz="1800" b="1">
                <a:solidFill>
                  <a:srgbClr val="1A6E4F"/>
                </a:solidFill>
                <a:latin typeface="Arial"/>
              </a:defRPr>
            </a:pPr>
            <a:r>
              <a:t>KEY BARRIERS FROM SURVEY (n=124)</a:t>
            </a:r>
          </a:p>
        </p:txBody>
      </p:sp>
      <p:sp>
        <p:nvSpPr>
          <p:cNvPr id="21" name="Rectangle 20"/>
          <p:cNvSpPr/>
          <p:nvPr/>
        </p:nvSpPr>
        <p:spPr>
          <a:xfrm>
            <a:off x="1051560" y="6126480"/>
            <a:ext cx="3566160" cy="1371600"/>
          </a:xfrm>
          <a:prstGeom prst="rect">
            <a:avLst/>
          </a:prstGeom>
          <a:no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19" y="6217920"/>
            <a:ext cx="3291840" cy="548640"/>
          </a:xfrm>
          <a:prstGeom prst="rect">
            <a:avLst/>
          </a:prstGeom>
          <a:noFill/>
        </p:spPr>
        <p:txBody>
          <a:bodyPr wrap="square">
            <a:spAutoFit/>
          </a:bodyPr>
          <a:lstStyle/>
          <a:p>
            <a:pPr algn="ctr">
              <a:defRPr sz="3600" b="1">
                <a:solidFill>
                  <a:srgbClr val="16191C"/>
                </a:solidFill>
                <a:latin typeface="Arial"/>
              </a:defRPr>
            </a:pPr>
            <a:r>
              <a:t>60.48%</a:t>
            </a:r>
          </a:p>
        </p:txBody>
      </p:sp>
      <p:sp>
        <p:nvSpPr>
          <p:cNvPr id="23" name="TextBox 22"/>
          <p:cNvSpPr txBox="1"/>
          <p:nvPr/>
        </p:nvSpPr>
        <p:spPr>
          <a:xfrm>
            <a:off x="1188719" y="6720840"/>
            <a:ext cx="3291840" cy="365760"/>
          </a:xfrm>
          <a:prstGeom prst="rect">
            <a:avLst/>
          </a:prstGeom>
          <a:noFill/>
        </p:spPr>
        <p:txBody>
          <a:bodyPr wrap="square">
            <a:spAutoFit/>
          </a:bodyPr>
          <a:lstStyle/>
          <a:p>
            <a:pPr algn="ctr">
              <a:defRPr sz="1800" b="0">
                <a:solidFill>
                  <a:srgbClr val="5B625F"/>
                </a:solidFill>
                <a:latin typeface="Arial"/>
              </a:defRPr>
            </a:pPr>
            <a:r>
              <a:t>Availability &amp;</a:t>
            </a:r>
            <a:br/>
            <a:r>
              <a:t>Physical Access</a:t>
            </a:r>
          </a:p>
        </p:txBody>
      </p:sp>
      <p:sp>
        <p:nvSpPr>
          <p:cNvPr id="24" name="TextBox 23"/>
          <p:cNvSpPr txBox="1"/>
          <p:nvPr/>
        </p:nvSpPr>
        <p:spPr>
          <a:xfrm>
            <a:off x="1188719" y="7498079"/>
            <a:ext cx="3291840" cy="457200"/>
          </a:xfrm>
          <a:prstGeom prst="rect">
            <a:avLst/>
          </a:prstGeom>
          <a:noFill/>
        </p:spPr>
        <p:txBody>
          <a:bodyPr wrap="square">
            <a:spAutoFit/>
          </a:bodyPr>
          <a:lstStyle/>
          <a:p>
            <a:pPr algn="ctr">
              <a:defRPr sz="1400" b="0">
                <a:solidFill>
                  <a:srgbClr val="8A9099"/>
                </a:solidFill>
                <a:latin typeface="Arial"/>
              </a:defRPr>
            </a:pPr>
            <a:r>
              <a:t>Primary barrier</a:t>
            </a:r>
          </a:p>
        </p:txBody>
      </p:sp>
      <p:sp>
        <p:nvSpPr>
          <p:cNvPr id="25" name="Rectangle 24"/>
          <p:cNvSpPr/>
          <p:nvPr/>
        </p:nvSpPr>
        <p:spPr>
          <a:xfrm>
            <a:off x="4983479" y="6126480"/>
            <a:ext cx="3566160" cy="1371600"/>
          </a:xfrm>
          <a:prstGeom prst="rect">
            <a:avLst/>
          </a:prstGeom>
          <a:no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20640" y="6217920"/>
            <a:ext cx="3291840" cy="548640"/>
          </a:xfrm>
          <a:prstGeom prst="rect">
            <a:avLst/>
          </a:prstGeom>
          <a:noFill/>
        </p:spPr>
        <p:txBody>
          <a:bodyPr wrap="square">
            <a:spAutoFit/>
          </a:bodyPr>
          <a:lstStyle/>
          <a:p>
            <a:pPr algn="ctr">
              <a:defRPr sz="3600" b="1">
                <a:solidFill>
                  <a:srgbClr val="16191C"/>
                </a:solidFill>
                <a:latin typeface="Arial"/>
              </a:defRPr>
            </a:pPr>
            <a:r>
              <a:t>20.97%</a:t>
            </a:r>
          </a:p>
        </p:txBody>
      </p:sp>
      <p:sp>
        <p:nvSpPr>
          <p:cNvPr id="27" name="TextBox 26"/>
          <p:cNvSpPr txBox="1"/>
          <p:nvPr/>
        </p:nvSpPr>
        <p:spPr>
          <a:xfrm>
            <a:off x="5120640" y="6720840"/>
            <a:ext cx="3291840" cy="365760"/>
          </a:xfrm>
          <a:prstGeom prst="rect">
            <a:avLst/>
          </a:prstGeom>
          <a:noFill/>
        </p:spPr>
        <p:txBody>
          <a:bodyPr wrap="square">
            <a:spAutoFit/>
          </a:bodyPr>
          <a:lstStyle/>
          <a:p>
            <a:pPr algn="ctr">
              <a:defRPr sz="1800" b="0">
                <a:solidFill>
                  <a:srgbClr val="5B625F"/>
                </a:solidFill>
                <a:latin typeface="Arial"/>
              </a:defRPr>
            </a:pPr>
            <a:r>
              <a:t>Price &amp; Cost</a:t>
            </a:r>
            <a:br/>
            <a:r>
              <a:t>Concerns</a:t>
            </a:r>
          </a:p>
        </p:txBody>
      </p:sp>
      <p:sp>
        <p:nvSpPr>
          <p:cNvPr id="28" name="TextBox 27"/>
          <p:cNvSpPr txBox="1"/>
          <p:nvPr/>
        </p:nvSpPr>
        <p:spPr>
          <a:xfrm>
            <a:off x="5120640" y="7498079"/>
            <a:ext cx="3291840" cy="457200"/>
          </a:xfrm>
          <a:prstGeom prst="rect">
            <a:avLst/>
          </a:prstGeom>
          <a:noFill/>
        </p:spPr>
        <p:txBody>
          <a:bodyPr wrap="square">
            <a:spAutoFit/>
          </a:bodyPr>
          <a:lstStyle/>
          <a:p>
            <a:pPr algn="ctr">
              <a:defRPr sz="1400" b="0">
                <a:solidFill>
                  <a:srgbClr val="8A9099"/>
                </a:solidFill>
                <a:latin typeface="Arial"/>
              </a:defRPr>
            </a:pPr>
            <a:r>
              <a:t>Income-segmented</a:t>
            </a:r>
          </a:p>
        </p:txBody>
      </p:sp>
      <p:sp>
        <p:nvSpPr>
          <p:cNvPr id="29" name="Rectangle 28"/>
          <p:cNvSpPr/>
          <p:nvPr/>
        </p:nvSpPr>
        <p:spPr>
          <a:xfrm>
            <a:off x="8915400" y="6126480"/>
            <a:ext cx="3566160" cy="1371600"/>
          </a:xfrm>
          <a:prstGeom prst="rect">
            <a:avLst/>
          </a:prstGeom>
          <a:no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52560" y="6217920"/>
            <a:ext cx="3291840" cy="548640"/>
          </a:xfrm>
          <a:prstGeom prst="rect">
            <a:avLst/>
          </a:prstGeom>
          <a:noFill/>
        </p:spPr>
        <p:txBody>
          <a:bodyPr wrap="square">
            <a:spAutoFit/>
          </a:bodyPr>
          <a:lstStyle/>
          <a:p>
            <a:pPr algn="ctr">
              <a:defRPr sz="3600" b="1">
                <a:solidFill>
                  <a:srgbClr val="16191C"/>
                </a:solidFill>
                <a:latin typeface="Arial"/>
              </a:defRPr>
            </a:pPr>
            <a:r>
              <a:t>11.29%</a:t>
            </a:r>
          </a:p>
        </p:txBody>
      </p:sp>
      <p:sp>
        <p:nvSpPr>
          <p:cNvPr id="31" name="TextBox 30"/>
          <p:cNvSpPr txBox="1"/>
          <p:nvPr/>
        </p:nvSpPr>
        <p:spPr>
          <a:xfrm>
            <a:off x="9052560" y="6720840"/>
            <a:ext cx="3291840" cy="365760"/>
          </a:xfrm>
          <a:prstGeom prst="rect">
            <a:avLst/>
          </a:prstGeom>
          <a:noFill/>
        </p:spPr>
        <p:txBody>
          <a:bodyPr wrap="square">
            <a:spAutoFit/>
          </a:bodyPr>
          <a:lstStyle/>
          <a:p>
            <a:pPr algn="ctr">
              <a:defRPr sz="1800" b="0">
                <a:solidFill>
                  <a:srgbClr val="5B625F"/>
                </a:solidFill>
                <a:latin typeface="Arial"/>
              </a:defRPr>
            </a:pPr>
            <a:r>
              <a:t>Awareness &amp;</a:t>
            </a:r>
            <a:br/>
            <a:r>
              <a:t>Information Deficit</a:t>
            </a:r>
          </a:p>
        </p:txBody>
      </p:sp>
      <p:sp>
        <p:nvSpPr>
          <p:cNvPr id="32" name="TextBox 31"/>
          <p:cNvSpPr txBox="1"/>
          <p:nvPr/>
        </p:nvSpPr>
        <p:spPr>
          <a:xfrm>
            <a:off x="9052560" y="7498079"/>
            <a:ext cx="3291840" cy="457200"/>
          </a:xfrm>
          <a:prstGeom prst="rect">
            <a:avLst/>
          </a:prstGeom>
          <a:noFill/>
        </p:spPr>
        <p:txBody>
          <a:bodyPr wrap="square">
            <a:spAutoFit/>
          </a:bodyPr>
          <a:lstStyle/>
          <a:p>
            <a:pPr algn="ctr">
              <a:defRPr sz="1400" b="0">
                <a:solidFill>
                  <a:srgbClr val="8A9099"/>
                </a:solidFill>
                <a:latin typeface="Arial"/>
              </a:defRPr>
            </a:pPr>
            <a:r>
              <a:t>Ad visibility 2.113</a:t>
            </a:r>
          </a:p>
        </p:txBody>
      </p:sp>
      <p:sp>
        <p:nvSpPr>
          <p:cNvPr id="33" name="Rectangle 32"/>
          <p:cNvSpPr/>
          <p:nvPr/>
        </p:nvSpPr>
        <p:spPr>
          <a:xfrm>
            <a:off x="12847319" y="6126480"/>
            <a:ext cx="3566160" cy="1371600"/>
          </a:xfrm>
          <a:prstGeom prst="rect">
            <a:avLst/>
          </a:prstGeom>
          <a:no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984480" y="6217920"/>
            <a:ext cx="3291840" cy="548640"/>
          </a:xfrm>
          <a:prstGeom prst="rect">
            <a:avLst/>
          </a:prstGeom>
          <a:noFill/>
        </p:spPr>
        <p:txBody>
          <a:bodyPr wrap="square">
            <a:spAutoFit/>
          </a:bodyPr>
          <a:lstStyle/>
          <a:p>
            <a:pPr algn="ctr">
              <a:defRPr sz="3600" b="1">
                <a:solidFill>
                  <a:srgbClr val="16191C"/>
                </a:solidFill>
                <a:latin typeface="Arial"/>
              </a:defRPr>
            </a:pPr>
            <a:r>
              <a:t>7.26%</a:t>
            </a:r>
          </a:p>
        </p:txBody>
      </p:sp>
      <p:sp>
        <p:nvSpPr>
          <p:cNvPr id="35" name="TextBox 34"/>
          <p:cNvSpPr txBox="1"/>
          <p:nvPr/>
        </p:nvSpPr>
        <p:spPr>
          <a:xfrm>
            <a:off x="12984480" y="6720840"/>
            <a:ext cx="3291840" cy="365760"/>
          </a:xfrm>
          <a:prstGeom prst="rect">
            <a:avLst/>
          </a:prstGeom>
          <a:noFill/>
        </p:spPr>
        <p:txBody>
          <a:bodyPr wrap="square">
            <a:spAutoFit/>
          </a:bodyPr>
          <a:lstStyle/>
          <a:p>
            <a:pPr algn="ctr">
              <a:defRPr sz="1800" b="0">
                <a:solidFill>
                  <a:srgbClr val="5B625F"/>
                </a:solidFill>
                <a:latin typeface="Arial"/>
              </a:defRPr>
            </a:pPr>
            <a:r>
              <a:t>Brand Inertia</a:t>
            </a:r>
            <a:br/>
            <a:r>
              <a:t>&amp; Loyalty</a:t>
            </a:r>
          </a:p>
        </p:txBody>
      </p:sp>
      <p:sp>
        <p:nvSpPr>
          <p:cNvPr id="36" name="TextBox 35"/>
          <p:cNvSpPr txBox="1"/>
          <p:nvPr/>
        </p:nvSpPr>
        <p:spPr>
          <a:xfrm>
            <a:off x="12984480" y="7498079"/>
            <a:ext cx="3291840" cy="457200"/>
          </a:xfrm>
          <a:prstGeom prst="rect">
            <a:avLst/>
          </a:prstGeom>
          <a:noFill/>
        </p:spPr>
        <p:txBody>
          <a:bodyPr wrap="square">
            <a:spAutoFit/>
          </a:bodyPr>
          <a:lstStyle/>
          <a:p>
            <a:pPr algn="ctr">
              <a:defRPr sz="1400" b="0">
                <a:solidFill>
                  <a:srgbClr val="8A9099"/>
                </a:solidFill>
                <a:latin typeface="Arial"/>
              </a:defRPr>
            </a:pPr>
            <a:r>
              <a:t>Habitual resistance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804672"/>
            <a:ext cx="13716000" cy="365760"/>
          </a:xfrm>
          <a:prstGeom prst="rect">
            <a:avLst/>
          </a:prstGeom>
          <a:noFill/>
        </p:spPr>
        <p:txBody>
          <a:bodyPr wrap="square">
            <a:spAutoFit/>
          </a:bodyPr>
          <a:lstStyle/>
          <a:p>
            <a:pPr algn="l">
              <a:defRPr sz="1800" b="1">
                <a:solidFill>
                  <a:srgbClr val="1A6E4F"/>
                </a:solidFill>
                <a:latin typeface="Arial"/>
              </a:defRPr>
            </a:pPr>
            <a:r>
              <a:t>CONTEXT  ·  7Ps DIAGNOSTIC</a:t>
            </a:r>
          </a:p>
        </p:txBody>
      </p:sp>
      <p:sp>
        <p:nvSpPr>
          <p:cNvPr id="3" name="TextBox 2"/>
          <p:cNvSpPr txBox="1"/>
          <p:nvPr/>
        </p:nvSpPr>
        <p:spPr>
          <a:xfrm>
            <a:off x="1051560" y="1197864"/>
            <a:ext cx="13716000" cy="731520"/>
          </a:xfrm>
          <a:prstGeom prst="rect">
            <a:avLst/>
          </a:prstGeom>
          <a:noFill/>
        </p:spPr>
        <p:txBody>
          <a:bodyPr wrap="square">
            <a:spAutoFit/>
          </a:bodyPr>
          <a:lstStyle/>
          <a:p>
            <a:pPr algn="l">
              <a:defRPr sz="3900" b="1">
                <a:solidFill>
                  <a:srgbClr val="16191C"/>
                </a:solidFill>
                <a:latin typeface="Arial"/>
              </a:defRPr>
            </a:pPr>
            <a:r>
              <a:t>Severe Internal Asymmetry: Promotion Is the Critical Bottleneck</a:t>
            </a:r>
          </a:p>
        </p:txBody>
      </p:sp>
      <p:sp>
        <p:nvSpPr>
          <p:cNvPr id="4" name="Rectangle 3"/>
          <p:cNvSpPr/>
          <p:nvPr/>
        </p:nvSpPr>
        <p:spPr>
          <a:xfrm>
            <a:off x="1051560" y="1975104"/>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u_logo_cropped.png"/>
          <p:cNvPicPr>
            <a:picLocks noChangeAspect="1"/>
          </p:cNvPicPr>
          <p:nvPr/>
        </p:nvPicPr>
        <p:blipFill>
          <a:blip r:embed="rId2"/>
          <a:stretch>
            <a:fillRect/>
          </a:stretch>
        </p:blipFill>
        <p:spPr>
          <a:xfrm>
            <a:off x="15261336" y="822960"/>
            <a:ext cx="1984248" cy="731520"/>
          </a:xfrm>
          <a:prstGeom prst="rect">
            <a:avLst/>
          </a:prstGeom>
        </p:spPr>
      </p:pic>
      <p:sp>
        <p:nvSpPr>
          <p:cNvPr id="6" name="Rectangle 5"/>
          <p:cNvSpPr/>
          <p:nvPr/>
        </p:nvSpPr>
        <p:spPr>
          <a:xfrm>
            <a:off x="1051560" y="2286000"/>
            <a:ext cx="3200400" cy="411480"/>
          </a:xfrm>
          <a:prstGeom prst="rect">
            <a:avLst/>
          </a:prstGeom>
          <a:solidFill>
            <a:srgbClr val="1A6E4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331720"/>
            <a:ext cx="3017520" cy="320040"/>
          </a:xfrm>
          <a:prstGeom prst="rect">
            <a:avLst/>
          </a:prstGeom>
          <a:noFill/>
        </p:spPr>
        <p:txBody>
          <a:bodyPr wrap="square">
            <a:spAutoFit/>
          </a:bodyPr>
          <a:lstStyle/>
          <a:p>
            <a:pPr algn="ctr">
              <a:defRPr sz="1600" b="1">
                <a:solidFill>
                  <a:srgbClr val="FFFFFF"/>
                </a:solidFill>
                <a:latin typeface="Arial"/>
              </a:defRPr>
            </a:pPr>
            <a:r>
              <a:t>Dimension</a:t>
            </a:r>
          </a:p>
        </p:txBody>
      </p:sp>
      <p:sp>
        <p:nvSpPr>
          <p:cNvPr id="8" name="Rectangle 7"/>
          <p:cNvSpPr/>
          <p:nvPr/>
        </p:nvSpPr>
        <p:spPr>
          <a:xfrm>
            <a:off x="4251960" y="2286000"/>
            <a:ext cx="1097280" cy="411480"/>
          </a:xfrm>
          <a:prstGeom prst="rect">
            <a:avLst/>
          </a:prstGeom>
          <a:solidFill>
            <a:srgbClr val="1A6E4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2331720"/>
            <a:ext cx="914400" cy="320040"/>
          </a:xfrm>
          <a:prstGeom prst="rect">
            <a:avLst/>
          </a:prstGeom>
          <a:noFill/>
        </p:spPr>
        <p:txBody>
          <a:bodyPr wrap="square">
            <a:spAutoFit/>
          </a:bodyPr>
          <a:lstStyle/>
          <a:p>
            <a:pPr algn="ctr">
              <a:defRPr sz="1600" b="1">
                <a:solidFill>
                  <a:srgbClr val="FFFFFF"/>
                </a:solidFill>
                <a:latin typeface="Arial"/>
              </a:defRPr>
            </a:pPr>
            <a:r>
              <a:t>Mean</a:t>
            </a:r>
          </a:p>
        </p:txBody>
      </p:sp>
      <p:sp>
        <p:nvSpPr>
          <p:cNvPr id="10" name="Rectangle 9"/>
          <p:cNvSpPr/>
          <p:nvPr/>
        </p:nvSpPr>
        <p:spPr>
          <a:xfrm>
            <a:off x="5349240" y="2286000"/>
            <a:ext cx="914400" cy="411480"/>
          </a:xfrm>
          <a:prstGeom prst="rect">
            <a:avLst/>
          </a:prstGeom>
          <a:solidFill>
            <a:srgbClr val="1A6E4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40680" y="2331720"/>
            <a:ext cx="731520" cy="320040"/>
          </a:xfrm>
          <a:prstGeom prst="rect">
            <a:avLst/>
          </a:prstGeom>
          <a:noFill/>
        </p:spPr>
        <p:txBody>
          <a:bodyPr wrap="square">
            <a:spAutoFit/>
          </a:bodyPr>
          <a:lstStyle/>
          <a:p>
            <a:pPr algn="ctr">
              <a:defRPr sz="1600" b="1">
                <a:solidFill>
                  <a:srgbClr val="FFFFFF"/>
                </a:solidFill>
                <a:latin typeface="Arial"/>
              </a:defRPr>
            </a:pPr>
            <a:r>
              <a:t>SD</a:t>
            </a:r>
          </a:p>
        </p:txBody>
      </p:sp>
      <p:sp>
        <p:nvSpPr>
          <p:cNvPr id="12" name="Rectangle 11"/>
          <p:cNvSpPr/>
          <p:nvPr/>
        </p:nvSpPr>
        <p:spPr>
          <a:xfrm>
            <a:off x="6263640" y="2286000"/>
            <a:ext cx="1645920" cy="411480"/>
          </a:xfrm>
          <a:prstGeom prst="rect">
            <a:avLst/>
          </a:prstGeom>
          <a:solidFill>
            <a:srgbClr val="1A6E4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331720"/>
            <a:ext cx="1463040" cy="320040"/>
          </a:xfrm>
          <a:prstGeom prst="rect">
            <a:avLst/>
          </a:prstGeom>
          <a:noFill/>
        </p:spPr>
        <p:txBody>
          <a:bodyPr wrap="square">
            <a:spAutoFit/>
          </a:bodyPr>
          <a:lstStyle/>
          <a:p>
            <a:pPr algn="ctr">
              <a:defRPr sz="1600" b="1">
                <a:solidFill>
                  <a:srgbClr val="FFFFFF"/>
                </a:solidFill>
                <a:latin typeface="Arial"/>
              </a:defRPr>
            </a:pPr>
            <a:r>
              <a:t>Category</a:t>
            </a:r>
          </a:p>
        </p:txBody>
      </p:sp>
      <p:sp>
        <p:nvSpPr>
          <p:cNvPr id="14" name="Rectangle 13"/>
          <p:cNvSpPr/>
          <p:nvPr/>
        </p:nvSpPr>
        <p:spPr>
          <a:xfrm>
            <a:off x="7909560" y="2286000"/>
            <a:ext cx="1097280" cy="411480"/>
          </a:xfrm>
          <a:prstGeom prst="rect">
            <a:avLst/>
          </a:prstGeom>
          <a:solidFill>
            <a:srgbClr val="1A6E4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2331720"/>
            <a:ext cx="914400" cy="320040"/>
          </a:xfrm>
          <a:prstGeom prst="rect">
            <a:avLst/>
          </a:prstGeom>
          <a:noFill/>
        </p:spPr>
        <p:txBody>
          <a:bodyPr wrap="square">
            <a:spAutoFit/>
          </a:bodyPr>
          <a:lstStyle/>
          <a:p>
            <a:pPr algn="ctr">
              <a:defRPr sz="1600" b="1">
                <a:solidFill>
                  <a:srgbClr val="FFFFFF"/>
                </a:solidFill>
                <a:latin typeface="Arial"/>
              </a:defRPr>
            </a:pPr>
            <a:r>
              <a:t>Gap vs. Best</a:t>
            </a:r>
          </a:p>
        </p:txBody>
      </p:sp>
      <p:sp>
        <p:nvSpPr>
          <p:cNvPr id="16" name="Rectangle 15"/>
          <p:cNvSpPr/>
          <p:nvPr/>
        </p:nvSpPr>
        <p:spPr>
          <a:xfrm>
            <a:off x="1051560" y="2697480"/>
            <a:ext cx="320040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2743200"/>
            <a:ext cx="3017520" cy="320040"/>
          </a:xfrm>
          <a:prstGeom prst="rect">
            <a:avLst/>
          </a:prstGeom>
          <a:noFill/>
        </p:spPr>
        <p:txBody>
          <a:bodyPr wrap="square">
            <a:spAutoFit/>
          </a:bodyPr>
          <a:lstStyle/>
          <a:p>
            <a:pPr algn="l">
              <a:defRPr sz="1600" b="1">
                <a:solidFill>
                  <a:srgbClr val="16191C"/>
                </a:solidFill>
                <a:latin typeface="Arial"/>
              </a:defRPr>
            </a:pPr>
            <a:r>
              <a:t>P6 Process</a:t>
            </a:r>
          </a:p>
        </p:txBody>
      </p:sp>
      <p:sp>
        <p:nvSpPr>
          <p:cNvPr id="18" name="Rectangle 17"/>
          <p:cNvSpPr/>
          <p:nvPr/>
        </p:nvSpPr>
        <p:spPr>
          <a:xfrm>
            <a:off x="4251960" y="2697480"/>
            <a:ext cx="109728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2743200"/>
            <a:ext cx="914400" cy="320040"/>
          </a:xfrm>
          <a:prstGeom prst="rect">
            <a:avLst/>
          </a:prstGeom>
          <a:noFill/>
        </p:spPr>
        <p:txBody>
          <a:bodyPr wrap="square">
            <a:spAutoFit/>
          </a:bodyPr>
          <a:lstStyle/>
          <a:p>
            <a:pPr algn="ctr">
              <a:defRPr sz="1600" b="0">
                <a:solidFill>
                  <a:srgbClr val="16191C"/>
                </a:solidFill>
                <a:latin typeface="Arial"/>
              </a:defRPr>
            </a:pPr>
            <a:r>
              <a:t>3.869</a:t>
            </a:r>
          </a:p>
        </p:txBody>
      </p:sp>
      <p:sp>
        <p:nvSpPr>
          <p:cNvPr id="20" name="Rectangle 19"/>
          <p:cNvSpPr/>
          <p:nvPr/>
        </p:nvSpPr>
        <p:spPr>
          <a:xfrm>
            <a:off x="5349240" y="2697480"/>
            <a:ext cx="91440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40680" y="2743200"/>
            <a:ext cx="731520" cy="320040"/>
          </a:xfrm>
          <a:prstGeom prst="rect">
            <a:avLst/>
          </a:prstGeom>
          <a:noFill/>
        </p:spPr>
        <p:txBody>
          <a:bodyPr wrap="square">
            <a:spAutoFit/>
          </a:bodyPr>
          <a:lstStyle/>
          <a:p>
            <a:pPr algn="ctr">
              <a:defRPr sz="1600" b="0">
                <a:solidFill>
                  <a:srgbClr val="16191C"/>
                </a:solidFill>
                <a:latin typeface="Arial"/>
              </a:defRPr>
            </a:pPr>
            <a:r>
              <a:t>0.403</a:t>
            </a:r>
          </a:p>
        </p:txBody>
      </p:sp>
      <p:sp>
        <p:nvSpPr>
          <p:cNvPr id="22" name="Rectangle 21"/>
          <p:cNvSpPr/>
          <p:nvPr/>
        </p:nvSpPr>
        <p:spPr>
          <a:xfrm>
            <a:off x="6263640" y="2697480"/>
            <a:ext cx="164592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2743200"/>
            <a:ext cx="1463040" cy="320040"/>
          </a:xfrm>
          <a:prstGeom prst="rect">
            <a:avLst/>
          </a:prstGeom>
          <a:noFill/>
        </p:spPr>
        <p:txBody>
          <a:bodyPr wrap="square">
            <a:spAutoFit/>
          </a:bodyPr>
          <a:lstStyle/>
          <a:p>
            <a:pPr algn="ctr">
              <a:defRPr sz="1600" b="0">
                <a:solidFill>
                  <a:srgbClr val="1A6E4F"/>
                </a:solidFill>
                <a:latin typeface="Arial"/>
              </a:defRPr>
            </a:pPr>
            <a:r>
              <a:t>Good</a:t>
            </a:r>
          </a:p>
        </p:txBody>
      </p:sp>
      <p:sp>
        <p:nvSpPr>
          <p:cNvPr id="24" name="Rectangle 23"/>
          <p:cNvSpPr/>
          <p:nvPr/>
        </p:nvSpPr>
        <p:spPr>
          <a:xfrm>
            <a:off x="7909560" y="2697480"/>
            <a:ext cx="109728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01000" y="2743200"/>
            <a:ext cx="914400" cy="320040"/>
          </a:xfrm>
          <a:prstGeom prst="rect">
            <a:avLst/>
          </a:prstGeom>
          <a:noFill/>
        </p:spPr>
        <p:txBody>
          <a:bodyPr wrap="square">
            <a:spAutoFit/>
          </a:bodyPr>
          <a:lstStyle/>
          <a:p>
            <a:pPr algn="ctr">
              <a:defRPr sz="1600" b="0">
                <a:solidFill>
                  <a:srgbClr val="16191C"/>
                </a:solidFill>
                <a:latin typeface="Arial"/>
              </a:defRPr>
            </a:pPr>
            <a:r>
              <a:t>—</a:t>
            </a:r>
          </a:p>
        </p:txBody>
      </p:sp>
      <p:sp>
        <p:nvSpPr>
          <p:cNvPr id="26" name="Rectangle 25"/>
          <p:cNvSpPr/>
          <p:nvPr/>
        </p:nvSpPr>
        <p:spPr>
          <a:xfrm>
            <a:off x="1051560" y="3108960"/>
            <a:ext cx="320040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 y="3154680"/>
            <a:ext cx="3017520" cy="320040"/>
          </a:xfrm>
          <a:prstGeom prst="rect">
            <a:avLst/>
          </a:prstGeom>
          <a:noFill/>
        </p:spPr>
        <p:txBody>
          <a:bodyPr wrap="square">
            <a:spAutoFit/>
          </a:bodyPr>
          <a:lstStyle/>
          <a:p>
            <a:pPr algn="l">
              <a:defRPr sz="1600" b="1">
                <a:solidFill>
                  <a:srgbClr val="16191C"/>
                </a:solidFill>
                <a:latin typeface="Arial"/>
              </a:defRPr>
            </a:pPr>
            <a:r>
              <a:t>P7 Physical Evidence</a:t>
            </a:r>
          </a:p>
        </p:txBody>
      </p:sp>
      <p:sp>
        <p:nvSpPr>
          <p:cNvPr id="28" name="Rectangle 27"/>
          <p:cNvSpPr/>
          <p:nvPr/>
        </p:nvSpPr>
        <p:spPr>
          <a:xfrm>
            <a:off x="4251960" y="3108960"/>
            <a:ext cx="109728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43400" y="3154680"/>
            <a:ext cx="914400" cy="320040"/>
          </a:xfrm>
          <a:prstGeom prst="rect">
            <a:avLst/>
          </a:prstGeom>
          <a:noFill/>
        </p:spPr>
        <p:txBody>
          <a:bodyPr wrap="square">
            <a:spAutoFit/>
          </a:bodyPr>
          <a:lstStyle/>
          <a:p>
            <a:pPr algn="ctr">
              <a:defRPr sz="1600" b="0">
                <a:solidFill>
                  <a:srgbClr val="16191C"/>
                </a:solidFill>
                <a:latin typeface="Arial"/>
              </a:defRPr>
            </a:pPr>
            <a:r>
              <a:t>3.851</a:t>
            </a:r>
          </a:p>
        </p:txBody>
      </p:sp>
      <p:sp>
        <p:nvSpPr>
          <p:cNvPr id="30" name="Rectangle 29"/>
          <p:cNvSpPr/>
          <p:nvPr/>
        </p:nvSpPr>
        <p:spPr>
          <a:xfrm>
            <a:off x="5349240" y="3108960"/>
            <a:ext cx="91440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40680" y="3154680"/>
            <a:ext cx="731520" cy="320040"/>
          </a:xfrm>
          <a:prstGeom prst="rect">
            <a:avLst/>
          </a:prstGeom>
          <a:noFill/>
        </p:spPr>
        <p:txBody>
          <a:bodyPr wrap="square">
            <a:spAutoFit/>
          </a:bodyPr>
          <a:lstStyle/>
          <a:p>
            <a:pPr algn="ctr">
              <a:defRPr sz="1600" b="0">
                <a:solidFill>
                  <a:srgbClr val="16191C"/>
                </a:solidFill>
                <a:latin typeface="Arial"/>
              </a:defRPr>
            </a:pPr>
            <a:r>
              <a:t>0.478</a:t>
            </a:r>
          </a:p>
        </p:txBody>
      </p:sp>
      <p:sp>
        <p:nvSpPr>
          <p:cNvPr id="32" name="Rectangle 31"/>
          <p:cNvSpPr/>
          <p:nvPr/>
        </p:nvSpPr>
        <p:spPr>
          <a:xfrm>
            <a:off x="6263640" y="3108960"/>
            <a:ext cx="164592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3154680"/>
            <a:ext cx="1463040" cy="320040"/>
          </a:xfrm>
          <a:prstGeom prst="rect">
            <a:avLst/>
          </a:prstGeom>
          <a:noFill/>
        </p:spPr>
        <p:txBody>
          <a:bodyPr wrap="square">
            <a:spAutoFit/>
          </a:bodyPr>
          <a:lstStyle/>
          <a:p>
            <a:pPr algn="ctr">
              <a:defRPr sz="1600" b="0">
                <a:solidFill>
                  <a:srgbClr val="1A6E4F"/>
                </a:solidFill>
                <a:latin typeface="Arial"/>
              </a:defRPr>
            </a:pPr>
            <a:r>
              <a:t>Good</a:t>
            </a:r>
          </a:p>
        </p:txBody>
      </p:sp>
      <p:sp>
        <p:nvSpPr>
          <p:cNvPr id="34" name="Rectangle 33"/>
          <p:cNvSpPr/>
          <p:nvPr/>
        </p:nvSpPr>
        <p:spPr>
          <a:xfrm>
            <a:off x="7909560" y="3108960"/>
            <a:ext cx="109728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01000" y="3154680"/>
            <a:ext cx="914400" cy="320040"/>
          </a:xfrm>
          <a:prstGeom prst="rect">
            <a:avLst/>
          </a:prstGeom>
          <a:noFill/>
        </p:spPr>
        <p:txBody>
          <a:bodyPr wrap="square">
            <a:spAutoFit/>
          </a:bodyPr>
          <a:lstStyle/>
          <a:p>
            <a:pPr algn="ctr">
              <a:defRPr sz="1600" b="0">
                <a:solidFill>
                  <a:srgbClr val="16191C"/>
                </a:solidFill>
                <a:latin typeface="Arial"/>
              </a:defRPr>
            </a:pPr>
            <a:r>
              <a:t>-0.018</a:t>
            </a:r>
          </a:p>
        </p:txBody>
      </p:sp>
      <p:sp>
        <p:nvSpPr>
          <p:cNvPr id="36" name="Rectangle 35"/>
          <p:cNvSpPr/>
          <p:nvPr/>
        </p:nvSpPr>
        <p:spPr>
          <a:xfrm>
            <a:off x="1051560" y="3520440"/>
            <a:ext cx="320040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3000" y="3566160"/>
            <a:ext cx="3017520" cy="320040"/>
          </a:xfrm>
          <a:prstGeom prst="rect">
            <a:avLst/>
          </a:prstGeom>
          <a:noFill/>
        </p:spPr>
        <p:txBody>
          <a:bodyPr wrap="square">
            <a:spAutoFit/>
          </a:bodyPr>
          <a:lstStyle/>
          <a:p>
            <a:pPr algn="l">
              <a:defRPr sz="1600" b="1">
                <a:solidFill>
                  <a:srgbClr val="16191C"/>
                </a:solidFill>
                <a:latin typeface="Arial"/>
              </a:defRPr>
            </a:pPr>
            <a:r>
              <a:t>P5 People</a:t>
            </a:r>
          </a:p>
        </p:txBody>
      </p:sp>
      <p:sp>
        <p:nvSpPr>
          <p:cNvPr id="38" name="Rectangle 37"/>
          <p:cNvSpPr/>
          <p:nvPr/>
        </p:nvSpPr>
        <p:spPr>
          <a:xfrm>
            <a:off x="4251960" y="3520440"/>
            <a:ext cx="109728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3566160"/>
            <a:ext cx="914400" cy="320040"/>
          </a:xfrm>
          <a:prstGeom prst="rect">
            <a:avLst/>
          </a:prstGeom>
          <a:noFill/>
        </p:spPr>
        <p:txBody>
          <a:bodyPr wrap="square">
            <a:spAutoFit/>
          </a:bodyPr>
          <a:lstStyle/>
          <a:p>
            <a:pPr algn="ctr">
              <a:defRPr sz="1600" b="0">
                <a:solidFill>
                  <a:srgbClr val="16191C"/>
                </a:solidFill>
                <a:latin typeface="Arial"/>
              </a:defRPr>
            </a:pPr>
            <a:r>
              <a:t>3.762</a:t>
            </a:r>
          </a:p>
        </p:txBody>
      </p:sp>
      <p:sp>
        <p:nvSpPr>
          <p:cNvPr id="40" name="Rectangle 39"/>
          <p:cNvSpPr/>
          <p:nvPr/>
        </p:nvSpPr>
        <p:spPr>
          <a:xfrm>
            <a:off x="5349240" y="3520440"/>
            <a:ext cx="91440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40680" y="3566160"/>
            <a:ext cx="731520" cy="320040"/>
          </a:xfrm>
          <a:prstGeom prst="rect">
            <a:avLst/>
          </a:prstGeom>
          <a:noFill/>
        </p:spPr>
        <p:txBody>
          <a:bodyPr wrap="square">
            <a:spAutoFit/>
          </a:bodyPr>
          <a:lstStyle/>
          <a:p>
            <a:pPr algn="ctr">
              <a:defRPr sz="1600" b="0">
                <a:solidFill>
                  <a:srgbClr val="16191C"/>
                </a:solidFill>
                <a:latin typeface="Arial"/>
              </a:defRPr>
            </a:pPr>
            <a:r>
              <a:t>0.407</a:t>
            </a:r>
          </a:p>
        </p:txBody>
      </p:sp>
      <p:sp>
        <p:nvSpPr>
          <p:cNvPr id="42" name="Rectangle 41"/>
          <p:cNvSpPr/>
          <p:nvPr/>
        </p:nvSpPr>
        <p:spPr>
          <a:xfrm>
            <a:off x="6263640" y="3520440"/>
            <a:ext cx="164592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80" y="3566160"/>
            <a:ext cx="1463040" cy="320040"/>
          </a:xfrm>
          <a:prstGeom prst="rect">
            <a:avLst/>
          </a:prstGeom>
          <a:noFill/>
        </p:spPr>
        <p:txBody>
          <a:bodyPr wrap="square">
            <a:spAutoFit/>
          </a:bodyPr>
          <a:lstStyle/>
          <a:p>
            <a:pPr algn="ctr">
              <a:defRPr sz="1600" b="0">
                <a:solidFill>
                  <a:srgbClr val="1A6E4F"/>
                </a:solidFill>
                <a:latin typeface="Arial"/>
              </a:defRPr>
            </a:pPr>
            <a:r>
              <a:t>Good</a:t>
            </a:r>
          </a:p>
        </p:txBody>
      </p:sp>
      <p:sp>
        <p:nvSpPr>
          <p:cNvPr id="44" name="Rectangle 43"/>
          <p:cNvSpPr/>
          <p:nvPr/>
        </p:nvSpPr>
        <p:spPr>
          <a:xfrm>
            <a:off x="7909560" y="3520440"/>
            <a:ext cx="109728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01000" y="3566160"/>
            <a:ext cx="914400" cy="320040"/>
          </a:xfrm>
          <a:prstGeom prst="rect">
            <a:avLst/>
          </a:prstGeom>
          <a:noFill/>
        </p:spPr>
        <p:txBody>
          <a:bodyPr wrap="square">
            <a:spAutoFit/>
          </a:bodyPr>
          <a:lstStyle/>
          <a:p>
            <a:pPr algn="ctr">
              <a:defRPr sz="1600" b="0">
                <a:solidFill>
                  <a:srgbClr val="16191C"/>
                </a:solidFill>
                <a:latin typeface="Arial"/>
              </a:defRPr>
            </a:pPr>
            <a:r>
              <a:t>-0.107</a:t>
            </a:r>
          </a:p>
        </p:txBody>
      </p:sp>
      <p:sp>
        <p:nvSpPr>
          <p:cNvPr id="46" name="Rectangle 45"/>
          <p:cNvSpPr/>
          <p:nvPr/>
        </p:nvSpPr>
        <p:spPr>
          <a:xfrm>
            <a:off x="1051560" y="3931920"/>
            <a:ext cx="320040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43000" y="3977640"/>
            <a:ext cx="3017520" cy="320040"/>
          </a:xfrm>
          <a:prstGeom prst="rect">
            <a:avLst/>
          </a:prstGeom>
          <a:noFill/>
        </p:spPr>
        <p:txBody>
          <a:bodyPr wrap="square">
            <a:spAutoFit/>
          </a:bodyPr>
          <a:lstStyle/>
          <a:p>
            <a:pPr algn="l">
              <a:defRPr sz="1600" b="1">
                <a:solidFill>
                  <a:srgbClr val="16191C"/>
                </a:solidFill>
                <a:latin typeface="Arial"/>
              </a:defRPr>
            </a:pPr>
            <a:r>
              <a:t>P1 Product</a:t>
            </a:r>
          </a:p>
        </p:txBody>
      </p:sp>
      <p:sp>
        <p:nvSpPr>
          <p:cNvPr id="48" name="Rectangle 47"/>
          <p:cNvSpPr/>
          <p:nvPr/>
        </p:nvSpPr>
        <p:spPr>
          <a:xfrm>
            <a:off x="4251960" y="3931920"/>
            <a:ext cx="109728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43400" y="3977640"/>
            <a:ext cx="914400" cy="320040"/>
          </a:xfrm>
          <a:prstGeom prst="rect">
            <a:avLst/>
          </a:prstGeom>
          <a:noFill/>
        </p:spPr>
        <p:txBody>
          <a:bodyPr wrap="square">
            <a:spAutoFit/>
          </a:bodyPr>
          <a:lstStyle/>
          <a:p>
            <a:pPr algn="ctr">
              <a:defRPr sz="1600" b="0">
                <a:solidFill>
                  <a:srgbClr val="16191C"/>
                </a:solidFill>
                <a:latin typeface="Arial"/>
              </a:defRPr>
            </a:pPr>
            <a:r>
              <a:t>3.603</a:t>
            </a:r>
          </a:p>
        </p:txBody>
      </p:sp>
      <p:sp>
        <p:nvSpPr>
          <p:cNvPr id="50" name="Rectangle 49"/>
          <p:cNvSpPr/>
          <p:nvPr/>
        </p:nvSpPr>
        <p:spPr>
          <a:xfrm>
            <a:off x="5349240" y="3931920"/>
            <a:ext cx="91440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40680" y="3977640"/>
            <a:ext cx="731520" cy="320040"/>
          </a:xfrm>
          <a:prstGeom prst="rect">
            <a:avLst/>
          </a:prstGeom>
          <a:noFill/>
        </p:spPr>
        <p:txBody>
          <a:bodyPr wrap="square">
            <a:spAutoFit/>
          </a:bodyPr>
          <a:lstStyle/>
          <a:p>
            <a:pPr algn="ctr">
              <a:defRPr sz="1600" b="0">
                <a:solidFill>
                  <a:srgbClr val="16191C"/>
                </a:solidFill>
                <a:latin typeface="Arial"/>
              </a:defRPr>
            </a:pPr>
            <a:r>
              <a:t>0.445</a:t>
            </a:r>
          </a:p>
        </p:txBody>
      </p:sp>
      <p:sp>
        <p:nvSpPr>
          <p:cNvPr id="52" name="Rectangle 51"/>
          <p:cNvSpPr/>
          <p:nvPr/>
        </p:nvSpPr>
        <p:spPr>
          <a:xfrm>
            <a:off x="6263640" y="3931920"/>
            <a:ext cx="164592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55080" y="3977640"/>
            <a:ext cx="1463040" cy="320040"/>
          </a:xfrm>
          <a:prstGeom prst="rect">
            <a:avLst/>
          </a:prstGeom>
          <a:noFill/>
        </p:spPr>
        <p:txBody>
          <a:bodyPr wrap="square">
            <a:spAutoFit/>
          </a:bodyPr>
          <a:lstStyle/>
          <a:p>
            <a:pPr algn="ctr">
              <a:defRPr sz="1600" b="0">
                <a:solidFill>
                  <a:srgbClr val="1A6E4F"/>
                </a:solidFill>
                <a:latin typeface="Arial"/>
              </a:defRPr>
            </a:pPr>
            <a:r>
              <a:t>Good</a:t>
            </a:r>
          </a:p>
        </p:txBody>
      </p:sp>
      <p:sp>
        <p:nvSpPr>
          <p:cNvPr id="54" name="Rectangle 53"/>
          <p:cNvSpPr/>
          <p:nvPr/>
        </p:nvSpPr>
        <p:spPr>
          <a:xfrm>
            <a:off x="7909560" y="3931920"/>
            <a:ext cx="109728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01000" y="3977640"/>
            <a:ext cx="914400" cy="320040"/>
          </a:xfrm>
          <a:prstGeom prst="rect">
            <a:avLst/>
          </a:prstGeom>
          <a:noFill/>
        </p:spPr>
        <p:txBody>
          <a:bodyPr wrap="square">
            <a:spAutoFit/>
          </a:bodyPr>
          <a:lstStyle/>
          <a:p>
            <a:pPr algn="ctr">
              <a:defRPr sz="1600" b="0">
                <a:solidFill>
                  <a:srgbClr val="16191C"/>
                </a:solidFill>
                <a:latin typeface="Arial"/>
              </a:defRPr>
            </a:pPr>
            <a:r>
              <a:t>-0.266</a:t>
            </a:r>
          </a:p>
        </p:txBody>
      </p:sp>
      <p:sp>
        <p:nvSpPr>
          <p:cNvPr id="56" name="Rectangle 55"/>
          <p:cNvSpPr/>
          <p:nvPr/>
        </p:nvSpPr>
        <p:spPr>
          <a:xfrm>
            <a:off x="1051560" y="4343400"/>
            <a:ext cx="320040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43000" y="4389120"/>
            <a:ext cx="3017520" cy="320040"/>
          </a:xfrm>
          <a:prstGeom prst="rect">
            <a:avLst/>
          </a:prstGeom>
          <a:noFill/>
        </p:spPr>
        <p:txBody>
          <a:bodyPr wrap="square">
            <a:spAutoFit/>
          </a:bodyPr>
          <a:lstStyle/>
          <a:p>
            <a:pPr algn="l">
              <a:defRPr sz="1600" b="1">
                <a:solidFill>
                  <a:srgbClr val="16191C"/>
                </a:solidFill>
                <a:latin typeface="Arial"/>
              </a:defRPr>
            </a:pPr>
            <a:r>
              <a:t>P3 Place</a:t>
            </a:r>
          </a:p>
        </p:txBody>
      </p:sp>
      <p:sp>
        <p:nvSpPr>
          <p:cNvPr id="58" name="Rectangle 57"/>
          <p:cNvSpPr/>
          <p:nvPr/>
        </p:nvSpPr>
        <p:spPr>
          <a:xfrm>
            <a:off x="4251960" y="4343400"/>
            <a:ext cx="109728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343400" y="4389120"/>
            <a:ext cx="914400" cy="320040"/>
          </a:xfrm>
          <a:prstGeom prst="rect">
            <a:avLst/>
          </a:prstGeom>
          <a:noFill/>
        </p:spPr>
        <p:txBody>
          <a:bodyPr wrap="square">
            <a:spAutoFit/>
          </a:bodyPr>
          <a:lstStyle/>
          <a:p>
            <a:pPr algn="ctr">
              <a:defRPr sz="1600" b="0">
                <a:solidFill>
                  <a:srgbClr val="16191C"/>
                </a:solidFill>
                <a:latin typeface="Arial"/>
              </a:defRPr>
            </a:pPr>
            <a:r>
              <a:t>3.356</a:t>
            </a:r>
          </a:p>
        </p:txBody>
      </p:sp>
      <p:sp>
        <p:nvSpPr>
          <p:cNvPr id="60" name="Rectangle 59"/>
          <p:cNvSpPr/>
          <p:nvPr/>
        </p:nvSpPr>
        <p:spPr>
          <a:xfrm>
            <a:off x="5349240" y="4343400"/>
            <a:ext cx="91440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40680" y="4389120"/>
            <a:ext cx="731520" cy="320040"/>
          </a:xfrm>
          <a:prstGeom prst="rect">
            <a:avLst/>
          </a:prstGeom>
          <a:noFill/>
        </p:spPr>
        <p:txBody>
          <a:bodyPr wrap="square">
            <a:spAutoFit/>
          </a:bodyPr>
          <a:lstStyle/>
          <a:p>
            <a:pPr algn="ctr">
              <a:defRPr sz="1600" b="0">
                <a:solidFill>
                  <a:srgbClr val="16191C"/>
                </a:solidFill>
                <a:latin typeface="Arial"/>
              </a:defRPr>
            </a:pPr>
            <a:r>
              <a:t>0.434</a:t>
            </a:r>
          </a:p>
        </p:txBody>
      </p:sp>
      <p:sp>
        <p:nvSpPr>
          <p:cNvPr id="62" name="Rectangle 61"/>
          <p:cNvSpPr/>
          <p:nvPr/>
        </p:nvSpPr>
        <p:spPr>
          <a:xfrm>
            <a:off x="6263640" y="4343400"/>
            <a:ext cx="164592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55080" y="4389120"/>
            <a:ext cx="1463040" cy="320040"/>
          </a:xfrm>
          <a:prstGeom prst="rect">
            <a:avLst/>
          </a:prstGeom>
          <a:noFill/>
        </p:spPr>
        <p:txBody>
          <a:bodyPr wrap="square">
            <a:spAutoFit/>
          </a:bodyPr>
          <a:lstStyle/>
          <a:p>
            <a:pPr algn="ctr">
              <a:defRPr sz="1600" b="0">
                <a:solidFill>
                  <a:srgbClr val="16191C"/>
                </a:solidFill>
                <a:latin typeface="Arial"/>
              </a:defRPr>
            </a:pPr>
            <a:r>
              <a:t>Moderate</a:t>
            </a:r>
          </a:p>
        </p:txBody>
      </p:sp>
      <p:sp>
        <p:nvSpPr>
          <p:cNvPr id="64" name="Rectangle 63"/>
          <p:cNvSpPr/>
          <p:nvPr/>
        </p:nvSpPr>
        <p:spPr>
          <a:xfrm>
            <a:off x="7909560" y="4343400"/>
            <a:ext cx="109728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001000" y="4389120"/>
            <a:ext cx="914400" cy="320040"/>
          </a:xfrm>
          <a:prstGeom prst="rect">
            <a:avLst/>
          </a:prstGeom>
          <a:noFill/>
        </p:spPr>
        <p:txBody>
          <a:bodyPr wrap="square">
            <a:spAutoFit/>
          </a:bodyPr>
          <a:lstStyle/>
          <a:p>
            <a:pPr algn="ctr">
              <a:defRPr sz="1600" b="0">
                <a:solidFill>
                  <a:srgbClr val="16191C"/>
                </a:solidFill>
                <a:latin typeface="Arial"/>
              </a:defRPr>
            </a:pPr>
            <a:r>
              <a:t>-0.513</a:t>
            </a:r>
          </a:p>
        </p:txBody>
      </p:sp>
      <p:sp>
        <p:nvSpPr>
          <p:cNvPr id="66" name="Rectangle 65"/>
          <p:cNvSpPr/>
          <p:nvPr/>
        </p:nvSpPr>
        <p:spPr>
          <a:xfrm>
            <a:off x="1051560" y="4754880"/>
            <a:ext cx="320040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43000" y="4800600"/>
            <a:ext cx="3017520" cy="320040"/>
          </a:xfrm>
          <a:prstGeom prst="rect">
            <a:avLst/>
          </a:prstGeom>
          <a:noFill/>
        </p:spPr>
        <p:txBody>
          <a:bodyPr wrap="square">
            <a:spAutoFit/>
          </a:bodyPr>
          <a:lstStyle/>
          <a:p>
            <a:pPr algn="l">
              <a:defRPr sz="1600" b="1">
                <a:solidFill>
                  <a:srgbClr val="16191C"/>
                </a:solidFill>
                <a:latin typeface="Arial"/>
              </a:defRPr>
            </a:pPr>
            <a:r>
              <a:t>P2 Price</a:t>
            </a:r>
          </a:p>
        </p:txBody>
      </p:sp>
      <p:sp>
        <p:nvSpPr>
          <p:cNvPr id="68" name="Rectangle 67"/>
          <p:cNvSpPr/>
          <p:nvPr/>
        </p:nvSpPr>
        <p:spPr>
          <a:xfrm>
            <a:off x="4251960" y="4754880"/>
            <a:ext cx="109728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343400" y="4800600"/>
            <a:ext cx="914400" cy="320040"/>
          </a:xfrm>
          <a:prstGeom prst="rect">
            <a:avLst/>
          </a:prstGeom>
          <a:noFill/>
        </p:spPr>
        <p:txBody>
          <a:bodyPr wrap="square">
            <a:spAutoFit/>
          </a:bodyPr>
          <a:lstStyle/>
          <a:p>
            <a:pPr algn="ctr">
              <a:defRPr sz="1600" b="0">
                <a:solidFill>
                  <a:srgbClr val="16191C"/>
                </a:solidFill>
                <a:latin typeface="Arial"/>
              </a:defRPr>
            </a:pPr>
            <a:r>
              <a:t>3.079</a:t>
            </a:r>
          </a:p>
        </p:txBody>
      </p:sp>
      <p:sp>
        <p:nvSpPr>
          <p:cNvPr id="70" name="Rectangle 69"/>
          <p:cNvSpPr/>
          <p:nvPr/>
        </p:nvSpPr>
        <p:spPr>
          <a:xfrm>
            <a:off x="5349240" y="4754880"/>
            <a:ext cx="91440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440680" y="4800600"/>
            <a:ext cx="731520" cy="320040"/>
          </a:xfrm>
          <a:prstGeom prst="rect">
            <a:avLst/>
          </a:prstGeom>
          <a:noFill/>
        </p:spPr>
        <p:txBody>
          <a:bodyPr wrap="square">
            <a:spAutoFit/>
          </a:bodyPr>
          <a:lstStyle/>
          <a:p>
            <a:pPr algn="ctr">
              <a:defRPr sz="1600" b="0">
                <a:solidFill>
                  <a:srgbClr val="16191C"/>
                </a:solidFill>
                <a:latin typeface="Arial"/>
              </a:defRPr>
            </a:pPr>
            <a:r>
              <a:t>0.507</a:t>
            </a:r>
          </a:p>
        </p:txBody>
      </p:sp>
      <p:sp>
        <p:nvSpPr>
          <p:cNvPr id="72" name="Rectangle 71"/>
          <p:cNvSpPr/>
          <p:nvPr/>
        </p:nvSpPr>
        <p:spPr>
          <a:xfrm>
            <a:off x="6263640" y="4754880"/>
            <a:ext cx="164592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355080" y="4800600"/>
            <a:ext cx="1463040" cy="320040"/>
          </a:xfrm>
          <a:prstGeom prst="rect">
            <a:avLst/>
          </a:prstGeom>
          <a:noFill/>
        </p:spPr>
        <p:txBody>
          <a:bodyPr wrap="square">
            <a:spAutoFit/>
          </a:bodyPr>
          <a:lstStyle/>
          <a:p>
            <a:pPr algn="ctr">
              <a:defRPr sz="1600" b="0">
                <a:solidFill>
                  <a:srgbClr val="16191C"/>
                </a:solidFill>
                <a:latin typeface="Arial"/>
              </a:defRPr>
            </a:pPr>
            <a:r>
              <a:t>Moderate</a:t>
            </a:r>
          </a:p>
        </p:txBody>
      </p:sp>
      <p:sp>
        <p:nvSpPr>
          <p:cNvPr id="74" name="Rectangle 73"/>
          <p:cNvSpPr/>
          <p:nvPr/>
        </p:nvSpPr>
        <p:spPr>
          <a:xfrm>
            <a:off x="7909560" y="4754880"/>
            <a:ext cx="1097280" cy="41148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001000" y="4800600"/>
            <a:ext cx="914400" cy="320040"/>
          </a:xfrm>
          <a:prstGeom prst="rect">
            <a:avLst/>
          </a:prstGeom>
          <a:noFill/>
        </p:spPr>
        <p:txBody>
          <a:bodyPr wrap="square">
            <a:spAutoFit/>
          </a:bodyPr>
          <a:lstStyle/>
          <a:p>
            <a:pPr algn="ctr">
              <a:defRPr sz="1600" b="0">
                <a:solidFill>
                  <a:srgbClr val="16191C"/>
                </a:solidFill>
                <a:latin typeface="Arial"/>
              </a:defRPr>
            </a:pPr>
            <a:r>
              <a:t>-0.790</a:t>
            </a:r>
          </a:p>
        </p:txBody>
      </p:sp>
      <p:sp>
        <p:nvSpPr>
          <p:cNvPr id="76" name="Rectangle 75"/>
          <p:cNvSpPr/>
          <p:nvPr/>
        </p:nvSpPr>
        <p:spPr>
          <a:xfrm>
            <a:off x="1051560" y="5166360"/>
            <a:ext cx="320040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43000" y="5212080"/>
            <a:ext cx="3017520" cy="320040"/>
          </a:xfrm>
          <a:prstGeom prst="rect">
            <a:avLst/>
          </a:prstGeom>
          <a:noFill/>
        </p:spPr>
        <p:txBody>
          <a:bodyPr wrap="square">
            <a:spAutoFit/>
          </a:bodyPr>
          <a:lstStyle/>
          <a:p>
            <a:pPr algn="l">
              <a:defRPr sz="1600" b="1">
                <a:solidFill>
                  <a:srgbClr val="16191C"/>
                </a:solidFill>
                <a:latin typeface="Arial"/>
              </a:defRPr>
            </a:pPr>
            <a:r>
              <a:t>P4 Promotion</a:t>
            </a:r>
          </a:p>
        </p:txBody>
      </p:sp>
      <p:sp>
        <p:nvSpPr>
          <p:cNvPr id="78" name="Rectangle 77"/>
          <p:cNvSpPr/>
          <p:nvPr/>
        </p:nvSpPr>
        <p:spPr>
          <a:xfrm>
            <a:off x="4251960" y="5166360"/>
            <a:ext cx="109728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343400" y="5212080"/>
            <a:ext cx="914400" cy="320040"/>
          </a:xfrm>
          <a:prstGeom prst="rect">
            <a:avLst/>
          </a:prstGeom>
          <a:noFill/>
        </p:spPr>
        <p:txBody>
          <a:bodyPr wrap="square">
            <a:spAutoFit/>
          </a:bodyPr>
          <a:lstStyle/>
          <a:p>
            <a:pPr algn="ctr">
              <a:defRPr sz="1600" b="0">
                <a:solidFill>
                  <a:srgbClr val="16191C"/>
                </a:solidFill>
                <a:latin typeface="Arial"/>
              </a:defRPr>
            </a:pPr>
            <a:r>
              <a:t>2.848</a:t>
            </a:r>
          </a:p>
        </p:txBody>
      </p:sp>
      <p:sp>
        <p:nvSpPr>
          <p:cNvPr id="80" name="Rectangle 79"/>
          <p:cNvSpPr/>
          <p:nvPr/>
        </p:nvSpPr>
        <p:spPr>
          <a:xfrm>
            <a:off x="5349240" y="5166360"/>
            <a:ext cx="91440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440680" y="5212080"/>
            <a:ext cx="731520" cy="320040"/>
          </a:xfrm>
          <a:prstGeom prst="rect">
            <a:avLst/>
          </a:prstGeom>
          <a:noFill/>
        </p:spPr>
        <p:txBody>
          <a:bodyPr wrap="square">
            <a:spAutoFit/>
          </a:bodyPr>
          <a:lstStyle/>
          <a:p>
            <a:pPr algn="ctr">
              <a:defRPr sz="1600" b="0">
                <a:solidFill>
                  <a:srgbClr val="16191C"/>
                </a:solidFill>
                <a:latin typeface="Arial"/>
              </a:defRPr>
            </a:pPr>
            <a:r>
              <a:t>0.577</a:t>
            </a:r>
          </a:p>
        </p:txBody>
      </p:sp>
      <p:sp>
        <p:nvSpPr>
          <p:cNvPr id="82" name="Rectangle 81"/>
          <p:cNvSpPr/>
          <p:nvPr/>
        </p:nvSpPr>
        <p:spPr>
          <a:xfrm>
            <a:off x="6263640" y="5166360"/>
            <a:ext cx="164592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355080" y="5212080"/>
            <a:ext cx="1463040" cy="320040"/>
          </a:xfrm>
          <a:prstGeom prst="rect">
            <a:avLst/>
          </a:prstGeom>
          <a:noFill/>
        </p:spPr>
        <p:txBody>
          <a:bodyPr wrap="square">
            <a:spAutoFit/>
          </a:bodyPr>
          <a:lstStyle/>
          <a:p>
            <a:pPr algn="ctr">
              <a:defRPr sz="1600" b="0">
                <a:solidFill>
                  <a:srgbClr val="C0492F"/>
                </a:solidFill>
                <a:latin typeface="Arial"/>
              </a:defRPr>
            </a:pPr>
            <a:r>
              <a:t>Needs Improvement</a:t>
            </a:r>
          </a:p>
        </p:txBody>
      </p:sp>
      <p:sp>
        <p:nvSpPr>
          <p:cNvPr id="84" name="Rectangle 83"/>
          <p:cNvSpPr/>
          <p:nvPr/>
        </p:nvSpPr>
        <p:spPr>
          <a:xfrm>
            <a:off x="7909560" y="5166360"/>
            <a:ext cx="1097280" cy="41148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001000" y="5212080"/>
            <a:ext cx="914400" cy="320040"/>
          </a:xfrm>
          <a:prstGeom prst="rect">
            <a:avLst/>
          </a:prstGeom>
          <a:noFill/>
        </p:spPr>
        <p:txBody>
          <a:bodyPr wrap="square">
            <a:spAutoFit/>
          </a:bodyPr>
          <a:lstStyle/>
          <a:p>
            <a:pPr algn="ctr">
              <a:defRPr sz="1600" b="0">
                <a:solidFill>
                  <a:srgbClr val="16191C"/>
                </a:solidFill>
                <a:latin typeface="Arial"/>
              </a:defRPr>
            </a:pPr>
            <a:r>
              <a:t>-1.021</a:t>
            </a:r>
          </a:p>
        </p:txBody>
      </p:sp>
      <p:sp>
        <p:nvSpPr>
          <p:cNvPr id="86" name="Rectangle 85"/>
          <p:cNvSpPr/>
          <p:nvPr/>
        </p:nvSpPr>
        <p:spPr>
          <a:xfrm>
            <a:off x="1051560" y="5577840"/>
            <a:ext cx="7955279" cy="411480"/>
          </a:xfrm>
          <a:prstGeom prst="rect">
            <a:avLst/>
          </a:prstGeom>
          <a:solidFill>
            <a:srgbClr val="16191C"/>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143000" y="5623559"/>
            <a:ext cx="3108960" cy="320040"/>
          </a:xfrm>
          <a:prstGeom prst="rect">
            <a:avLst/>
          </a:prstGeom>
          <a:noFill/>
        </p:spPr>
        <p:txBody>
          <a:bodyPr wrap="square">
            <a:spAutoFit/>
          </a:bodyPr>
          <a:lstStyle/>
          <a:p>
            <a:pPr algn="l">
              <a:defRPr sz="1600" b="1">
                <a:solidFill>
                  <a:srgbClr val="FFFFFF"/>
                </a:solidFill>
                <a:latin typeface="Arial"/>
              </a:defRPr>
            </a:pPr>
            <a:r>
              <a:t>OVERALL</a:t>
            </a:r>
          </a:p>
        </p:txBody>
      </p:sp>
      <p:sp>
        <p:nvSpPr>
          <p:cNvPr id="88" name="TextBox 87"/>
          <p:cNvSpPr txBox="1"/>
          <p:nvPr/>
        </p:nvSpPr>
        <p:spPr>
          <a:xfrm>
            <a:off x="4251960" y="5623559"/>
            <a:ext cx="1097280" cy="320040"/>
          </a:xfrm>
          <a:prstGeom prst="rect">
            <a:avLst/>
          </a:prstGeom>
          <a:noFill/>
        </p:spPr>
        <p:txBody>
          <a:bodyPr wrap="square">
            <a:spAutoFit/>
          </a:bodyPr>
          <a:lstStyle/>
          <a:p>
            <a:pPr algn="ctr">
              <a:defRPr sz="1600" b="1">
                <a:solidFill>
                  <a:srgbClr val="FFFFFF"/>
                </a:solidFill>
                <a:latin typeface="Arial"/>
              </a:defRPr>
            </a:pPr>
            <a:r>
              <a:t>3.449</a:t>
            </a:r>
          </a:p>
        </p:txBody>
      </p:sp>
      <p:sp>
        <p:nvSpPr>
          <p:cNvPr id="89" name="TextBox 88"/>
          <p:cNvSpPr txBox="1"/>
          <p:nvPr/>
        </p:nvSpPr>
        <p:spPr>
          <a:xfrm>
            <a:off x="5349240" y="5623559"/>
            <a:ext cx="914400" cy="320040"/>
          </a:xfrm>
          <a:prstGeom prst="rect">
            <a:avLst/>
          </a:prstGeom>
          <a:noFill/>
        </p:spPr>
        <p:txBody>
          <a:bodyPr wrap="square">
            <a:spAutoFit/>
          </a:bodyPr>
          <a:lstStyle/>
          <a:p>
            <a:pPr algn="ctr">
              <a:defRPr sz="1600" b="1">
                <a:solidFill>
                  <a:srgbClr val="FFFFFF"/>
                </a:solidFill>
                <a:latin typeface="Arial"/>
              </a:defRPr>
            </a:pPr>
            <a:r>
              <a:t>0.268</a:t>
            </a:r>
          </a:p>
        </p:txBody>
      </p:sp>
      <p:sp>
        <p:nvSpPr>
          <p:cNvPr id="90" name="TextBox 89"/>
          <p:cNvSpPr txBox="1"/>
          <p:nvPr/>
        </p:nvSpPr>
        <p:spPr>
          <a:xfrm>
            <a:off x="6263640" y="5623559"/>
            <a:ext cx="1645920" cy="320040"/>
          </a:xfrm>
          <a:prstGeom prst="rect">
            <a:avLst/>
          </a:prstGeom>
          <a:noFill/>
        </p:spPr>
        <p:txBody>
          <a:bodyPr wrap="square">
            <a:spAutoFit/>
          </a:bodyPr>
          <a:lstStyle/>
          <a:p>
            <a:pPr algn="ctr">
              <a:defRPr sz="1600" b="1">
                <a:solidFill>
                  <a:srgbClr val="FFFFFF"/>
                </a:solidFill>
                <a:latin typeface="Arial"/>
              </a:defRPr>
            </a:pPr>
            <a:r>
              <a:t>Moderate</a:t>
            </a:r>
          </a:p>
        </p:txBody>
      </p:sp>
      <p:sp>
        <p:nvSpPr>
          <p:cNvPr id="91" name="TextBox 90"/>
          <p:cNvSpPr txBox="1"/>
          <p:nvPr/>
        </p:nvSpPr>
        <p:spPr>
          <a:xfrm>
            <a:off x="7909560" y="5623559"/>
            <a:ext cx="1097280" cy="320040"/>
          </a:xfrm>
          <a:prstGeom prst="rect">
            <a:avLst/>
          </a:prstGeom>
          <a:noFill/>
        </p:spPr>
        <p:txBody>
          <a:bodyPr wrap="square">
            <a:spAutoFit/>
          </a:bodyPr>
          <a:lstStyle/>
          <a:p>
            <a:pPr algn="ctr">
              <a:defRPr sz="1600" b="1">
                <a:solidFill>
                  <a:srgbClr val="FFFFFF"/>
                </a:solidFill>
                <a:latin typeface="Arial"/>
              </a:defRPr>
            </a:pPr>
            <a:r>
              <a:t>—</a:t>
            </a:r>
          </a:p>
        </p:txBody>
      </p:sp>
      <p:sp>
        <p:nvSpPr>
          <p:cNvPr id="92" name="Rectangle 91"/>
          <p:cNvSpPr/>
          <p:nvPr/>
        </p:nvSpPr>
        <p:spPr>
          <a:xfrm>
            <a:off x="1051560" y="5669280"/>
            <a:ext cx="54864" cy="1828800"/>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234440" y="5669280"/>
            <a:ext cx="16002000" cy="1828800"/>
          </a:xfrm>
          <a:prstGeom prst="rect">
            <a:avLst/>
          </a:prstGeom>
          <a:noFill/>
        </p:spPr>
        <p:txBody>
          <a:bodyPr wrap="square">
            <a:spAutoFit/>
          </a:bodyPr>
          <a:lstStyle/>
          <a:p>
            <a:pPr algn="l">
              <a:defRPr sz="1875" b="0">
                <a:solidFill>
                  <a:srgbClr val="16191C"/>
                </a:solidFill>
                <a:latin typeface="Arial"/>
              </a:defRPr>
            </a:pPr>
            <a:r>
              <a:t>P4.1 Advertisement Visibility = 2.113 (lowest of 32 items)</a:t>
            </a:r>
            <a:br/>
            <a:r>
              <a:t>P3.1 Availability at Visited Stations = 2.210 (2nd lowest)</a:t>
            </a:r>
            <a:br/>
            <a:r>
              <a:t>P2.3 Value for Money = 2.637 (3rd lowest)</a:t>
            </a:r>
            <a:br/>
            <a:br/>
            <a:r>
              <a:t>▸ Promotion failure is the foundational constraint: without awareness, distribution expansion cannot generate trial, and price incentives cannot stimulate demand.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1371600"/>
            <a:ext cx="4572000" cy="1371600"/>
          </a:xfrm>
          <a:prstGeom prst="rect">
            <a:avLst/>
          </a:prstGeom>
          <a:noFill/>
        </p:spPr>
        <p:txBody>
          <a:bodyPr wrap="square">
            <a:spAutoFit/>
          </a:bodyPr>
          <a:lstStyle/>
          <a:p>
            <a:pPr algn="l">
              <a:defRPr sz="15000" b="1">
                <a:solidFill>
                  <a:srgbClr val="EEF0F2"/>
                </a:solidFill>
                <a:latin typeface="Arial"/>
              </a:defRPr>
            </a:pPr>
            <a:r>
              <a:t>02</a:t>
            </a:r>
          </a:p>
        </p:txBody>
      </p:sp>
      <p:sp>
        <p:nvSpPr>
          <p:cNvPr id="3" name="Rectangle 2"/>
          <p:cNvSpPr/>
          <p:nvPr/>
        </p:nvSpPr>
        <p:spPr>
          <a:xfrm>
            <a:off x="1051560" y="2743200"/>
            <a:ext cx="420624" cy="27432"/>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926080"/>
            <a:ext cx="7315200" cy="457200"/>
          </a:xfrm>
          <a:prstGeom prst="rect">
            <a:avLst/>
          </a:prstGeom>
          <a:noFill/>
        </p:spPr>
        <p:txBody>
          <a:bodyPr wrap="square">
            <a:spAutoFit/>
          </a:bodyPr>
          <a:lstStyle/>
          <a:p>
            <a:pPr algn="l">
              <a:defRPr sz="1800" b="1">
                <a:solidFill>
                  <a:srgbClr val="1A6E4F"/>
                </a:solidFill>
                <a:latin typeface="Arial"/>
              </a:defRPr>
            </a:pPr>
            <a:r>
              <a:t>PART TWO</a:t>
            </a:r>
          </a:p>
        </p:txBody>
      </p:sp>
      <p:sp>
        <p:nvSpPr>
          <p:cNvPr id="5" name="TextBox 4"/>
          <p:cNvSpPr txBox="1"/>
          <p:nvPr/>
        </p:nvSpPr>
        <p:spPr>
          <a:xfrm>
            <a:off x="1051560" y="3474720"/>
            <a:ext cx="16194024" cy="1371600"/>
          </a:xfrm>
          <a:prstGeom prst="rect">
            <a:avLst/>
          </a:prstGeom>
          <a:noFill/>
        </p:spPr>
        <p:txBody>
          <a:bodyPr wrap="square">
            <a:spAutoFit/>
          </a:bodyPr>
          <a:lstStyle/>
          <a:p>
            <a:pPr algn="l">
              <a:defRPr sz="6900" b="1">
                <a:solidFill>
                  <a:srgbClr val="16191C"/>
                </a:solidFill>
                <a:latin typeface="Arial"/>
              </a:defRPr>
            </a:pPr>
            <a:r>
              <a:t>Environment Analysis:</a:t>
            </a:r>
            <a:br/>
            <a:r>
              <a:t>PESTEL · Five Forces · SWOT · TOWS</a:t>
            </a:r>
          </a:p>
        </p:txBody>
      </p:sp>
      <p:sp>
        <p:nvSpPr>
          <p:cNvPr id="6" name="TextBox 5"/>
          <p:cNvSpPr txBox="1"/>
          <p:nvPr/>
        </p:nvSpPr>
        <p:spPr>
          <a:xfrm>
            <a:off x="1051560" y="5029200"/>
            <a:ext cx="13716000" cy="731520"/>
          </a:xfrm>
          <a:prstGeom prst="rect">
            <a:avLst/>
          </a:prstGeom>
          <a:noFill/>
        </p:spPr>
        <p:txBody>
          <a:bodyPr wrap="square">
            <a:spAutoFit/>
          </a:bodyPr>
          <a:lstStyle/>
          <a:p>
            <a:pPr algn="l">
              <a:defRPr sz="2250" b="0">
                <a:solidFill>
                  <a:srgbClr val="5B625F"/>
                </a:solidFill>
                <a:latin typeface="Arial"/>
              </a:defRPr>
            </a:pPr>
            <a:r>
              <a:t>Favorable macro tailwinds; competitive intensity demands precise targeting</a:t>
            </a:r>
          </a:p>
        </p:txBody>
      </p:sp>
      <p:pic>
        <p:nvPicPr>
          <p:cNvPr id="7" name="Picture 6" descr="neu_logo_cropped.png"/>
          <p:cNvPicPr>
            <a:picLocks noChangeAspect="1"/>
          </p:cNvPicPr>
          <p:nvPr/>
        </p:nvPicPr>
        <p:blipFill>
          <a:blip r:embed="rId2"/>
          <a:stretch>
            <a:fillRect/>
          </a:stretch>
        </p:blipFill>
        <p:spPr>
          <a:xfrm>
            <a:off x="15261336" y="822960"/>
            <a:ext cx="1984248" cy="731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804672"/>
            <a:ext cx="13716000" cy="365760"/>
          </a:xfrm>
          <a:prstGeom prst="rect">
            <a:avLst/>
          </a:prstGeom>
          <a:noFill/>
        </p:spPr>
        <p:txBody>
          <a:bodyPr wrap="square">
            <a:spAutoFit/>
          </a:bodyPr>
          <a:lstStyle/>
          <a:p>
            <a:pPr algn="l">
              <a:defRPr sz="1800" b="1">
                <a:solidFill>
                  <a:srgbClr val="1A6E4F"/>
                </a:solidFill>
                <a:latin typeface="Arial"/>
              </a:defRPr>
            </a:pPr>
            <a:r>
              <a:t>ENVIRONMENT  ·  PESTEL MACRO ANALYSIS</a:t>
            </a:r>
          </a:p>
        </p:txBody>
      </p:sp>
      <p:sp>
        <p:nvSpPr>
          <p:cNvPr id="3" name="TextBox 2"/>
          <p:cNvSpPr txBox="1"/>
          <p:nvPr/>
        </p:nvSpPr>
        <p:spPr>
          <a:xfrm>
            <a:off x="1051560" y="1197864"/>
            <a:ext cx="13716000" cy="731520"/>
          </a:xfrm>
          <a:prstGeom prst="rect">
            <a:avLst/>
          </a:prstGeom>
          <a:noFill/>
        </p:spPr>
        <p:txBody>
          <a:bodyPr wrap="square">
            <a:spAutoFit/>
          </a:bodyPr>
          <a:lstStyle/>
          <a:p>
            <a:pPr algn="l">
              <a:defRPr sz="3900" b="1">
                <a:solidFill>
                  <a:srgbClr val="16191C"/>
                </a:solidFill>
                <a:latin typeface="Arial"/>
              </a:defRPr>
            </a:pPr>
            <a:r>
              <a:t>Policy Tailwinds Meet Supply &amp; Credibility Gaps</a:t>
            </a:r>
          </a:p>
        </p:txBody>
      </p:sp>
      <p:sp>
        <p:nvSpPr>
          <p:cNvPr id="4" name="Rectangle 3"/>
          <p:cNvSpPr/>
          <p:nvPr/>
        </p:nvSpPr>
        <p:spPr>
          <a:xfrm>
            <a:off x="1051560" y="1975104"/>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u_logo_cropped.png"/>
          <p:cNvPicPr>
            <a:picLocks noChangeAspect="1"/>
          </p:cNvPicPr>
          <p:nvPr/>
        </p:nvPicPr>
        <p:blipFill>
          <a:blip r:embed="rId2"/>
          <a:stretch>
            <a:fillRect/>
          </a:stretch>
        </p:blipFill>
        <p:spPr>
          <a:xfrm>
            <a:off x="15261336" y="822960"/>
            <a:ext cx="1984248" cy="731520"/>
          </a:xfrm>
          <a:prstGeom prst="rect">
            <a:avLst/>
          </a:prstGeom>
        </p:spPr>
      </p:pic>
      <p:sp>
        <p:nvSpPr>
          <p:cNvPr id="6" name="TextBox 5"/>
          <p:cNvSpPr txBox="1"/>
          <p:nvPr/>
        </p:nvSpPr>
        <p:spPr>
          <a:xfrm>
            <a:off x="1051560" y="2286000"/>
            <a:ext cx="5029200" cy="365760"/>
          </a:xfrm>
          <a:prstGeom prst="rect">
            <a:avLst/>
          </a:prstGeom>
          <a:noFill/>
        </p:spPr>
        <p:txBody>
          <a:bodyPr wrap="square">
            <a:spAutoFit/>
          </a:bodyPr>
          <a:lstStyle/>
          <a:p>
            <a:pPr algn="l">
              <a:defRPr sz="1800" b="1">
                <a:solidFill>
                  <a:srgbClr val="1A6E4F"/>
                </a:solidFill>
                <a:latin typeface="Arial"/>
              </a:defRPr>
            </a:pPr>
            <a:r>
              <a:t>POLITICAL</a:t>
            </a:r>
          </a:p>
        </p:txBody>
      </p:sp>
      <p:sp>
        <p:nvSpPr>
          <p:cNvPr id="7" name="TextBox 6"/>
          <p:cNvSpPr txBox="1"/>
          <p:nvPr/>
        </p:nvSpPr>
        <p:spPr>
          <a:xfrm>
            <a:off x="1051560" y="2697480"/>
            <a:ext cx="5029200" cy="731520"/>
          </a:xfrm>
          <a:prstGeom prst="rect">
            <a:avLst/>
          </a:prstGeom>
          <a:noFill/>
        </p:spPr>
        <p:txBody>
          <a:bodyPr wrap="square">
            <a:spAutoFit/>
          </a:bodyPr>
          <a:lstStyle/>
          <a:p>
            <a:pPr algn="l">
              <a:defRPr sz="1600" b="0">
                <a:solidFill>
                  <a:srgbClr val="4A4F54"/>
                </a:solidFill>
                <a:latin typeface="Arial"/>
              </a:defRPr>
            </a:pPr>
            <a:r>
              <a:t>E10 mandate by 2027; Presidential Decree 15/2024; SOE alignment</a:t>
            </a:r>
          </a:p>
        </p:txBody>
      </p:sp>
      <p:sp>
        <p:nvSpPr>
          <p:cNvPr id="8" name="Rectangle 7"/>
          <p:cNvSpPr/>
          <p:nvPr/>
        </p:nvSpPr>
        <p:spPr>
          <a:xfrm>
            <a:off x="1051560" y="3474720"/>
            <a:ext cx="5029200" cy="36576"/>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11880"/>
            <a:ext cx="5029200" cy="640080"/>
          </a:xfrm>
          <a:prstGeom prst="rect">
            <a:avLst/>
          </a:prstGeom>
          <a:noFill/>
        </p:spPr>
        <p:txBody>
          <a:bodyPr wrap="square">
            <a:spAutoFit/>
          </a:bodyPr>
          <a:lstStyle/>
          <a:p>
            <a:pPr algn="l">
              <a:defRPr sz="1500" b="0">
                <a:solidFill>
                  <a:srgbClr val="5B625F"/>
                </a:solidFill>
                <a:latin typeface="Arial"/>
              </a:defRPr>
            </a:pPr>
            <a:r>
              <a:t>Positive: regulatory demand growth  |  Risk: policy delay</a:t>
            </a:r>
          </a:p>
        </p:txBody>
      </p:sp>
      <p:sp>
        <p:nvSpPr>
          <p:cNvPr id="10" name="TextBox 9"/>
          <p:cNvSpPr txBox="1"/>
          <p:nvPr/>
        </p:nvSpPr>
        <p:spPr>
          <a:xfrm>
            <a:off x="6446520" y="2286000"/>
            <a:ext cx="5029200" cy="365760"/>
          </a:xfrm>
          <a:prstGeom prst="rect">
            <a:avLst/>
          </a:prstGeom>
          <a:noFill/>
        </p:spPr>
        <p:txBody>
          <a:bodyPr wrap="square">
            <a:spAutoFit/>
          </a:bodyPr>
          <a:lstStyle/>
          <a:p>
            <a:pPr algn="l">
              <a:defRPr sz="1800" b="1">
                <a:solidFill>
                  <a:srgbClr val="1A6E4F"/>
                </a:solidFill>
                <a:latin typeface="Arial"/>
              </a:defRPr>
            </a:pPr>
            <a:r>
              <a:t>ECONOMIC</a:t>
            </a:r>
          </a:p>
        </p:txBody>
      </p:sp>
      <p:sp>
        <p:nvSpPr>
          <p:cNvPr id="11" name="TextBox 10"/>
          <p:cNvSpPr txBox="1"/>
          <p:nvPr/>
        </p:nvSpPr>
        <p:spPr>
          <a:xfrm>
            <a:off x="6446520" y="2697480"/>
            <a:ext cx="5029200" cy="731520"/>
          </a:xfrm>
          <a:prstGeom prst="rect">
            <a:avLst/>
          </a:prstGeom>
          <a:noFill/>
        </p:spPr>
        <p:txBody>
          <a:bodyPr wrap="square">
            <a:spAutoFit/>
          </a:bodyPr>
          <a:lstStyle/>
          <a:p>
            <a:pPr algn="l">
              <a:defRPr sz="1600" b="0">
                <a:solidFill>
                  <a:srgbClr val="4A4F54"/>
                </a:solidFill>
                <a:latin typeface="Arial"/>
              </a:defRPr>
            </a:pPr>
            <a:r>
              <a:t>GDP 5.03%; middle-class growth; 44% refined fuel imports; IDR volatility</a:t>
            </a:r>
          </a:p>
        </p:txBody>
      </p:sp>
      <p:sp>
        <p:nvSpPr>
          <p:cNvPr id="12" name="Rectangle 11"/>
          <p:cNvSpPr/>
          <p:nvPr/>
        </p:nvSpPr>
        <p:spPr>
          <a:xfrm>
            <a:off x="6446520" y="3474720"/>
            <a:ext cx="5029200" cy="36576"/>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611880"/>
            <a:ext cx="5029200" cy="640080"/>
          </a:xfrm>
          <a:prstGeom prst="rect">
            <a:avLst/>
          </a:prstGeom>
          <a:noFill/>
        </p:spPr>
        <p:txBody>
          <a:bodyPr wrap="square">
            <a:spAutoFit/>
          </a:bodyPr>
          <a:lstStyle/>
          <a:p>
            <a:pPr algn="l">
              <a:defRPr sz="1500" b="0">
                <a:solidFill>
                  <a:srgbClr val="5B625F"/>
                </a:solidFill>
                <a:latin typeface="Arial"/>
              </a:defRPr>
            </a:pPr>
            <a:r>
              <a:t>Growing consumer base  |  Pricing flexibility constrained</a:t>
            </a:r>
          </a:p>
        </p:txBody>
      </p:sp>
      <p:sp>
        <p:nvSpPr>
          <p:cNvPr id="14" name="TextBox 13"/>
          <p:cNvSpPr txBox="1"/>
          <p:nvPr/>
        </p:nvSpPr>
        <p:spPr>
          <a:xfrm>
            <a:off x="11841480" y="2286000"/>
            <a:ext cx="5029200" cy="365760"/>
          </a:xfrm>
          <a:prstGeom prst="rect">
            <a:avLst/>
          </a:prstGeom>
          <a:noFill/>
        </p:spPr>
        <p:txBody>
          <a:bodyPr wrap="square">
            <a:spAutoFit/>
          </a:bodyPr>
          <a:lstStyle/>
          <a:p>
            <a:pPr algn="l">
              <a:defRPr sz="1800" b="1">
                <a:solidFill>
                  <a:srgbClr val="1A6E4F"/>
                </a:solidFill>
                <a:latin typeface="Arial"/>
              </a:defRPr>
            </a:pPr>
            <a:r>
              <a:t>SOCIAL</a:t>
            </a:r>
          </a:p>
        </p:txBody>
      </p:sp>
      <p:sp>
        <p:nvSpPr>
          <p:cNvPr id="15" name="TextBox 14"/>
          <p:cNvSpPr txBox="1"/>
          <p:nvPr/>
        </p:nvSpPr>
        <p:spPr>
          <a:xfrm>
            <a:off x="11841480" y="2697480"/>
            <a:ext cx="5029200" cy="731520"/>
          </a:xfrm>
          <a:prstGeom prst="rect">
            <a:avLst/>
          </a:prstGeom>
          <a:noFill/>
        </p:spPr>
        <p:txBody>
          <a:bodyPr wrap="square">
            <a:spAutoFit/>
          </a:bodyPr>
          <a:lstStyle/>
          <a:p>
            <a:pPr algn="l">
              <a:defRPr sz="1600" b="0">
                <a:solidFill>
                  <a:srgbClr val="4A4F54"/>
                </a:solidFill>
                <a:latin typeface="Arial"/>
              </a:defRPr>
            </a:pPr>
            <a:r>
              <a:t>141M+ vehicles; rising green consciousness; national pride</a:t>
            </a:r>
          </a:p>
        </p:txBody>
      </p:sp>
      <p:sp>
        <p:nvSpPr>
          <p:cNvPr id="16" name="Rectangle 15"/>
          <p:cNvSpPr/>
          <p:nvPr/>
        </p:nvSpPr>
        <p:spPr>
          <a:xfrm>
            <a:off x="11841480" y="3474720"/>
            <a:ext cx="5029200" cy="36576"/>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41480" y="3611880"/>
            <a:ext cx="5029200" cy="640080"/>
          </a:xfrm>
          <a:prstGeom prst="rect">
            <a:avLst/>
          </a:prstGeom>
          <a:noFill/>
        </p:spPr>
        <p:txBody>
          <a:bodyPr wrap="square">
            <a:spAutoFit/>
          </a:bodyPr>
          <a:lstStyle/>
          <a:p>
            <a:pPr algn="l">
              <a:defRPr sz="1500" b="0">
                <a:solidFill>
                  <a:srgbClr val="5B625F"/>
                </a:solidFill>
                <a:latin typeface="Arial"/>
              </a:defRPr>
            </a:pPr>
            <a:r>
              <a:t>Positive long-term  |  Near-term price sensitivity dominates</a:t>
            </a:r>
          </a:p>
        </p:txBody>
      </p:sp>
      <p:sp>
        <p:nvSpPr>
          <p:cNvPr id="18" name="TextBox 17"/>
          <p:cNvSpPr txBox="1"/>
          <p:nvPr/>
        </p:nvSpPr>
        <p:spPr>
          <a:xfrm>
            <a:off x="1051560" y="5760720"/>
            <a:ext cx="5029200" cy="365760"/>
          </a:xfrm>
          <a:prstGeom prst="rect">
            <a:avLst/>
          </a:prstGeom>
          <a:noFill/>
        </p:spPr>
        <p:txBody>
          <a:bodyPr wrap="square">
            <a:spAutoFit/>
          </a:bodyPr>
          <a:lstStyle/>
          <a:p>
            <a:pPr algn="l">
              <a:defRPr sz="1800" b="1">
                <a:solidFill>
                  <a:srgbClr val="1A6E4F"/>
                </a:solidFill>
                <a:latin typeface="Arial"/>
              </a:defRPr>
            </a:pPr>
            <a:r>
              <a:t>TECHNOLOGICAL</a:t>
            </a:r>
          </a:p>
        </p:txBody>
      </p:sp>
      <p:sp>
        <p:nvSpPr>
          <p:cNvPr id="19" name="TextBox 18"/>
          <p:cNvSpPr txBox="1"/>
          <p:nvPr/>
        </p:nvSpPr>
        <p:spPr>
          <a:xfrm>
            <a:off x="1051560" y="6172200"/>
            <a:ext cx="5029200" cy="731520"/>
          </a:xfrm>
          <a:prstGeom prst="rect">
            <a:avLst/>
          </a:prstGeom>
          <a:noFill/>
        </p:spPr>
        <p:txBody>
          <a:bodyPr wrap="square">
            <a:spAutoFit/>
          </a:bodyPr>
          <a:lstStyle/>
          <a:p>
            <a:pPr algn="l">
              <a:defRPr sz="1600" b="0">
                <a:solidFill>
                  <a:srgbClr val="4A4F54"/>
                </a:solidFill>
                <a:latin typeface="Arial"/>
              </a:defRPr>
            </a:pPr>
            <a:r>
              <a:t>E10 trial underway; digital gap (MyPertamina); EV targets 2030</a:t>
            </a:r>
          </a:p>
        </p:txBody>
      </p:sp>
      <p:sp>
        <p:nvSpPr>
          <p:cNvPr id="20" name="Rectangle 19"/>
          <p:cNvSpPr/>
          <p:nvPr/>
        </p:nvSpPr>
        <p:spPr>
          <a:xfrm>
            <a:off x="1051560" y="6949440"/>
            <a:ext cx="5029200" cy="36576"/>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7086600"/>
            <a:ext cx="5029200" cy="640080"/>
          </a:xfrm>
          <a:prstGeom prst="rect">
            <a:avLst/>
          </a:prstGeom>
          <a:noFill/>
        </p:spPr>
        <p:txBody>
          <a:bodyPr wrap="square">
            <a:spAutoFit/>
          </a:bodyPr>
          <a:lstStyle/>
          <a:p>
            <a:pPr algn="l">
              <a:defRPr sz="1500" b="0">
                <a:solidFill>
                  <a:srgbClr val="5B625F"/>
                </a:solidFill>
                <a:latin typeface="Arial"/>
              </a:defRPr>
            </a:pPr>
            <a:r>
              <a:t>Production advantage  |  Digital infrastructure deficit</a:t>
            </a:r>
          </a:p>
        </p:txBody>
      </p:sp>
      <p:sp>
        <p:nvSpPr>
          <p:cNvPr id="22" name="TextBox 21"/>
          <p:cNvSpPr txBox="1"/>
          <p:nvPr/>
        </p:nvSpPr>
        <p:spPr>
          <a:xfrm>
            <a:off x="6446520" y="5760720"/>
            <a:ext cx="5029200" cy="365760"/>
          </a:xfrm>
          <a:prstGeom prst="rect">
            <a:avLst/>
          </a:prstGeom>
          <a:noFill/>
        </p:spPr>
        <p:txBody>
          <a:bodyPr wrap="square">
            <a:spAutoFit/>
          </a:bodyPr>
          <a:lstStyle/>
          <a:p>
            <a:pPr algn="l">
              <a:defRPr sz="1800" b="1">
                <a:solidFill>
                  <a:srgbClr val="1A6E4F"/>
                </a:solidFill>
                <a:latin typeface="Arial"/>
              </a:defRPr>
            </a:pPr>
            <a:r>
              <a:t>ENVIRONMENTAL</a:t>
            </a:r>
          </a:p>
        </p:txBody>
      </p:sp>
      <p:sp>
        <p:nvSpPr>
          <p:cNvPr id="23" name="TextBox 22"/>
          <p:cNvSpPr txBox="1"/>
          <p:nvPr/>
        </p:nvSpPr>
        <p:spPr>
          <a:xfrm>
            <a:off x="6446520" y="6172200"/>
            <a:ext cx="5029200" cy="731520"/>
          </a:xfrm>
          <a:prstGeom prst="rect">
            <a:avLst/>
          </a:prstGeom>
          <a:noFill/>
        </p:spPr>
        <p:txBody>
          <a:bodyPr wrap="square">
            <a:spAutoFit/>
          </a:bodyPr>
          <a:lstStyle/>
          <a:p>
            <a:pPr algn="l">
              <a:defRPr sz="1600" b="0">
                <a:solidFill>
                  <a:srgbClr val="4A4F54"/>
                </a:solidFill>
                <a:latin typeface="Arial"/>
              </a:defRPr>
            </a:pPr>
            <a:r>
              <a:t>Net-zero 2060; NDC targets; feedstock supply constraints</a:t>
            </a:r>
          </a:p>
        </p:txBody>
      </p:sp>
      <p:sp>
        <p:nvSpPr>
          <p:cNvPr id="24" name="Rectangle 23"/>
          <p:cNvSpPr/>
          <p:nvPr/>
        </p:nvSpPr>
        <p:spPr>
          <a:xfrm>
            <a:off x="6446520" y="6949440"/>
            <a:ext cx="5029200" cy="36576"/>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7086600"/>
            <a:ext cx="5029200" cy="640080"/>
          </a:xfrm>
          <a:prstGeom prst="rect">
            <a:avLst/>
          </a:prstGeom>
          <a:noFill/>
        </p:spPr>
        <p:txBody>
          <a:bodyPr wrap="square">
            <a:spAutoFit/>
          </a:bodyPr>
          <a:lstStyle/>
          <a:p>
            <a:pPr algn="l">
              <a:defRPr sz="1500" b="0">
                <a:solidFill>
                  <a:srgbClr val="5B625F"/>
                </a:solidFill>
                <a:latin typeface="Arial"/>
              </a:defRPr>
            </a:pPr>
            <a:r>
              <a:t>Policy legitimacy  |  Credibility &amp; supply gaps</a:t>
            </a:r>
          </a:p>
        </p:txBody>
      </p:sp>
      <p:sp>
        <p:nvSpPr>
          <p:cNvPr id="26" name="TextBox 25"/>
          <p:cNvSpPr txBox="1"/>
          <p:nvPr/>
        </p:nvSpPr>
        <p:spPr>
          <a:xfrm>
            <a:off x="11841480" y="5760720"/>
            <a:ext cx="5029200" cy="365760"/>
          </a:xfrm>
          <a:prstGeom prst="rect">
            <a:avLst/>
          </a:prstGeom>
          <a:noFill/>
        </p:spPr>
        <p:txBody>
          <a:bodyPr wrap="square">
            <a:spAutoFit/>
          </a:bodyPr>
          <a:lstStyle/>
          <a:p>
            <a:pPr algn="l">
              <a:defRPr sz="1800" b="1">
                <a:solidFill>
                  <a:srgbClr val="1A6E4F"/>
                </a:solidFill>
                <a:latin typeface="Arial"/>
              </a:defRPr>
            </a:pPr>
            <a:r>
              <a:t>LEGAL</a:t>
            </a:r>
          </a:p>
        </p:txBody>
      </p:sp>
      <p:sp>
        <p:nvSpPr>
          <p:cNvPr id="27" name="TextBox 26"/>
          <p:cNvSpPr txBox="1"/>
          <p:nvPr/>
        </p:nvSpPr>
        <p:spPr>
          <a:xfrm>
            <a:off x="11841480" y="6172200"/>
            <a:ext cx="5029200" cy="731520"/>
          </a:xfrm>
          <a:prstGeom prst="rect">
            <a:avLst/>
          </a:prstGeom>
          <a:noFill/>
        </p:spPr>
        <p:txBody>
          <a:bodyPr wrap="square">
            <a:spAutoFit/>
          </a:bodyPr>
          <a:lstStyle/>
          <a:p>
            <a:pPr algn="l">
              <a:defRPr sz="1600" b="0">
                <a:solidFill>
                  <a:srgbClr val="4A4F54"/>
                </a:solidFill>
                <a:latin typeface="Arial"/>
              </a:defRPr>
            </a:pPr>
            <a:r>
              <a:t>E5 codified (ESDM 252/2023); MOPS pricing; Euro 4/5; E10 pending</a:t>
            </a:r>
          </a:p>
        </p:txBody>
      </p:sp>
      <p:sp>
        <p:nvSpPr>
          <p:cNvPr id="28" name="Rectangle 27"/>
          <p:cNvSpPr/>
          <p:nvPr/>
        </p:nvSpPr>
        <p:spPr>
          <a:xfrm>
            <a:off x="11841480" y="6949440"/>
            <a:ext cx="5029200" cy="36576"/>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41480" y="7086600"/>
            <a:ext cx="5029200" cy="640080"/>
          </a:xfrm>
          <a:prstGeom prst="rect">
            <a:avLst/>
          </a:prstGeom>
          <a:noFill/>
        </p:spPr>
        <p:txBody>
          <a:bodyPr wrap="square">
            <a:spAutoFit/>
          </a:bodyPr>
          <a:lstStyle/>
          <a:p>
            <a:pPr algn="l">
              <a:defRPr sz="1500" b="0">
                <a:solidFill>
                  <a:srgbClr val="5B625F"/>
                </a:solidFill>
                <a:latin typeface="Arial"/>
              </a:defRPr>
            </a:pPr>
            <a:r>
              <a:t>Compliance market  |  Pricing &amp; investment uncertainty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804672"/>
            <a:ext cx="13716000" cy="365760"/>
          </a:xfrm>
          <a:prstGeom prst="rect">
            <a:avLst/>
          </a:prstGeom>
          <a:noFill/>
        </p:spPr>
        <p:txBody>
          <a:bodyPr wrap="square">
            <a:spAutoFit/>
          </a:bodyPr>
          <a:lstStyle/>
          <a:p>
            <a:pPr algn="l">
              <a:defRPr sz="1800" b="1">
                <a:solidFill>
                  <a:srgbClr val="1A6E4F"/>
                </a:solidFill>
                <a:latin typeface="Arial"/>
              </a:defRPr>
            </a:pPr>
            <a:r>
              <a:t>ENVIRONMENT  ·  PORTER'S FIVE FORCES  ·  SWOT</a:t>
            </a:r>
          </a:p>
        </p:txBody>
      </p:sp>
      <p:sp>
        <p:nvSpPr>
          <p:cNvPr id="3" name="TextBox 2"/>
          <p:cNvSpPr txBox="1"/>
          <p:nvPr/>
        </p:nvSpPr>
        <p:spPr>
          <a:xfrm>
            <a:off x="1051560" y="1197864"/>
            <a:ext cx="13716000" cy="731520"/>
          </a:xfrm>
          <a:prstGeom prst="rect">
            <a:avLst/>
          </a:prstGeom>
          <a:noFill/>
        </p:spPr>
        <p:txBody>
          <a:bodyPr wrap="square">
            <a:spAutoFit/>
          </a:bodyPr>
          <a:lstStyle/>
          <a:p>
            <a:pPr algn="l">
              <a:defRPr sz="3900" b="1">
                <a:solidFill>
                  <a:srgbClr val="16191C"/>
                </a:solidFill>
                <a:latin typeface="Arial"/>
              </a:defRPr>
            </a:pPr>
            <a:r>
              <a:t>High Rivalry &amp; Buyer Power; Promotional Weakness Is Primary Constraint</a:t>
            </a:r>
          </a:p>
        </p:txBody>
      </p:sp>
      <p:sp>
        <p:nvSpPr>
          <p:cNvPr id="4" name="Rectangle 3"/>
          <p:cNvSpPr/>
          <p:nvPr/>
        </p:nvSpPr>
        <p:spPr>
          <a:xfrm>
            <a:off x="1051560" y="1975104"/>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u_logo_cropped.png"/>
          <p:cNvPicPr>
            <a:picLocks noChangeAspect="1"/>
          </p:cNvPicPr>
          <p:nvPr/>
        </p:nvPicPr>
        <p:blipFill>
          <a:blip r:embed="rId2"/>
          <a:stretch>
            <a:fillRect/>
          </a:stretch>
        </p:blipFill>
        <p:spPr>
          <a:xfrm>
            <a:off x="15261336" y="822960"/>
            <a:ext cx="1984248" cy="731520"/>
          </a:xfrm>
          <a:prstGeom prst="rect">
            <a:avLst/>
          </a:prstGeom>
        </p:spPr>
      </p:pic>
      <p:sp>
        <p:nvSpPr>
          <p:cNvPr id="6" name="TextBox 5"/>
          <p:cNvSpPr txBox="1"/>
          <p:nvPr/>
        </p:nvSpPr>
        <p:spPr>
          <a:xfrm>
            <a:off x="1051560" y="2286000"/>
            <a:ext cx="3200400" cy="365760"/>
          </a:xfrm>
          <a:prstGeom prst="rect">
            <a:avLst/>
          </a:prstGeom>
          <a:noFill/>
        </p:spPr>
        <p:txBody>
          <a:bodyPr wrap="square">
            <a:spAutoFit/>
          </a:bodyPr>
          <a:lstStyle/>
          <a:p>
            <a:pPr algn="l">
              <a:defRPr sz="1800" b="1">
                <a:solidFill>
                  <a:srgbClr val="16191C"/>
                </a:solidFill>
                <a:latin typeface="Arial"/>
              </a:defRPr>
            </a:pPr>
            <a:r>
              <a:t>Competitive Rivalry</a:t>
            </a:r>
          </a:p>
        </p:txBody>
      </p:sp>
      <p:sp>
        <p:nvSpPr>
          <p:cNvPr id="7" name="TextBox 6"/>
          <p:cNvSpPr txBox="1"/>
          <p:nvPr/>
        </p:nvSpPr>
        <p:spPr>
          <a:xfrm>
            <a:off x="4297680" y="2286000"/>
            <a:ext cx="1371600" cy="365760"/>
          </a:xfrm>
          <a:prstGeom prst="rect">
            <a:avLst/>
          </a:prstGeom>
          <a:noFill/>
        </p:spPr>
        <p:txBody>
          <a:bodyPr wrap="square">
            <a:spAutoFit/>
          </a:bodyPr>
          <a:lstStyle/>
          <a:p>
            <a:pPr algn="ctr">
              <a:defRPr sz="1800" b="1">
                <a:solidFill>
                  <a:srgbClr val="C0492F"/>
                </a:solidFill>
                <a:latin typeface="Arial"/>
              </a:defRPr>
            </a:pPr>
            <a:r>
              <a:t>HIGH</a:t>
            </a:r>
          </a:p>
        </p:txBody>
      </p:sp>
      <p:sp>
        <p:nvSpPr>
          <p:cNvPr id="8" name="TextBox 7"/>
          <p:cNvSpPr txBox="1"/>
          <p:nvPr/>
        </p:nvSpPr>
        <p:spPr>
          <a:xfrm>
            <a:off x="5760720" y="2286000"/>
            <a:ext cx="5029200" cy="365760"/>
          </a:xfrm>
          <a:prstGeom prst="rect">
            <a:avLst/>
          </a:prstGeom>
          <a:noFill/>
        </p:spPr>
        <p:txBody>
          <a:bodyPr wrap="square">
            <a:spAutoFit/>
          </a:bodyPr>
          <a:lstStyle/>
          <a:p>
            <a:pPr algn="l">
              <a:defRPr sz="1500" b="0">
                <a:solidFill>
                  <a:srgbClr val="4A4F54"/>
                </a:solidFill>
                <a:latin typeface="Arial"/>
              </a:defRPr>
            </a:pPr>
            <a:r>
              <a:t>Shell V-Power (200 stations); subsidized fuel substitution; weak differentiation</a:t>
            </a:r>
          </a:p>
        </p:txBody>
      </p:sp>
      <p:sp>
        <p:nvSpPr>
          <p:cNvPr id="9" name="TextBox 8"/>
          <p:cNvSpPr txBox="1"/>
          <p:nvPr/>
        </p:nvSpPr>
        <p:spPr>
          <a:xfrm>
            <a:off x="1051560" y="3474720"/>
            <a:ext cx="3200400" cy="365760"/>
          </a:xfrm>
          <a:prstGeom prst="rect">
            <a:avLst/>
          </a:prstGeom>
          <a:noFill/>
        </p:spPr>
        <p:txBody>
          <a:bodyPr wrap="square">
            <a:spAutoFit/>
          </a:bodyPr>
          <a:lstStyle/>
          <a:p>
            <a:pPr algn="l">
              <a:defRPr sz="1800" b="1">
                <a:solidFill>
                  <a:srgbClr val="16191C"/>
                </a:solidFill>
                <a:latin typeface="Arial"/>
              </a:defRPr>
            </a:pPr>
            <a:r>
              <a:t>New Entrants</a:t>
            </a:r>
          </a:p>
        </p:txBody>
      </p:sp>
      <p:sp>
        <p:nvSpPr>
          <p:cNvPr id="10" name="TextBox 9"/>
          <p:cNvSpPr txBox="1"/>
          <p:nvPr/>
        </p:nvSpPr>
        <p:spPr>
          <a:xfrm>
            <a:off x="4297680" y="3474720"/>
            <a:ext cx="1371600" cy="365760"/>
          </a:xfrm>
          <a:prstGeom prst="rect">
            <a:avLst/>
          </a:prstGeom>
          <a:noFill/>
        </p:spPr>
        <p:txBody>
          <a:bodyPr wrap="square">
            <a:spAutoFit/>
          </a:bodyPr>
          <a:lstStyle/>
          <a:p>
            <a:pPr algn="ctr">
              <a:defRPr sz="1800" b="1">
                <a:solidFill>
                  <a:srgbClr val="4A4F54"/>
                </a:solidFill>
                <a:latin typeface="Arial"/>
              </a:defRPr>
            </a:pPr>
            <a:r>
              <a:t>LOW–MODERATE</a:t>
            </a:r>
          </a:p>
        </p:txBody>
      </p:sp>
      <p:sp>
        <p:nvSpPr>
          <p:cNvPr id="11" name="TextBox 10"/>
          <p:cNvSpPr txBox="1"/>
          <p:nvPr/>
        </p:nvSpPr>
        <p:spPr>
          <a:xfrm>
            <a:off x="5760720" y="3474720"/>
            <a:ext cx="5029200" cy="365760"/>
          </a:xfrm>
          <a:prstGeom prst="rect">
            <a:avLst/>
          </a:prstGeom>
          <a:noFill/>
        </p:spPr>
        <p:txBody>
          <a:bodyPr wrap="square">
            <a:spAutoFit/>
          </a:bodyPr>
          <a:lstStyle/>
          <a:p>
            <a:pPr algn="l">
              <a:defRPr sz="1500" b="0">
                <a:solidFill>
                  <a:srgbClr val="4A4F54"/>
                </a:solidFill>
                <a:latin typeface="Arial"/>
              </a:defRPr>
            </a:pPr>
            <a:r>
              <a:t>High capital/regulatory barriers; indirect EV/charging threat</a:t>
            </a:r>
          </a:p>
        </p:txBody>
      </p:sp>
      <p:sp>
        <p:nvSpPr>
          <p:cNvPr id="12" name="TextBox 11"/>
          <p:cNvSpPr txBox="1"/>
          <p:nvPr/>
        </p:nvSpPr>
        <p:spPr>
          <a:xfrm>
            <a:off x="1051560" y="4663440"/>
            <a:ext cx="3200400" cy="365760"/>
          </a:xfrm>
          <a:prstGeom prst="rect">
            <a:avLst/>
          </a:prstGeom>
          <a:noFill/>
        </p:spPr>
        <p:txBody>
          <a:bodyPr wrap="square">
            <a:spAutoFit/>
          </a:bodyPr>
          <a:lstStyle/>
          <a:p>
            <a:pPr algn="l">
              <a:defRPr sz="1800" b="1">
                <a:solidFill>
                  <a:srgbClr val="16191C"/>
                </a:solidFill>
                <a:latin typeface="Arial"/>
              </a:defRPr>
            </a:pPr>
            <a:r>
              <a:t>Supplier Power</a:t>
            </a:r>
          </a:p>
        </p:txBody>
      </p:sp>
      <p:sp>
        <p:nvSpPr>
          <p:cNvPr id="13" name="TextBox 12"/>
          <p:cNvSpPr txBox="1"/>
          <p:nvPr/>
        </p:nvSpPr>
        <p:spPr>
          <a:xfrm>
            <a:off x="4297680" y="4663440"/>
            <a:ext cx="1371600" cy="365760"/>
          </a:xfrm>
          <a:prstGeom prst="rect">
            <a:avLst/>
          </a:prstGeom>
          <a:noFill/>
        </p:spPr>
        <p:txBody>
          <a:bodyPr wrap="square">
            <a:spAutoFit/>
          </a:bodyPr>
          <a:lstStyle/>
          <a:p>
            <a:pPr algn="ctr">
              <a:defRPr sz="1800" b="1">
                <a:solidFill>
                  <a:srgbClr val="4A4F54"/>
                </a:solidFill>
                <a:latin typeface="Arial"/>
              </a:defRPr>
            </a:pPr>
            <a:r>
              <a:t>MODERATE</a:t>
            </a:r>
          </a:p>
        </p:txBody>
      </p:sp>
      <p:sp>
        <p:nvSpPr>
          <p:cNvPr id="14" name="TextBox 13"/>
          <p:cNvSpPr txBox="1"/>
          <p:nvPr/>
        </p:nvSpPr>
        <p:spPr>
          <a:xfrm>
            <a:off x="5760720" y="4663440"/>
            <a:ext cx="5029200" cy="365760"/>
          </a:xfrm>
          <a:prstGeom prst="rect">
            <a:avLst/>
          </a:prstGeom>
          <a:noFill/>
        </p:spPr>
        <p:txBody>
          <a:bodyPr wrap="square">
            <a:spAutoFit/>
          </a:bodyPr>
          <a:lstStyle/>
          <a:p>
            <a:pPr algn="l">
              <a:defRPr sz="1500" b="0">
                <a:solidFill>
                  <a:srgbClr val="4A4F54"/>
                </a:solidFill>
                <a:latin typeface="Arial"/>
              </a:defRPr>
            </a:pPr>
            <a:r>
              <a:t>Strong petroleum; fragmented bioethanol; no ethanol subsidy</a:t>
            </a:r>
          </a:p>
        </p:txBody>
      </p:sp>
      <p:sp>
        <p:nvSpPr>
          <p:cNvPr id="15" name="TextBox 14"/>
          <p:cNvSpPr txBox="1"/>
          <p:nvPr/>
        </p:nvSpPr>
        <p:spPr>
          <a:xfrm>
            <a:off x="1051560" y="5852160"/>
            <a:ext cx="3200400" cy="365760"/>
          </a:xfrm>
          <a:prstGeom prst="rect">
            <a:avLst/>
          </a:prstGeom>
          <a:noFill/>
        </p:spPr>
        <p:txBody>
          <a:bodyPr wrap="square">
            <a:spAutoFit/>
          </a:bodyPr>
          <a:lstStyle/>
          <a:p>
            <a:pPr algn="l">
              <a:defRPr sz="1800" b="1">
                <a:solidFill>
                  <a:srgbClr val="16191C"/>
                </a:solidFill>
                <a:latin typeface="Arial"/>
              </a:defRPr>
            </a:pPr>
            <a:r>
              <a:t>Buyer Power</a:t>
            </a:r>
          </a:p>
        </p:txBody>
      </p:sp>
      <p:sp>
        <p:nvSpPr>
          <p:cNvPr id="16" name="TextBox 15"/>
          <p:cNvSpPr txBox="1"/>
          <p:nvPr/>
        </p:nvSpPr>
        <p:spPr>
          <a:xfrm>
            <a:off x="4297680" y="5852160"/>
            <a:ext cx="1371600" cy="365760"/>
          </a:xfrm>
          <a:prstGeom prst="rect">
            <a:avLst/>
          </a:prstGeom>
          <a:noFill/>
        </p:spPr>
        <p:txBody>
          <a:bodyPr wrap="square">
            <a:spAutoFit/>
          </a:bodyPr>
          <a:lstStyle/>
          <a:p>
            <a:pPr algn="ctr">
              <a:defRPr sz="1800" b="1">
                <a:solidFill>
                  <a:srgbClr val="C0492F"/>
                </a:solidFill>
                <a:latin typeface="Arial"/>
              </a:defRPr>
            </a:pPr>
            <a:r>
              <a:t>HIGH</a:t>
            </a:r>
          </a:p>
        </p:txBody>
      </p:sp>
      <p:sp>
        <p:nvSpPr>
          <p:cNvPr id="17" name="TextBox 16"/>
          <p:cNvSpPr txBox="1"/>
          <p:nvPr/>
        </p:nvSpPr>
        <p:spPr>
          <a:xfrm>
            <a:off x="5760720" y="5852160"/>
            <a:ext cx="5029200" cy="365760"/>
          </a:xfrm>
          <a:prstGeom prst="rect">
            <a:avLst/>
          </a:prstGeom>
          <a:noFill/>
        </p:spPr>
        <p:txBody>
          <a:bodyPr wrap="square">
            <a:spAutoFit/>
          </a:bodyPr>
          <a:lstStyle/>
          <a:p>
            <a:pPr algn="l">
              <a:defRPr sz="1500" b="0">
                <a:solidFill>
                  <a:srgbClr val="4A4F54"/>
                </a:solidFill>
                <a:latin typeface="Arial"/>
              </a:defRPr>
            </a:pPr>
            <a:r>
              <a:t>Low switching costs; high price sensitivity; fuel is credence good</a:t>
            </a:r>
          </a:p>
        </p:txBody>
      </p:sp>
      <p:sp>
        <p:nvSpPr>
          <p:cNvPr id="18" name="TextBox 17"/>
          <p:cNvSpPr txBox="1"/>
          <p:nvPr/>
        </p:nvSpPr>
        <p:spPr>
          <a:xfrm>
            <a:off x="1051560" y="7040880"/>
            <a:ext cx="3200400" cy="365760"/>
          </a:xfrm>
          <a:prstGeom prst="rect">
            <a:avLst/>
          </a:prstGeom>
          <a:noFill/>
        </p:spPr>
        <p:txBody>
          <a:bodyPr wrap="square">
            <a:spAutoFit/>
          </a:bodyPr>
          <a:lstStyle/>
          <a:p>
            <a:pPr algn="l">
              <a:defRPr sz="1800" b="1">
                <a:solidFill>
                  <a:srgbClr val="16191C"/>
                </a:solidFill>
                <a:latin typeface="Arial"/>
              </a:defRPr>
            </a:pPr>
            <a:r>
              <a:t>Substitutes</a:t>
            </a:r>
          </a:p>
        </p:txBody>
      </p:sp>
      <p:sp>
        <p:nvSpPr>
          <p:cNvPr id="19" name="TextBox 18"/>
          <p:cNvSpPr txBox="1"/>
          <p:nvPr/>
        </p:nvSpPr>
        <p:spPr>
          <a:xfrm>
            <a:off x="4297680" y="7040880"/>
            <a:ext cx="1371600" cy="365760"/>
          </a:xfrm>
          <a:prstGeom prst="rect">
            <a:avLst/>
          </a:prstGeom>
          <a:noFill/>
        </p:spPr>
        <p:txBody>
          <a:bodyPr wrap="square">
            <a:spAutoFit/>
          </a:bodyPr>
          <a:lstStyle/>
          <a:p>
            <a:pPr algn="ctr">
              <a:defRPr sz="1800" b="1">
                <a:solidFill>
                  <a:srgbClr val="4A4F54"/>
                </a:solidFill>
                <a:latin typeface="Arial"/>
              </a:defRPr>
            </a:pPr>
            <a:r>
              <a:t>MODERATE–HIGH</a:t>
            </a:r>
          </a:p>
        </p:txBody>
      </p:sp>
      <p:sp>
        <p:nvSpPr>
          <p:cNvPr id="20" name="TextBox 19"/>
          <p:cNvSpPr txBox="1"/>
          <p:nvPr/>
        </p:nvSpPr>
        <p:spPr>
          <a:xfrm>
            <a:off x="5760720" y="7040880"/>
            <a:ext cx="5029200" cy="365760"/>
          </a:xfrm>
          <a:prstGeom prst="rect">
            <a:avLst/>
          </a:prstGeom>
          <a:noFill/>
        </p:spPr>
        <p:txBody>
          <a:bodyPr wrap="square">
            <a:spAutoFit/>
          </a:bodyPr>
          <a:lstStyle/>
          <a:p>
            <a:pPr algn="l">
              <a:defRPr sz="1500" b="0">
                <a:solidFill>
                  <a:srgbClr val="4A4F54"/>
                </a:solidFill>
                <a:latin typeface="Arial"/>
              </a:defRPr>
            </a:pPr>
            <a:r>
              <a:t>Direct: lower-tier fuels; Indirect: EVs, public transport, ride-hailing</a:t>
            </a:r>
          </a:p>
        </p:txBody>
      </p:sp>
      <p:sp>
        <p:nvSpPr>
          <p:cNvPr id="21" name="Rectangle 20"/>
          <p:cNvSpPr/>
          <p:nvPr/>
        </p:nvSpPr>
        <p:spPr>
          <a:xfrm>
            <a:off x="10972800" y="2286000"/>
            <a:ext cx="6272784" cy="36576"/>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0" y="2377440"/>
            <a:ext cx="6272784" cy="365760"/>
          </a:xfrm>
          <a:prstGeom prst="rect">
            <a:avLst/>
          </a:prstGeom>
          <a:noFill/>
        </p:spPr>
        <p:txBody>
          <a:bodyPr wrap="square">
            <a:spAutoFit/>
          </a:bodyPr>
          <a:lstStyle/>
          <a:p>
            <a:pPr algn="l">
              <a:defRPr sz="1800" b="1">
                <a:solidFill>
                  <a:srgbClr val="1A6E4F"/>
                </a:solidFill>
                <a:latin typeface="Arial"/>
              </a:defRPr>
            </a:pPr>
            <a:r>
              <a:t>SWOT HIGHLIGHTS</a:t>
            </a:r>
          </a:p>
        </p:txBody>
      </p:sp>
      <p:sp>
        <p:nvSpPr>
          <p:cNvPr id="23" name="Rectangle 22"/>
          <p:cNvSpPr/>
          <p:nvPr/>
        </p:nvSpPr>
        <p:spPr>
          <a:xfrm>
            <a:off x="10972800" y="2926080"/>
            <a:ext cx="3017520" cy="256032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109960" y="3017520"/>
            <a:ext cx="2743200" cy="320040"/>
          </a:xfrm>
          <a:prstGeom prst="rect">
            <a:avLst/>
          </a:prstGeom>
          <a:noFill/>
        </p:spPr>
        <p:txBody>
          <a:bodyPr wrap="square">
            <a:spAutoFit/>
          </a:bodyPr>
          <a:lstStyle/>
          <a:p>
            <a:pPr algn="l">
              <a:defRPr sz="1600" b="1">
                <a:solidFill>
                  <a:srgbClr val="1A6E4F"/>
                </a:solidFill>
                <a:latin typeface="Arial"/>
              </a:defRPr>
            </a:pPr>
            <a:r>
              <a:t>STRENGTHS</a:t>
            </a:r>
          </a:p>
        </p:txBody>
      </p:sp>
      <p:sp>
        <p:nvSpPr>
          <p:cNvPr id="25" name="TextBox 24"/>
          <p:cNvSpPr txBox="1"/>
          <p:nvPr/>
        </p:nvSpPr>
        <p:spPr>
          <a:xfrm>
            <a:off x="11109960" y="3337560"/>
            <a:ext cx="2743200" cy="2011680"/>
          </a:xfrm>
          <a:prstGeom prst="rect">
            <a:avLst/>
          </a:prstGeom>
          <a:noFill/>
        </p:spPr>
        <p:txBody>
          <a:bodyPr wrap="square">
            <a:spAutoFit/>
          </a:bodyPr>
          <a:lstStyle/>
          <a:p>
            <a:pPr algn="l">
              <a:defRPr sz="1300" b="0">
                <a:solidFill>
                  <a:srgbClr val="4A4F54"/>
                </a:solidFill>
                <a:latin typeface="Arial"/>
              </a:defRPr>
            </a:pPr>
            <a:r>
              <a:t>S1: First-mover E5, LEMIGAS-certified</a:t>
            </a:r>
            <a:br/>
            <a:r>
              <a:t>S2: E10 trial technical lead</a:t>
            </a:r>
            <a:br/>
            <a:r>
              <a:t>S3: 6,000+ stations (30× Shell)</a:t>
            </a:r>
            <a:br/>
            <a:r>
              <a:t>S4: SOE regulatory alignment</a:t>
            </a:r>
            <a:br/>
            <a:r>
              <a:t>S5: Frontline service quality</a:t>
            </a:r>
            <a:br/>
            <a:r>
              <a:t>S6: Regulation-backed environmental authenticity</a:t>
            </a:r>
          </a:p>
        </p:txBody>
      </p:sp>
      <p:sp>
        <p:nvSpPr>
          <p:cNvPr id="26" name="Rectangle 25"/>
          <p:cNvSpPr/>
          <p:nvPr/>
        </p:nvSpPr>
        <p:spPr>
          <a:xfrm>
            <a:off x="14173200" y="2926080"/>
            <a:ext cx="3017520" cy="256032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310360" y="3017520"/>
            <a:ext cx="2743200" cy="320040"/>
          </a:xfrm>
          <a:prstGeom prst="rect">
            <a:avLst/>
          </a:prstGeom>
          <a:noFill/>
        </p:spPr>
        <p:txBody>
          <a:bodyPr wrap="square">
            <a:spAutoFit/>
          </a:bodyPr>
          <a:lstStyle/>
          <a:p>
            <a:pPr algn="l">
              <a:defRPr sz="1600" b="1">
                <a:solidFill>
                  <a:srgbClr val="C0492F"/>
                </a:solidFill>
                <a:latin typeface="Arial"/>
              </a:defRPr>
            </a:pPr>
            <a:r>
              <a:t>WEAKNESSES</a:t>
            </a:r>
          </a:p>
        </p:txBody>
      </p:sp>
      <p:sp>
        <p:nvSpPr>
          <p:cNvPr id="28" name="TextBox 27"/>
          <p:cNvSpPr txBox="1"/>
          <p:nvPr/>
        </p:nvSpPr>
        <p:spPr>
          <a:xfrm>
            <a:off x="14310360" y="3337560"/>
            <a:ext cx="2743200" cy="2011680"/>
          </a:xfrm>
          <a:prstGeom prst="rect">
            <a:avLst/>
          </a:prstGeom>
          <a:noFill/>
        </p:spPr>
        <p:txBody>
          <a:bodyPr wrap="square">
            <a:spAutoFit/>
          </a:bodyPr>
          <a:lstStyle/>
          <a:p>
            <a:pPr algn="l">
              <a:defRPr sz="1300" b="0">
                <a:solidFill>
                  <a:srgbClr val="4A4F54"/>
                </a:solidFill>
                <a:latin typeface="Arial"/>
              </a:defRPr>
            </a:pPr>
            <a:r>
              <a:t>W1: No dedicated ad campaign</a:t>
            </a:r>
            <a:br/>
            <a:r>
              <a:t>W2: 177 of 6,000+ stations (Java-only)</a:t>
            </a:r>
            <a:br/>
            <a:r>
              <a:t>W3: Price-value perception gap</a:t>
            </a:r>
            <a:br/>
            <a:r>
              <a:t>W4: MyPertamina app underperforming</a:t>
            </a:r>
            <a:br/>
            <a:r>
              <a:t>W5: Staff lack product knowledge</a:t>
            </a:r>
            <a:br/>
            <a:r>
              <a:t>W6: Green claims lack verified evidence</a:t>
            </a:r>
          </a:p>
        </p:txBody>
      </p:sp>
      <p:sp>
        <p:nvSpPr>
          <p:cNvPr id="29" name="Rectangle 28"/>
          <p:cNvSpPr/>
          <p:nvPr/>
        </p:nvSpPr>
        <p:spPr>
          <a:xfrm>
            <a:off x="10972800" y="5852160"/>
            <a:ext cx="3017520" cy="256032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109960" y="5943600"/>
            <a:ext cx="2743200" cy="320040"/>
          </a:xfrm>
          <a:prstGeom prst="rect">
            <a:avLst/>
          </a:prstGeom>
          <a:noFill/>
        </p:spPr>
        <p:txBody>
          <a:bodyPr wrap="square">
            <a:spAutoFit/>
          </a:bodyPr>
          <a:lstStyle/>
          <a:p>
            <a:pPr algn="l">
              <a:defRPr sz="1600" b="1">
                <a:solidFill>
                  <a:srgbClr val="1A6E4F"/>
                </a:solidFill>
                <a:latin typeface="Arial"/>
              </a:defRPr>
            </a:pPr>
            <a:r>
              <a:t>OPPORTUNITIES</a:t>
            </a:r>
          </a:p>
        </p:txBody>
      </p:sp>
      <p:sp>
        <p:nvSpPr>
          <p:cNvPr id="31" name="TextBox 30"/>
          <p:cNvSpPr txBox="1"/>
          <p:nvPr/>
        </p:nvSpPr>
        <p:spPr>
          <a:xfrm>
            <a:off x="11109960" y="6263640"/>
            <a:ext cx="2743200" cy="2011680"/>
          </a:xfrm>
          <a:prstGeom prst="rect">
            <a:avLst/>
          </a:prstGeom>
          <a:noFill/>
        </p:spPr>
        <p:txBody>
          <a:bodyPr wrap="square">
            <a:spAutoFit/>
          </a:bodyPr>
          <a:lstStyle/>
          <a:p>
            <a:pPr algn="l">
              <a:defRPr sz="1300" b="0">
                <a:solidFill>
                  <a:srgbClr val="4A4F54"/>
                </a:solidFill>
                <a:latin typeface="Arial"/>
              </a:defRPr>
            </a:pPr>
            <a:r>
              <a:t>O1: E10 mandate 2027 → regulatory demand</a:t>
            </a:r>
            <a:br/>
            <a:r>
              <a:t>O2: Growing green consciousness (25–44)</a:t>
            </a:r>
            <a:br/>
            <a:r>
              <a:t>O3: 22.6% aware non-triers to convert</a:t>
            </a:r>
            <a:br/>
            <a:r>
              <a:t>O4: Turbo/high-compression engine growth</a:t>
            </a:r>
            <a:br/>
            <a:r>
              <a:t>O5: Government ethanol investment</a:t>
            </a:r>
            <a:br/>
            <a:r>
              <a:t>O6: Middle-class income growth 5%+</a:t>
            </a:r>
          </a:p>
        </p:txBody>
      </p:sp>
      <p:sp>
        <p:nvSpPr>
          <p:cNvPr id="32" name="Rectangle 31"/>
          <p:cNvSpPr/>
          <p:nvPr/>
        </p:nvSpPr>
        <p:spPr>
          <a:xfrm>
            <a:off x="14173200" y="5852160"/>
            <a:ext cx="3017520" cy="256032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310360" y="5943600"/>
            <a:ext cx="2743200" cy="320040"/>
          </a:xfrm>
          <a:prstGeom prst="rect">
            <a:avLst/>
          </a:prstGeom>
          <a:noFill/>
        </p:spPr>
        <p:txBody>
          <a:bodyPr wrap="square">
            <a:spAutoFit/>
          </a:bodyPr>
          <a:lstStyle/>
          <a:p>
            <a:pPr algn="l">
              <a:defRPr sz="1600" b="1">
                <a:solidFill>
                  <a:srgbClr val="C0492F"/>
                </a:solidFill>
                <a:latin typeface="Arial"/>
              </a:defRPr>
            </a:pPr>
            <a:r>
              <a:t>THREATS</a:t>
            </a:r>
          </a:p>
        </p:txBody>
      </p:sp>
      <p:sp>
        <p:nvSpPr>
          <p:cNvPr id="34" name="TextBox 33"/>
          <p:cNvSpPr txBox="1"/>
          <p:nvPr/>
        </p:nvSpPr>
        <p:spPr>
          <a:xfrm>
            <a:off x="14310360" y="6263640"/>
            <a:ext cx="2743200" cy="2011680"/>
          </a:xfrm>
          <a:prstGeom prst="rect">
            <a:avLst/>
          </a:prstGeom>
          <a:noFill/>
        </p:spPr>
        <p:txBody>
          <a:bodyPr wrap="square">
            <a:spAutoFit/>
          </a:bodyPr>
          <a:lstStyle/>
          <a:p>
            <a:pPr algn="l">
              <a:defRPr sz="1300" b="0">
                <a:solidFill>
                  <a:srgbClr val="4A4F54"/>
                </a:solidFill>
                <a:latin typeface="Arial"/>
              </a:defRPr>
            </a:pPr>
            <a:r>
              <a:t>T1: EV adoption (2M 2W by 2030)</a:t>
            </a:r>
            <a:br/>
            <a:r>
              <a:t>T2: Shell/BP superior marketing</a:t>
            </a:r>
            <a:br/>
            <a:r>
              <a:t>T3: Bioethanol supply gap (160K vs 4B L)</a:t>
            </a:r>
            <a:br/>
            <a:r>
              <a:t>T4: E10 regulation pending; reversal risk</a:t>
            </a:r>
            <a:br/>
            <a:r>
              <a:t>T5: Subsidized fuel substitution</a:t>
            </a:r>
            <a:br/>
            <a:r>
              <a:t>T6: Rupiah volatility; import cost pressure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804672"/>
            <a:ext cx="13716000" cy="365760"/>
          </a:xfrm>
          <a:prstGeom prst="rect">
            <a:avLst/>
          </a:prstGeom>
          <a:noFill/>
        </p:spPr>
        <p:txBody>
          <a:bodyPr wrap="square">
            <a:spAutoFit/>
          </a:bodyPr>
          <a:lstStyle/>
          <a:p>
            <a:pPr algn="l">
              <a:defRPr sz="1800" b="1">
                <a:solidFill>
                  <a:srgbClr val="1A6E4F"/>
                </a:solidFill>
                <a:latin typeface="Arial"/>
              </a:defRPr>
            </a:pPr>
            <a:r>
              <a:t>ENVIRONMENT  ·  TOWS STRATEGY MATRIX</a:t>
            </a:r>
          </a:p>
        </p:txBody>
      </p:sp>
      <p:sp>
        <p:nvSpPr>
          <p:cNvPr id="3" name="TextBox 2"/>
          <p:cNvSpPr txBox="1"/>
          <p:nvPr/>
        </p:nvSpPr>
        <p:spPr>
          <a:xfrm>
            <a:off x="1051560" y="1197864"/>
            <a:ext cx="13716000" cy="731520"/>
          </a:xfrm>
          <a:prstGeom prst="rect">
            <a:avLst/>
          </a:prstGeom>
          <a:noFill/>
        </p:spPr>
        <p:txBody>
          <a:bodyPr wrap="square">
            <a:spAutoFit/>
          </a:bodyPr>
          <a:lstStyle/>
          <a:p>
            <a:pPr algn="l">
              <a:defRPr sz="3900" b="1">
                <a:solidFill>
                  <a:srgbClr val="16191C"/>
                </a:solidFill>
                <a:latin typeface="Arial"/>
              </a:defRPr>
            </a:pPr>
            <a:r>
              <a:t>Four Strategic Pathways: Promotional Failure Is the Foundational Constraint</a:t>
            </a:r>
          </a:p>
        </p:txBody>
      </p:sp>
      <p:sp>
        <p:nvSpPr>
          <p:cNvPr id="4" name="Rectangle 3"/>
          <p:cNvSpPr/>
          <p:nvPr/>
        </p:nvSpPr>
        <p:spPr>
          <a:xfrm>
            <a:off x="1051560" y="1975104"/>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u_logo_cropped.png"/>
          <p:cNvPicPr>
            <a:picLocks noChangeAspect="1"/>
          </p:cNvPicPr>
          <p:nvPr/>
        </p:nvPicPr>
        <p:blipFill>
          <a:blip r:embed="rId2"/>
          <a:stretch>
            <a:fillRect/>
          </a:stretch>
        </p:blipFill>
        <p:spPr>
          <a:xfrm>
            <a:off x="15261336" y="822960"/>
            <a:ext cx="1984248" cy="731520"/>
          </a:xfrm>
          <a:prstGeom prst="rect">
            <a:avLst/>
          </a:prstGeom>
        </p:spPr>
      </p:pic>
      <p:sp>
        <p:nvSpPr>
          <p:cNvPr id="6" name="Rectangle 5"/>
          <p:cNvSpPr/>
          <p:nvPr/>
        </p:nvSpPr>
        <p:spPr>
          <a:xfrm>
            <a:off x="1051560" y="2286000"/>
            <a:ext cx="3931920" cy="502920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2286000"/>
            <a:ext cx="3931920" cy="1097280"/>
          </a:xfrm>
          <a:prstGeom prst="rect">
            <a:avLst/>
          </a:prstGeom>
          <a:solidFill>
            <a:srgbClr val="1A6E4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19" y="2377440"/>
            <a:ext cx="3657600" cy="914400"/>
          </a:xfrm>
          <a:prstGeom prst="rect">
            <a:avLst/>
          </a:prstGeom>
          <a:noFill/>
        </p:spPr>
        <p:txBody>
          <a:bodyPr wrap="square">
            <a:spAutoFit/>
          </a:bodyPr>
          <a:lstStyle/>
          <a:p>
            <a:pPr algn="ctr">
              <a:defRPr sz="2000" b="1">
                <a:solidFill>
                  <a:srgbClr val="FFFFFF"/>
                </a:solidFill>
                <a:latin typeface="Arial"/>
              </a:defRPr>
            </a:pPr>
            <a:r>
              <a:t>SO</a:t>
            </a:r>
            <a:br/>
            <a:r>
              <a:t>(Strengths + Opportunities)</a:t>
            </a:r>
          </a:p>
        </p:txBody>
      </p:sp>
      <p:sp>
        <p:nvSpPr>
          <p:cNvPr id="9" name="TextBox 8"/>
          <p:cNvSpPr txBox="1"/>
          <p:nvPr/>
        </p:nvSpPr>
        <p:spPr>
          <a:xfrm>
            <a:off x="1188719" y="3566160"/>
            <a:ext cx="3657600" cy="3474720"/>
          </a:xfrm>
          <a:prstGeom prst="rect">
            <a:avLst/>
          </a:prstGeom>
          <a:noFill/>
        </p:spPr>
        <p:txBody>
          <a:bodyPr wrap="square">
            <a:spAutoFit/>
          </a:bodyPr>
          <a:lstStyle/>
          <a:p>
            <a:pPr algn="l">
              <a:defRPr sz="1800" b="0">
                <a:solidFill>
                  <a:srgbClr val="16191C"/>
                </a:solidFill>
                <a:latin typeface="Arial"/>
              </a:defRPr>
            </a:pPr>
            <a:r>
              <a:t>Leverage product certification &amp; station network</a:t>
            </a:r>
            <a:br/>
            <a:r>
              <a:t>to capture E10 mandate market. Use SOE status</a:t>
            </a:r>
            <a:br/>
            <a:r>
              <a:t>for government fleet contracts.</a:t>
            </a:r>
          </a:p>
        </p:txBody>
      </p:sp>
      <p:sp>
        <p:nvSpPr>
          <p:cNvPr id="10" name="Rectangle 9"/>
          <p:cNvSpPr/>
          <p:nvPr/>
        </p:nvSpPr>
        <p:spPr>
          <a:xfrm>
            <a:off x="5257800" y="2286000"/>
            <a:ext cx="3931920" cy="502920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57800" y="2286000"/>
            <a:ext cx="3931920" cy="1097280"/>
          </a:xfrm>
          <a:prstGeom prst="rect">
            <a:avLst/>
          </a:prstGeom>
          <a:solidFill>
            <a:srgbClr val="1A6E4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377440"/>
            <a:ext cx="3657600" cy="914400"/>
          </a:xfrm>
          <a:prstGeom prst="rect">
            <a:avLst/>
          </a:prstGeom>
          <a:noFill/>
        </p:spPr>
        <p:txBody>
          <a:bodyPr wrap="square">
            <a:spAutoFit/>
          </a:bodyPr>
          <a:lstStyle/>
          <a:p>
            <a:pPr algn="ctr">
              <a:defRPr sz="2000" b="1">
                <a:solidFill>
                  <a:srgbClr val="FFFFFF"/>
                </a:solidFill>
                <a:latin typeface="Arial"/>
              </a:defRPr>
            </a:pPr>
            <a:r>
              <a:t>WO</a:t>
            </a:r>
            <a:br/>
            <a:r>
              <a:t>(Weaknesses + Opportunities)</a:t>
            </a:r>
          </a:p>
        </p:txBody>
      </p:sp>
      <p:sp>
        <p:nvSpPr>
          <p:cNvPr id="13" name="TextBox 12"/>
          <p:cNvSpPr txBox="1"/>
          <p:nvPr/>
        </p:nvSpPr>
        <p:spPr>
          <a:xfrm>
            <a:off x="5394960" y="3566160"/>
            <a:ext cx="3657600" cy="3474720"/>
          </a:xfrm>
          <a:prstGeom prst="rect">
            <a:avLst/>
          </a:prstGeom>
          <a:noFill/>
        </p:spPr>
        <p:txBody>
          <a:bodyPr wrap="square">
            <a:spAutoFit/>
          </a:bodyPr>
          <a:lstStyle/>
          <a:p>
            <a:pPr algn="l">
              <a:defRPr sz="1800" b="0">
                <a:solidFill>
                  <a:srgbClr val="16191C"/>
                </a:solidFill>
                <a:latin typeface="Arial"/>
              </a:defRPr>
            </a:pPr>
            <a:r>
              <a:t>Use digital marketing &amp; sustainability trends</a:t>
            </a:r>
            <a:br/>
            <a:r>
              <a:t>to overcome promotional weakness. Partner with</a:t>
            </a:r>
            <a:br/>
            <a:r>
              <a:t>EV manufacturers for hybrid positioning.</a:t>
            </a:r>
          </a:p>
        </p:txBody>
      </p:sp>
      <p:sp>
        <p:nvSpPr>
          <p:cNvPr id="14" name="Rectangle 13"/>
          <p:cNvSpPr/>
          <p:nvPr/>
        </p:nvSpPr>
        <p:spPr>
          <a:xfrm>
            <a:off x="9464040" y="2286000"/>
            <a:ext cx="3931920" cy="502920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464040" y="2286000"/>
            <a:ext cx="3931920" cy="1097280"/>
          </a:xfrm>
          <a:prstGeom prst="rect">
            <a:avLst/>
          </a:prstGeom>
          <a:solidFill>
            <a:srgbClr val="CF8A4A"/>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2377440"/>
            <a:ext cx="3657600" cy="914400"/>
          </a:xfrm>
          <a:prstGeom prst="rect">
            <a:avLst/>
          </a:prstGeom>
          <a:noFill/>
        </p:spPr>
        <p:txBody>
          <a:bodyPr wrap="square">
            <a:spAutoFit/>
          </a:bodyPr>
          <a:lstStyle/>
          <a:p>
            <a:pPr algn="ctr">
              <a:defRPr sz="2000" b="1">
                <a:solidFill>
                  <a:srgbClr val="FFFFFF"/>
                </a:solidFill>
                <a:latin typeface="Arial"/>
              </a:defRPr>
            </a:pPr>
            <a:r>
              <a:t>ST</a:t>
            </a:r>
            <a:br/>
            <a:r>
              <a:t>(Strengths + Threats)</a:t>
            </a:r>
          </a:p>
        </p:txBody>
      </p:sp>
      <p:sp>
        <p:nvSpPr>
          <p:cNvPr id="17" name="TextBox 16"/>
          <p:cNvSpPr txBox="1"/>
          <p:nvPr/>
        </p:nvSpPr>
        <p:spPr>
          <a:xfrm>
            <a:off x="9601200" y="3566160"/>
            <a:ext cx="3657600" cy="3474720"/>
          </a:xfrm>
          <a:prstGeom prst="rect">
            <a:avLst/>
          </a:prstGeom>
          <a:noFill/>
        </p:spPr>
        <p:txBody>
          <a:bodyPr wrap="square">
            <a:spAutoFit/>
          </a:bodyPr>
          <a:lstStyle/>
          <a:p>
            <a:pPr algn="l">
              <a:defRPr sz="1800" b="0">
                <a:solidFill>
                  <a:srgbClr val="16191C"/>
                </a:solidFill>
                <a:latin typeface="Arial"/>
              </a:defRPr>
            </a:pPr>
            <a:r>
              <a:t>Use RON 95 certification &amp; LEMIGAS validation</a:t>
            </a:r>
            <a:br/>
            <a:r>
              <a:t>to differentiate against Shell V-Power. Accelerate</a:t>
            </a:r>
            <a:br/>
            <a:r>
              <a:t>E10 readiness to maintain regulatory advantage.</a:t>
            </a:r>
          </a:p>
        </p:txBody>
      </p:sp>
      <p:sp>
        <p:nvSpPr>
          <p:cNvPr id="18" name="Rectangle 17"/>
          <p:cNvSpPr/>
          <p:nvPr/>
        </p:nvSpPr>
        <p:spPr>
          <a:xfrm>
            <a:off x="13670280" y="2286000"/>
            <a:ext cx="3931920" cy="502920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3670280" y="2286000"/>
            <a:ext cx="3931920" cy="1097280"/>
          </a:xfrm>
          <a:prstGeom prst="rect">
            <a:avLst/>
          </a:prstGeom>
          <a:solidFill>
            <a:srgbClr val="C0492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807440" y="2377440"/>
            <a:ext cx="3657600" cy="914400"/>
          </a:xfrm>
          <a:prstGeom prst="rect">
            <a:avLst/>
          </a:prstGeom>
          <a:noFill/>
        </p:spPr>
        <p:txBody>
          <a:bodyPr wrap="square">
            <a:spAutoFit/>
          </a:bodyPr>
          <a:lstStyle/>
          <a:p>
            <a:pPr algn="ctr">
              <a:defRPr sz="2000" b="1">
                <a:solidFill>
                  <a:srgbClr val="FFFFFF"/>
                </a:solidFill>
                <a:latin typeface="Arial"/>
              </a:defRPr>
            </a:pPr>
            <a:r>
              <a:t>WT</a:t>
            </a:r>
            <a:br/>
            <a:r>
              <a:t>(Weaknesses + Threats)</a:t>
            </a:r>
          </a:p>
        </p:txBody>
      </p:sp>
      <p:sp>
        <p:nvSpPr>
          <p:cNvPr id="21" name="TextBox 20"/>
          <p:cNvSpPr txBox="1"/>
          <p:nvPr/>
        </p:nvSpPr>
        <p:spPr>
          <a:xfrm>
            <a:off x="13807440" y="3566160"/>
            <a:ext cx="3657600" cy="3474720"/>
          </a:xfrm>
          <a:prstGeom prst="rect">
            <a:avLst/>
          </a:prstGeom>
          <a:noFill/>
        </p:spPr>
        <p:txBody>
          <a:bodyPr wrap="square">
            <a:spAutoFit/>
          </a:bodyPr>
          <a:lstStyle/>
          <a:p>
            <a:pPr algn="l">
              <a:defRPr sz="1800" b="0">
                <a:solidFill>
                  <a:srgbClr val="16191C"/>
                </a:solidFill>
                <a:latin typeface="Arial"/>
              </a:defRPr>
            </a:pPr>
            <a:r>
              <a:t>Develop bioethanol supply chain resilience.</a:t>
            </a:r>
            <a:br/>
            <a:r>
              <a:t>Build digital consumer engagement before EV</a:t>
            </a:r>
            <a:br/>
            <a:r>
              <a:t>substitution accelerates gasoline demand decline.</a:t>
            </a:r>
          </a:p>
        </p:txBody>
      </p:sp>
      <p:sp>
        <p:nvSpPr>
          <p:cNvPr id="22" name="Rectangle 21"/>
          <p:cNvSpPr/>
          <p:nvPr/>
        </p:nvSpPr>
        <p:spPr>
          <a:xfrm>
            <a:off x="1051560" y="7772400"/>
            <a:ext cx="16194024"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7955279"/>
            <a:ext cx="16194024" cy="914400"/>
          </a:xfrm>
          <a:prstGeom prst="rect">
            <a:avLst/>
          </a:prstGeom>
          <a:noFill/>
        </p:spPr>
        <p:txBody>
          <a:bodyPr wrap="square">
            <a:spAutoFit/>
          </a:bodyPr>
          <a:lstStyle/>
          <a:p>
            <a:pPr algn="l">
              <a:defRPr sz="1875" b="0">
                <a:solidFill>
                  <a:srgbClr val="16191C"/>
                </a:solidFill>
                <a:latin typeface="Arial"/>
              </a:defRPr>
            </a:pPr>
            <a:r>
              <a:t>▸ Promotional failure (W1) is the primary constraint: without resolving it, SO strategies around product certification and distribution expansion yield suboptimal returns — consumers remain unaware of improved availability or quality.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1371600"/>
            <a:ext cx="4572000" cy="1371600"/>
          </a:xfrm>
          <a:prstGeom prst="rect">
            <a:avLst/>
          </a:prstGeom>
          <a:noFill/>
        </p:spPr>
        <p:txBody>
          <a:bodyPr wrap="square">
            <a:spAutoFit/>
          </a:bodyPr>
          <a:lstStyle/>
          <a:p>
            <a:pPr algn="l">
              <a:defRPr sz="15000" b="1">
                <a:solidFill>
                  <a:srgbClr val="EEF0F2"/>
                </a:solidFill>
                <a:latin typeface="Arial"/>
              </a:defRPr>
            </a:pPr>
            <a:r>
              <a:t>03</a:t>
            </a:r>
          </a:p>
        </p:txBody>
      </p:sp>
      <p:sp>
        <p:nvSpPr>
          <p:cNvPr id="3" name="Rectangle 2"/>
          <p:cNvSpPr/>
          <p:nvPr/>
        </p:nvSpPr>
        <p:spPr>
          <a:xfrm>
            <a:off x="1051560" y="2743200"/>
            <a:ext cx="420624" cy="27432"/>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926080"/>
            <a:ext cx="7315200" cy="457200"/>
          </a:xfrm>
          <a:prstGeom prst="rect">
            <a:avLst/>
          </a:prstGeom>
          <a:noFill/>
        </p:spPr>
        <p:txBody>
          <a:bodyPr wrap="square">
            <a:spAutoFit/>
          </a:bodyPr>
          <a:lstStyle/>
          <a:p>
            <a:pPr algn="l">
              <a:defRPr sz="1800" b="1">
                <a:solidFill>
                  <a:srgbClr val="1A6E4F"/>
                </a:solidFill>
                <a:latin typeface="Arial"/>
              </a:defRPr>
            </a:pPr>
            <a:r>
              <a:t>PART THREE</a:t>
            </a:r>
          </a:p>
        </p:txBody>
      </p:sp>
      <p:sp>
        <p:nvSpPr>
          <p:cNvPr id="5" name="TextBox 4"/>
          <p:cNvSpPr txBox="1"/>
          <p:nvPr/>
        </p:nvSpPr>
        <p:spPr>
          <a:xfrm>
            <a:off x="1051560" y="3474720"/>
            <a:ext cx="16194024" cy="1371600"/>
          </a:xfrm>
          <a:prstGeom prst="rect">
            <a:avLst/>
          </a:prstGeom>
          <a:noFill/>
        </p:spPr>
        <p:txBody>
          <a:bodyPr wrap="square">
            <a:spAutoFit/>
          </a:bodyPr>
          <a:lstStyle/>
          <a:p>
            <a:pPr algn="l">
              <a:defRPr sz="6900" b="1">
                <a:solidFill>
                  <a:srgbClr val="16191C"/>
                </a:solidFill>
                <a:latin typeface="Arial"/>
              </a:defRPr>
            </a:pPr>
            <a:r>
              <a:t>Strategy Design:</a:t>
            </a:r>
            <a:br/>
            <a:r>
              <a:t>STP + Integrated 7P Marketing Mix</a:t>
            </a:r>
          </a:p>
        </p:txBody>
      </p:sp>
      <p:sp>
        <p:nvSpPr>
          <p:cNvPr id="6" name="TextBox 5"/>
          <p:cNvSpPr txBox="1"/>
          <p:nvPr/>
        </p:nvSpPr>
        <p:spPr>
          <a:xfrm>
            <a:off x="1051560" y="5029200"/>
            <a:ext cx="13716000" cy="731520"/>
          </a:xfrm>
          <a:prstGeom prst="rect">
            <a:avLst/>
          </a:prstGeom>
          <a:noFill/>
        </p:spPr>
        <p:txBody>
          <a:bodyPr wrap="square">
            <a:spAutoFit/>
          </a:bodyPr>
          <a:lstStyle/>
          <a:p>
            <a:pPr algn="l">
              <a:defRPr sz="2250" b="0">
                <a:solidFill>
                  <a:srgbClr val="5B625F"/>
                </a:solidFill>
                <a:latin typeface="Arial"/>
              </a:defRPr>
            </a:pPr>
            <a:r>
              <a:t>Three-stage logic: Diagnostic → TOWS Match → STP Target → 7P Execution</a:t>
            </a:r>
          </a:p>
        </p:txBody>
      </p:sp>
      <p:pic>
        <p:nvPicPr>
          <p:cNvPr id="7" name="Picture 6" descr="neu_logo_cropped.png"/>
          <p:cNvPicPr>
            <a:picLocks noChangeAspect="1"/>
          </p:cNvPicPr>
          <p:nvPr/>
        </p:nvPicPr>
        <p:blipFill>
          <a:blip r:embed="rId2"/>
          <a:stretch>
            <a:fillRect/>
          </a:stretch>
        </p:blipFill>
        <p:spPr>
          <a:xfrm>
            <a:off x="15261336" y="822960"/>
            <a:ext cx="1984248" cy="7315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804672"/>
            <a:ext cx="13716000" cy="365760"/>
          </a:xfrm>
          <a:prstGeom prst="rect">
            <a:avLst/>
          </a:prstGeom>
          <a:noFill/>
        </p:spPr>
        <p:txBody>
          <a:bodyPr wrap="square">
            <a:spAutoFit/>
          </a:bodyPr>
          <a:lstStyle/>
          <a:p>
            <a:pPr algn="l">
              <a:defRPr sz="1800" b="1">
                <a:solidFill>
                  <a:srgbClr val="1A6E4F"/>
                </a:solidFill>
                <a:latin typeface="Arial"/>
              </a:defRPr>
            </a:pPr>
            <a:r>
              <a:t>STRATEGY  ·  STP: SEGMENTATION &amp; TARGETING</a:t>
            </a:r>
          </a:p>
        </p:txBody>
      </p:sp>
      <p:sp>
        <p:nvSpPr>
          <p:cNvPr id="3" name="TextBox 2"/>
          <p:cNvSpPr txBox="1"/>
          <p:nvPr/>
        </p:nvSpPr>
        <p:spPr>
          <a:xfrm>
            <a:off x="1051560" y="1197864"/>
            <a:ext cx="13716000" cy="731520"/>
          </a:xfrm>
          <a:prstGeom prst="rect">
            <a:avLst/>
          </a:prstGeom>
          <a:noFill/>
        </p:spPr>
        <p:txBody>
          <a:bodyPr wrap="square">
            <a:spAutoFit/>
          </a:bodyPr>
          <a:lstStyle/>
          <a:p>
            <a:pPr algn="l">
              <a:defRPr sz="3900" b="1">
                <a:solidFill>
                  <a:srgbClr val="16191C"/>
                </a:solidFill>
                <a:latin typeface="Arial"/>
              </a:defRPr>
            </a:pPr>
            <a:r>
              <a:t>Primary Target: Green-Affluent Urban Professionals (25–44, 10–50M IDR, High Eco-Concern)</a:t>
            </a:r>
          </a:p>
        </p:txBody>
      </p:sp>
      <p:sp>
        <p:nvSpPr>
          <p:cNvPr id="4" name="Rectangle 3"/>
          <p:cNvSpPr/>
          <p:nvPr/>
        </p:nvSpPr>
        <p:spPr>
          <a:xfrm>
            <a:off x="1051560" y="1975104"/>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u_logo_cropped.png"/>
          <p:cNvPicPr>
            <a:picLocks noChangeAspect="1"/>
          </p:cNvPicPr>
          <p:nvPr/>
        </p:nvPicPr>
        <p:blipFill>
          <a:blip r:embed="rId2"/>
          <a:stretch>
            <a:fillRect/>
          </a:stretch>
        </p:blipFill>
        <p:spPr>
          <a:xfrm>
            <a:off x="15261336" y="822960"/>
            <a:ext cx="1984248" cy="731520"/>
          </a:xfrm>
          <a:prstGeom prst="rect">
            <a:avLst/>
          </a:prstGeom>
        </p:spPr>
      </p:pic>
      <p:sp>
        <p:nvSpPr>
          <p:cNvPr id="6" name="Rectangle 5"/>
          <p:cNvSpPr/>
          <p:nvPr/>
        </p:nvSpPr>
        <p:spPr>
          <a:xfrm>
            <a:off x="1051560" y="2286000"/>
            <a:ext cx="8046720" cy="320040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2286000"/>
            <a:ext cx="8046720"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39" y="2468880"/>
            <a:ext cx="7680960" cy="731520"/>
          </a:xfrm>
          <a:prstGeom prst="rect">
            <a:avLst/>
          </a:prstGeom>
          <a:noFill/>
        </p:spPr>
        <p:txBody>
          <a:bodyPr wrap="square">
            <a:spAutoFit/>
          </a:bodyPr>
          <a:lstStyle/>
          <a:p>
            <a:pPr algn="l">
              <a:defRPr sz="2400" b="1">
                <a:solidFill>
                  <a:srgbClr val="1A6E4F"/>
                </a:solidFill>
                <a:latin typeface="Arial"/>
              </a:defRPr>
            </a:pPr>
            <a:r>
              <a:t>Green-Affluent</a:t>
            </a:r>
            <a:br/>
            <a:r>
              <a:t>Urban Professionals</a:t>
            </a:r>
          </a:p>
        </p:txBody>
      </p:sp>
      <p:sp>
        <p:nvSpPr>
          <p:cNvPr id="9" name="TextBox 8"/>
          <p:cNvSpPr txBox="1"/>
          <p:nvPr/>
        </p:nvSpPr>
        <p:spPr>
          <a:xfrm>
            <a:off x="1234439" y="3291840"/>
            <a:ext cx="7680960" cy="2011680"/>
          </a:xfrm>
          <a:prstGeom prst="rect">
            <a:avLst/>
          </a:prstGeom>
          <a:noFill/>
        </p:spPr>
        <p:txBody>
          <a:bodyPr wrap="square">
            <a:spAutoFit/>
          </a:bodyPr>
          <a:lstStyle/>
          <a:p>
            <a:pPr algn="l">
              <a:defRPr sz="1600" b="0">
                <a:solidFill>
                  <a:srgbClr val="16191C"/>
                </a:solidFill>
                <a:latin typeface="Arial"/>
              </a:defRPr>
            </a:pPr>
            <a:r>
              <a:t>16.13% share  |  45% usage</a:t>
            </a:r>
            <a:br/>
            <a:r>
              <a:t>Age 25–44  |  10–50M IDR</a:t>
            </a:r>
            <a:br/>
            <a:r>
              <a:t>High eco-concern  |  Digital-native</a:t>
            </a:r>
            <a:br/>
            <a:br/>
            <a:r>
              <a:t>PRIMARY TARGET</a:t>
            </a:r>
          </a:p>
        </p:txBody>
      </p:sp>
      <p:sp>
        <p:nvSpPr>
          <p:cNvPr id="10" name="Rectangle 9"/>
          <p:cNvSpPr/>
          <p:nvPr/>
        </p:nvSpPr>
        <p:spPr>
          <a:xfrm>
            <a:off x="9464040" y="2286000"/>
            <a:ext cx="8046720" cy="320040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64040" y="2286000"/>
            <a:ext cx="8046720"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46919" y="2468880"/>
            <a:ext cx="7680960" cy="731520"/>
          </a:xfrm>
          <a:prstGeom prst="rect">
            <a:avLst/>
          </a:prstGeom>
          <a:noFill/>
        </p:spPr>
        <p:txBody>
          <a:bodyPr wrap="square">
            <a:spAutoFit/>
          </a:bodyPr>
          <a:lstStyle/>
          <a:p>
            <a:pPr algn="l">
              <a:defRPr sz="2400" b="1">
                <a:solidFill>
                  <a:srgbClr val="1A6E4F"/>
                </a:solidFill>
                <a:latin typeface="Arial"/>
              </a:defRPr>
            </a:pPr>
            <a:r>
              <a:t>Eco-Activist</a:t>
            </a:r>
            <a:br/>
            <a:r>
              <a:t>Early Adopters</a:t>
            </a:r>
          </a:p>
        </p:txBody>
      </p:sp>
      <p:sp>
        <p:nvSpPr>
          <p:cNvPr id="13" name="TextBox 12"/>
          <p:cNvSpPr txBox="1"/>
          <p:nvPr/>
        </p:nvSpPr>
        <p:spPr>
          <a:xfrm>
            <a:off x="9646919" y="3291840"/>
            <a:ext cx="7680960" cy="2011680"/>
          </a:xfrm>
          <a:prstGeom prst="rect">
            <a:avLst/>
          </a:prstGeom>
          <a:noFill/>
        </p:spPr>
        <p:txBody>
          <a:bodyPr wrap="square">
            <a:spAutoFit/>
          </a:bodyPr>
          <a:lstStyle/>
          <a:p>
            <a:pPr algn="l">
              <a:defRPr sz="1600" b="0">
                <a:solidFill>
                  <a:srgbClr val="16191C"/>
                </a:solidFill>
                <a:latin typeface="Arial"/>
              </a:defRPr>
            </a:pPr>
            <a:r>
              <a:t>26.61% share  |  42% usage</a:t>
            </a:r>
            <a:br/>
            <a:r>
              <a:t>All ages  |  Very high eco-concern</a:t>
            </a:r>
            <a:br/>
            <a:r>
              <a:t>Availability/awareness gaps</a:t>
            </a:r>
            <a:br/>
            <a:br/>
            <a:r>
              <a:t>RETENTION FOCUS</a:t>
            </a:r>
          </a:p>
        </p:txBody>
      </p:sp>
      <p:sp>
        <p:nvSpPr>
          <p:cNvPr id="14" name="Rectangle 13"/>
          <p:cNvSpPr/>
          <p:nvPr/>
        </p:nvSpPr>
        <p:spPr>
          <a:xfrm>
            <a:off x="1051560" y="5760720"/>
            <a:ext cx="8046720" cy="320040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5760720"/>
            <a:ext cx="8046720"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39" y="5943600"/>
            <a:ext cx="7680960" cy="731520"/>
          </a:xfrm>
          <a:prstGeom prst="rect">
            <a:avLst/>
          </a:prstGeom>
          <a:noFill/>
        </p:spPr>
        <p:txBody>
          <a:bodyPr wrap="square">
            <a:spAutoFit/>
          </a:bodyPr>
          <a:lstStyle/>
          <a:p>
            <a:pPr algn="l">
              <a:defRPr sz="2400" b="1">
                <a:solidFill>
                  <a:srgbClr val="8A7A3F"/>
                </a:solidFill>
                <a:latin typeface="Arial"/>
              </a:defRPr>
            </a:pPr>
            <a:r>
              <a:t>Conservative</a:t>
            </a:r>
            <a:br/>
            <a:r>
              <a:t>Established Users</a:t>
            </a:r>
          </a:p>
        </p:txBody>
      </p:sp>
      <p:sp>
        <p:nvSpPr>
          <p:cNvPr id="17" name="TextBox 16"/>
          <p:cNvSpPr txBox="1"/>
          <p:nvPr/>
        </p:nvSpPr>
        <p:spPr>
          <a:xfrm>
            <a:off x="1234439" y="6766560"/>
            <a:ext cx="7680960" cy="2011680"/>
          </a:xfrm>
          <a:prstGeom prst="rect">
            <a:avLst/>
          </a:prstGeom>
          <a:noFill/>
        </p:spPr>
        <p:txBody>
          <a:bodyPr wrap="square">
            <a:spAutoFit/>
          </a:bodyPr>
          <a:lstStyle/>
          <a:p>
            <a:pPr algn="l">
              <a:defRPr sz="1600" b="0">
                <a:solidFill>
                  <a:srgbClr val="16191C"/>
                </a:solidFill>
                <a:latin typeface="Arial"/>
              </a:defRPr>
            </a:pPr>
            <a:r>
              <a:t>5.65% share  |  57% usage</a:t>
            </a:r>
            <a:br/>
            <a:r>
              <a:t>Age 35–54  |  &gt;20M IDR</a:t>
            </a:r>
            <a:br/>
            <a:r>
              <a:t>Moderate eco-concern</a:t>
            </a:r>
            <a:br/>
            <a:r>
              <a:t>Need performance evidence</a:t>
            </a:r>
            <a:br/>
            <a:br/>
            <a:r>
              <a:t>CONVERSION TARGET</a:t>
            </a:r>
          </a:p>
        </p:txBody>
      </p:sp>
      <p:sp>
        <p:nvSpPr>
          <p:cNvPr id="18" name="Rectangle 17"/>
          <p:cNvSpPr/>
          <p:nvPr/>
        </p:nvSpPr>
        <p:spPr>
          <a:xfrm>
            <a:off x="9464040" y="5760720"/>
            <a:ext cx="8046720" cy="320040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64040" y="5760720"/>
            <a:ext cx="8046720"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46919" y="5943600"/>
            <a:ext cx="7680960" cy="731520"/>
          </a:xfrm>
          <a:prstGeom prst="rect">
            <a:avLst/>
          </a:prstGeom>
          <a:noFill/>
        </p:spPr>
        <p:txBody>
          <a:bodyPr wrap="square">
            <a:spAutoFit/>
          </a:bodyPr>
          <a:lstStyle/>
          <a:p>
            <a:pPr algn="l">
              <a:defRPr sz="2400" b="1">
                <a:solidFill>
                  <a:srgbClr val="8A9099"/>
                </a:solidFill>
                <a:latin typeface="Arial"/>
              </a:defRPr>
            </a:pPr>
            <a:r>
              <a:t>Price-Sensitive</a:t>
            </a:r>
            <a:br/>
            <a:r>
              <a:t>Young Commuters</a:t>
            </a:r>
          </a:p>
        </p:txBody>
      </p:sp>
      <p:sp>
        <p:nvSpPr>
          <p:cNvPr id="21" name="TextBox 20"/>
          <p:cNvSpPr txBox="1"/>
          <p:nvPr/>
        </p:nvSpPr>
        <p:spPr>
          <a:xfrm>
            <a:off x="9646919" y="6766560"/>
            <a:ext cx="7680960" cy="2011680"/>
          </a:xfrm>
          <a:prstGeom prst="rect">
            <a:avLst/>
          </a:prstGeom>
          <a:noFill/>
        </p:spPr>
        <p:txBody>
          <a:bodyPr wrap="square">
            <a:spAutoFit/>
          </a:bodyPr>
          <a:lstStyle/>
          <a:p>
            <a:pPr algn="l">
              <a:defRPr sz="1600" b="0">
                <a:solidFill>
                  <a:srgbClr val="16191C"/>
                </a:solidFill>
                <a:latin typeface="Arial"/>
              </a:defRPr>
            </a:pPr>
            <a:r>
              <a:t>2.42% share  |  33% usage</a:t>
            </a:r>
            <a:br/>
            <a:r>
              <a:t>Age 18–34  |  &lt;10M IDR</a:t>
            </a:r>
            <a:br/>
            <a:r>
              <a:t>Motorcycle-dominant</a:t>
            </a:r>
            <a:br/>
            <a:r>
              <a:t>Price incentives required</a:t>
            </a:r>
            <a:br/>
            <a:br/>
            <a:r>
              <a:t>BROAD TACTICS</a:t>
            </a:r>
          </a:p>
        </p:txBody>
      </p:sp>
      <p:sp>
        <p:nvSpPr>
          <p:cNvPr id="22" name="TextBox 21"/>
          <p:cNvSpPr txBox="1"/>
          <p:nvPr/>
        </p:nvSpPr>
        <p:spPr>
          <a:xfrm>
            <a:off x="1051560" y="7772400"/>
            <a:ext cx="16194024" cy="365760"/>
          </a:xfrm>
          <a:prstGeom prst="rect">
            <a:avLst/>
          </a:prstGeom>
          <a:noFill/>
        </p:spPr>
        <p:txBody>
          <a:bodyPr wrap="square">
            <a:spAutoFit/>
          </a:bodyPr>
          <a:lstStyle/>
          <a:p>
            <a:pPr algn="l">
              <a:defRPr sz="1800" b="1">
                <a:solidFill>
                  <a:srgbClr val="1A6E4F"/>
                </a:solidFill>
                <a:latin typeface="Arial"/>
              </a:defRPr>
            </a:pPr>
            <a:r>
              <a:t>TARGETING PRIORITY: Retention (54% current users) → Conversion (22.6% aware non-triers) → Acquisition (~15% unaware eco-concerned)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804672"/>
            <a:ext cx="13716000" cy="365760"/>
          </a:xfrm>
          <a:prstGeom prst="rect">
            <a:avLst/>
          </a:prstGeom>
          <a:noFill/>
        </p:spPr>
        <p:txBody>
          <a:bodyPr wrap="square">
            <a:spAutoFit/>
          </a:bodyPr>
          <a:lstStyle/>
          <a:p>
            <a:pPr algn="l">
              <a:defRPr sz="1800" b="1">
                <a:solidFill>
                  <a:srgbClr val="1A6E4F"/>
                </a:solidFill>
                <a:latin typeface="Arial"/>
              </a:defRPr>
            </a:pPr>
            <a:r>
              <a:t>STRATEGY  ·  POSITIONING</a:t>
            </a:r>
          </a:p>
        </p:txBody>
      </p:sp>
      <p:sp>
        <p:nvSpPr>
          <p:cNvPr id="3" name="TextBox 2"/>
          <p:cNvSpPr txBox="1"/>
          <p:nvPr/>
        </p:nvSpPr>
        <p:spPr>
          <a:xfrm>
            <a:off x="1051560" y="1197864"/>
            <a:ext cx="13716000" cy="731520"/>
          </a:xfrm>
          <a:prstGeom prst="rect">
            <a:avLst/>
          </a:prstGeom>
          <a:noFill/>
        </p:spPr>
        <p:txBody>
          <a:bodyPr wrap="square">
            <a:spAutoFit/>
          </a:bodyPr>
          <a:lstStyle/>
          <a:p>
            <a:pPr algn="l">
              <a:defRPr sz="3900" b="1">
                <a:solidFill>
                  <a:srgbClr val="16191C"/>
                </a:solidFill>
                <a:latin typeface="Arial"/>
              </a:defRPr>
            </a:pPr>
            <a:r>
              <a:t>Uncontested 'Green Premium': Certified RON 95 + Verified Eco-Benefits at Mid-Market Price</a:t>
            </a:r>
          </a:p>
        </p:txBody>
      </p:sp>
      <p:sp>
        <p:nvSpPr>
          <p:cNvPr id="4" name="Rectangle 3"/>
          <p:cNvSpPr/>
          <p:nvPr/>
        </p:nvSpPr>
        <p:spPr>
          <a:xfrm>
            <a:off x="1051560" y="1975104"/>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u_logo_cropped.png"/>
          <p:cNvPicPr>
            <a:picLocks noChangeAspect="1"/>
          </p:cNvPicPr>
          <p:nvPr/>
        </p:nvPicPr>
        <p:blipFill>
          <a:blip r:embed="rId2"/>
          <a:stretch>
            <a:fillRect/>
          </a:stretch>
        </p:blipFill>
        <p:spPr>
          <a:xfrm>
            <a:off x="15261336" y="822960"/>
            <a:ext cx="1984248" cy="731520"/>
          </a:xfrm>
          <a:prstGeom prst="rect">
            <a:avLst/>
          </a:prstGeom>
        </p:spPr>
      </p:pic>
      <p:sp>
        <p:nvSpPr>
          <p:cNvPr id="6" name="Rectangle 5"/>
          <p:cNvSpPr/>
          <p:nvPr/>
        </p:nvSpPr>
        <p:spPr>
          <a:xfrm>
            <a:off x="1828800" y="2743200"/>
            <a:ext cx="12801600"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0" y="2743200"/>
            <a:ext cx="18288" cy="4114800"/>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6949440"/>
            <a:ext cx="4572000" cy="365760"/>
          </a:xfrm>
          <a:prstGeom prst="rect">
            <a:avLst/>
          </a:prstGeom>
          <a:noFill/>
        </p:spPr>
        <p:txBody>
          <a:bodyPr wrap="square">
            <a:spAutoFit/>
          </a:bodyPr>
          <a:lstStyle/>
          <a:p>
            <a:pPr algn="ctr">
              <a:defRPr sz="1800" b="1">
                <a:solidFill>
                  <a:srgbClr val="8A9099"/>
                </a:solidFill>
                <a:latin typeface="Arial"/>
              </a:defRPr>
            </a:pPr>
            <a:r>
              <a:t>PRICE</a:t>
            </a:r>
          </a:p>
        </p:txBody>
      </p:sp>
      <p:sp>
        <p:nvSpPr>
          <p:cNvPr id="9" name="TextBox 8"/>
          <p:cNvSpPr txBox="1"/>
          <p:nvPr/>
        </p:nvSpPr>
        <p:spPr>
          <a:xfrm>
            <a:off x="457200" y="4114800"/>
            <a:ext cx="1371600" cy="1828800"/>
          </a:xfrm>
          <a:prstGeom prst="rect">
            <a:avLst/>
          </a:prstGeom>
          <a:noFill/>
        </p:spPr>
        <p:txBody>
          <a:bodyPr wrap="square">
            <a:spAutoFit/>
          </a:bodyPr>
          <a:lstStyle/>
          <a:p>
            <a:pPr algn="ctr">
              <a:defRPr sz="1800" b="1">
                <a:solidFill>
                  <a:srgbClr val="8A9099"/>
                </a:solidFill>
                <a:latin typeface="Arial"/>
              </a:defRPr>
            </a:pPr>
            <a:r>
              <a:t>ENVIRONMENTAL</a:t>
            </a:r>
            <a:br/>
            <a:r>
              <a:t>CREDIBILITY</a:t>
            </a:r>
          </a:p>
        </p:txBody>
      </p:sp>
      <p:sp>
        <p:nvSpPr>
          <p:cNvPr id="10" name="TextBox 9"/>
          <p:cNvSpPr txBox="1"/>
          <p:nvPr/>
        </p:nvSpPr>
        <p:spPr>
          <a:xfrm>
            <a:off x="3657600" y="2926080"/>
            <a:ext cx="3657600" cy="365760"/>
          </a:xfrm>
          <a:prstGeom prst="rect">
            <a:avLst/>
          </a:prstGeom>
          <a:noFill/>
        </p:spPr>
        <p:txBody>
          <a:bodyPr wrap="square">
            <a:spAutoFit/>
          </a:bodyPr>
          <a:lstStyle/>
          <a:p>
            <a:pPr algn="ctr">
              <a:defRPr sz="1400" b="0">
                <a:solidFill>
                  <a:srgbClr val="8A9099"/>
                </a:solidFill>
                <a:latin typeface="Arial"/>
              </a:defRPr>
            </a:pPr>
            <a:r>
              <a:t>HIGH PRICE / LOW ECO</a:t>
            </a:r>
          </a:p>
        </p:txBody>
      </p:sp>
      <p:sp>
        <p:nvSpPr>
          <p:cNvPr id="11" name="TextBox 10"/>
          <p:cNvSpPr txBox="1"/>
          <p:nvPr/>
        </p:nvSpPr>
        <p:spPr>
          <a:xfrm>
            <a:off x="10972800" y="2926080"/>
            <a:ext cx="3657600" cy="365760"/>
          </a:xfrm>
          <a:prstGeom prst="rect">
            <a:avLst/>
          </a:prstGeom>
          <a:noFill/>
        </p:spPr>
        <p:txBody>
          <a:bodyPr wrap="square">
            <a:spAutoFit/>
          </a:bodyPr>
          <a:lstStyle/>
          <a:p>
            <a:pPr algn="ctr">
              <a:defRPr sz="1400" b="0">
                <a:solidFill>
                  <a:srgbClr val="8A9099"/>
                </a:solidFill>
                <a:latin typeface="Arial"/>
              </a:defRPr>
            </a:pPr>
            <a:r>
              <a:t>HIGH PRICE / HIGH ECO</a:t>
            </a:r>
          </a:p>
        </p:txBody>
      </p:sp>
      <p:sp>
        <p:nvSpPr>
          <p:cNvPr id="12" name="TextBox 11"/>
          <p:cNvSpPr txBox="1"/>
          <p:nvPr/>
        </p:nvSpPr>
        <p:spPr>
          <a:xfrm>
            <a:off x="3657600" y="6583680"/>
            <a:ext cx="3657600" cy="365760"/>
          </a:xfrm>
          <a:prstGeom prst="rect">
            <a:avLst/>
          </a:prstGeom>
          <a:noFill/>
        </p:spPr>
        <p:txBody>
          <a:bodyPr wrap="square">
            <a:spAutoFit/>
          </a:bodyPr>
          <a:lstStyle/>
          <a:p>
            <a:pPr algn="ctr">
              <a:defRPr sz="1400" b="0">
                <a:solidFill>
                  <a:srgbClr val="8A9099"/>
                </a:solidFill>
                <a:latin typeface="Arial"/>
              </a:defRPr>
            </a:pPr>
            <a:r>
              <a:t>LOW PRICE / LOW ECO</a:t>
            </a:r>
          </a:p>
        </p:txBody>
      </p:sp>
      <p:sp>
        <p:nvSpPr>
          <p:cNvPr id="13" name="TextBox 12"/>
          <p:cNvSpPr txBox="1"/>
          <p:nvPr/>
        </p:nvSpPr>
        <p:spPr>
          <a:xfrm>
            <a:off x="10972800" y="6583680"/>
            <a:ext cx="3657600" cy="365760"/>
          </a:xfrm>
          <a:prstGeom prst="rect">
            <a:avLst/>
          </a:prstGeom>
          <a:noFill/>
        </p:spPr>
        <p:txBody>
          <a:bodyPr wrap="square">
            <a:spAutoFit/>
          </a:bodyPr>
          <a:lstStyle/>
          <a:p>
            <a:pPr algn="ctr">
              <a:defRPr sz="1400" b="0">
                <a:solidFill>
                  <a:srgbClr val="8A9099"/>
                </a:solidFill>
                <a:latin typeface="Arial"/>
              </a:defRPr>
            </a:pPr>
            <a:r>
              <a:t>LOW PRICE / HIGH ECO</a:t>
            </a:r>
          </a:p>
        </p:txBody>
      </p:sp>
      <p:sp>
        <p:nvSpPr>
          <p:cNvPr id="14" name="TextBox 13"/>
          <p:cNvSpPr txBox="1"/>
          <p:nvPr/>
        </p:nvSpPr>
        <p:spPr>
          <a:xfrm>
            <a:off x="2103120" y="6080759"/>
            <a:ext cx="2286000" cy="457200"/>
          </a:xfrm>
          <a:prstGeom prst="rect">
            <a:avLst/>
          </a:prstGeom>
          <a:noFill/>
        </p:spPr>
        <p:txBody>
          <a:bodyPr wrap="square">
            <a:spAutoFit/>
          </a:bodyPr>
          <a:lstStyle/>
          <a:p>
            <a:pPr algn="ctr">
              <a:defRPr sz="1400" b="0">
                <a:solidFill>
                  <a:srgbClr val="4A4F54"/>
                </a:solidFill>
                <a:latin typeface="Arial"/>
              </a:defRPr>
            </a:pPr>
            <a:r>
              <a:t>Pertalite RON 90</a:t>
            </a:r>
          </a:p>
        </p:txBody>
      </p:sp>
      <p:sp>
        <p:nvSpPr>
          <p:cNvPr id="15" name="TextBox 14"/>
          <p:cNvSpPr txBox="1"/>
          <p:nvPr/>
        </p:nvSpPr>
        <p:spPr>
          <a:xfrm>
            <a:off x="3931920" y="5806440"/>
            <a:ext cx="2286000" cy="457200"/>
          </a:xfrm>
          <a:prstGeom prst="rect">
            <a:avLst/>
          </a:prstGeom>
          <a:noFill/>
        </p:spPr>
        <p:txBody>
          <a:bodyPr wrap="square">
            <a:spAutoFit/>
          </a:bodyPr>
          <a:lstStyle/>
          <a:p>
            <a:pPr algn="ctr">
              <a:defRPr sz="1400" b="0">
                <a:solidFill>
                  <a:srgbClr val="4A4F54"/>
                </a:solidFill>
                <a:latin typeface="Arial"/>
              </a:defRPr>
            </a:pPr>
            <a:r>
              <a:t>Pertamax RON 92</a:t>
            </a:r>
          </a:p>
        </p:txBody>
      </p:sp>
      <p:sp>
        <p:nvSpPr>
          <p:cNvPr id="16" name="TextBox 15"/>
          <p:cNvSpPr txBox="1"/>
          <p:nvPr/>
        </p:nvSpPr>
        <p:spPr>
          <a:xfrm>
            <a:off x="9875520" y="5806440"/>
            <a:ext cx="2286000" cy="457200"/>
          </a:xfrm>
          <a:prstGeom prst="rect">
            <a:avLst/>
          </a:prstGeom>
          <a:noFill/>
        </p:spPr>
        <p:txBody>
          <a:bodyPr wrap="square">
            <a:spAutoFit/>
          </a:bodyPr>
          <a:lstStyle/>
          <a:p>
            <a:pPr algn="ctr">
              <a:defRPr sz="1400" b="0">
                <a:solidFill>
                  <a:srgbClr val="8A7A3F"/>
                </a:solidFill>
                <a:latin typeface="Arial"/>
              </a:defRPr>
            </a:pPr>
            <a:r>
              <a:t>Pertamax Turbo RON 98</a:t>
            </a:r>
          </a:p>
        </p:txBody>
      </p:sp>
      <p:sp>
        <p:nvSpPr>
          <p:cNvPr id="17" name="TextBox 16"/>
          <p:cNvSpPr txBox="1"/>
          <p:nvPr/>
        </p:nvSpPr>
        <p:spPr>
          <a:xfrm>
            <a:off x="10332720" y="3977639"/>
            <a:ext cx="2286000" cy="457200"/>
          </a:xfrm>
          <a:prstGeom prst="rect">
            <a:avLst/>
          </a:prstGeom>
          <a:noFill/>
        </p:spPr>
        <p:txBody>
          <a:bodyPr wrap="square">
            <a:spAutoFit/>
          </a:bodyPr>
          <a:lstStyle/>
          <a:p>
            <a:pPr algn="ctr">
              <a:defRPr sz="1400" b="0">
                <a:solidFill>
                  <a:srgbClr val="C0492F"/>
                </a:solidFill>
                <a:latin typeface="Arial"/>
              </a:defRPr>
            </a:pPr>
            <a:r>
              <a:t>Shell V-Power</a:t>
            </a:r>
          </a:p>
        </p:txBody>
      </p:sp>
      <p:sp>
        <p:nvSpPr>
          <p:cNvPr id="18" name="TextBox 17"/>
          <p:cNvSpPr txBox="1"/>
          <p:nvPr/>
        </p:nvSpPr>
        <p:spPr>
          <a:xfrm>
            <a:off x="9418320" y="4434840"/>
            <a:ext cx="2286000" cy="457200"/>
          </a:xfrm>
          <a:prstGeom prst="rect">
            <a:avLst/>
          </a:prstGeom>
          <a:noFill/>
        </p:spPr>
        <p:txBody>
          <a:bodyPr wrap="square">
            <a:spAutoFit/>
          </a:bodyPr>
          <a:lstStyle/>
          <a:p>
            <a:pPr algn="ctr">
              <a:defRPr sz="1400" b="0">
                <a:solidFill>
                  <a:srgbClr val="006699"/>
                </a:solidFill>
                <a:latin typeface="Arial"/>
              </a:defRPr>
            </a:pPr>
            <a:r>
              <a:t>BP Ultimate</a:t>
            </a:r>
          </a:p>
        </p:txBody>
      </p:sp>
      <p:sp>
        <p:nvSpPr>
          <p:cNvPr id="19" name="TextBox 18"/>
          <p:cNvSpPr txBox="1"/>
          <p:nvPr/>
        </p:nvSpPr>
        <p:spPr>
          <a:xfrm>
            <a:off x="6675120" y="3520440"/>
            <a:ext cx="2286000" cy="457200"/>
          </a:xfrm>
          <a:prstGeom prst="rect">
            <a:avLst/>
          </a:prstGeom>
          <a:noFill/>
        </p:spPr>
        <p:txBody>
          <a:bodyPr wrap="square">
            <a:spAutoFit/>
          </a:bodyPr>
          <a:lstStyle/>
          <a:p>
            <a:pPr algn="ctr">
              <a:defRPr sz="1600" b="1">
                <a:solidFill>
                  <a:srgbClr val="1A6E4F"/>
                </a:solidFill>
                <a:latin typeface="Arial"/>
              </a:defRPr>
            </a:pPr>
            <a:r>
              <a:t>Pertamax Green 95 ★</a:t>
            </a:r>
          </a:p>
        </p:txBody>
      </p:sp>
      <p:sp>
        <p:nvSpPr>
          <p:cNvPr id="20" name="Rectangle 19"/>
          <p:cNvSpPr/>
          <p:nvPr/>
        </p:nvSpPr>
        <p:spPr>
          <a:xfrm>
            <a:off x="1051560" y="7498079"/>
            <a:ext cx="16194024"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7680960"/>
            <a:ext cx="16194024" cy="1371600"/>
          </a:xfrm>
          <a:prstGeom prst="rect">
            <a:avLst/>
          </a:prstGeom>
          <a:noFill/>
        </p:spPr>
        <p:txBody>
          <a:bodyPr wrap="square">
            <a:spAutoFit/>
          </a:bodyPr>
          <a:lstStyle/>
          <a:p>
            <a:pPr algn="l">
              <a:defRPr sz="1875" b="0">
                <a:solidFill>
                  <a:srgbClr val="16191C"/>
                </a:solidFill>
                <a:latin typeface="Arial"/>
              </a:defRPr>
            </a:pPr>
            <a:r>
              <a:t>For environmentally conscious Indonesian vehicle owners aged 25–44 with household income above 10M IDR, Pertamax Green 95 is the premium fuel that delivers certified RON 95 engine performance while reducing carbon emissions through 5% bioethanol from Indonesian sugarcane. Unlike conventional Pertamax or imported alternatives, Pertamax Green 95 offers independently verified environmental impact transparency combined with national agricultural community support.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804672"/>
            <a:ext cx="13716000" cy="365760"/>
          </a:xfrm>
          <a:prstGeom prst="rect">
            <a:avLst/>
          </a:prstGeom>
          <a:noFill/>
        </p:spPr>
        <p:txBody>
          <a:bodyPr wrap="square">
            <a:spAutoFit/>
          </a:bodyPr>
          <a:lstStyle/>
          <a:p>
            <a:pPr algn="l">
              <a:defRPr sz="1800" b="1">
                <a:solidFill>
                  <a:srgbClr val="1A6E4F"/>
                </a:solidFill>
                <a:latin typeface="Arial"/>
              </a:defRPr>
            </a:pPr>
            <a:r>
              <a:t>STRATEGY  ·  INTEGRATED 7P MARKETING MIX</a:t>
            </a:r>
          </a:p>
        </p:txBody>
      </p:sp>
      <p:sp>
        <p:nvSpPr>
          <p:cNvPr id="3" name="TextBox 2"/>
          <p:cNvSpPr txBox="1"/>
          <p:nvPr/>
        </p:nvSpPr>
        <p:spPr>
          <a:xfrm>
            <a:off x="1051560" y="1197864"/>
            <a:ext cx="13716000" cy="731520"/>
          </a:xfrm>
          <a:prstGeom prst="rect">
            <a:avLst/>
          </a:prstGeom>
          <a:noFill/>
        </p:spPr>
        <p:txBody>
          <a:bodyPr wrap="square">
            <a:spAutoFit/>
          </a:bodyPr>
          <a:lstStyle/>
          <a:p>
            <a:pPr algn="l">
              <a:defRPr sz="3900" b="1">
                <a:solidFill>
                  <a:srgbClr val="16191C"/>
                </a:solidFill>
                <a:latin typeface="Arial"/>
              </a:defRPr>
            </a:pPr>
            <a:r>
              <a:t>Seven Coordinated Programs Addressing Five Prioritized Problems</a:t>
            </a:r>
          </a:p>
        </p:txBody>
      </p:sp>
      <p:sp>
        <p:nvSpPr>
          <p:cNvPr id="4" name="Rectangle 3"/>
          <p:cNvSpPr/>
          <p:nvPr/>
        </p:nvSpPr>
        <p:spPr>
          <a:xfrm>
            <a:off x="1051560" y="1975104"/>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u_logo_cropped.png"/>
          <p:cNvPicPr>
            <a:picLocks noChangeAspect="1"/>
          </p:cNvPicPr>
          <p:nvPr/>
        </p:nvPicPr>
        <p:blipFill>
          <a:blip r:embed="rId2"/>
          <a:stretch>
            <a:fillRect/>
          </a:stretch>
        </p:blipFill>
        <p:spPr>
          <a:xfrm>
            <a:off x="15261336" y="822960"/>
            <a:ext cx="1984248" cy="731520"/>
          </a:xfrm>
          <a:prstGeom prst="rect">
            <a:avLst/>
          </a:prstGeom>
        </p:spPr>
      </p:pic>
      <p:sp>
        <p:nvSpPr>
          <p:cNvPr id="6" name="Rectangle 5"/>
          <p:cNvSpPr/>
          <p:nvPr/>
        </p:nvSpPr>
        <p:spPr>
          <a:xfrm>
            <a:off x="1051560" y="2286000"/>
            <a:ext cx="1645920" cy="411480"/>
          </a:xfrm>
          <a:prstGeom prst="rect">
            <a:avLst/>
          </a:prstGeom>
          <a:solidFill>
            <a:srgbClr val="1A6E4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331720"/>
            <a:ext cx="1554480" cy="320040"/>
          </a:xfrm>
          <a:prstGeom prst="rect">
            <a:avLst/>
          </a:prstGeom>
          <a:noFill/>
        </p:spPr>
        <p:txBody>
          <a:bodyPr wrap="square">
            <a:spAutoFit/>
          </a:bodyPr>
          <a:lstStyle/>
          <a:p>
            <a:pPr algn="ctr">
              <a:defRPr sz="1400" b="1">
                <a:solidFill>
                  <a:srgbClr val="FFFFFF"/>
                </a:solidFill>
                <a:latin typeface="Arial"/>
              </a:defRPr>
            </a:pPr>
            <a:r>
              <a:t>7P</a:t>
            </a:r>
          </a:p>
        </p:txBody>
      </p:sp>
      <p:sp>
        <p:nvSpPr>
          <p:cNvPr id="8" name="Rectangle 7"/>
          <p:cNvSpPr/>
          <p:nvPr/>
        </p:nvSpPr>
        <p:spPr>
          <a:xfrm>
            <a:off x="2697480" y="2286000"/>
            <a:ext cx="1371600" cy="411480"/>
          </a:xfrm>
          <a:prstGeom prst="rect">
            <a:avLst/>
          </a:prstGeom>
          <a:solidFill>
            <a:srgbClr val="1A6E4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2331720"/>
            <a:ext cx="1280160" cy="320040"/>
          </a:xfrm>
          <a:prstGeom prst="rect">
            <a:avLst/>
          </a:prstGeom>
          <a:noFill/>
        </p:spPr>
        <p:txBody>
          <a:bodyPr wrap="square">
            <a:spAutoFit/>
          </a:bodyPr>
          <a:lstStyle/>
          <a:p>
            <a:pPr algn="ctr">
              <a:defRPr sz="1400" b="1">
                <a:solidFill>
                  <a:srgbClr val="FFFFFF"/>
                </a:solidFill>
                <a:latin typeface="Arial"/>
              </a:defRPr>
            </a:pPr>
            <a:r>
              <a:t>Projection</a:t>
            </a:r>
          </a:p>
        </p:txBody>
      </p:sp>
      <p:sp>
        <p:nvSpPr>
          <p:cNvPr id="10" name="Rectangle 9"/>
          <p:cNvSpPr/>
          <p:nvPr/>
        </p:nvSpPr>
        <p:spPr>
          <a:xfrm>
            <a:off x="4069080" y="2286000"/>
            <a:ext cx="7772400" cy="411480"/>
          </a:xfrm>
          <a:prstGeom prst="rect">
            <a:avLst/>
          </a:prstGeom>
          <a:solidFill>
            <a:srgbClr val="1A6E4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2331720"/>
            <a:ext cx="7680960" cy="320040"/>
          </a:xfrm>
          <a:prstGeom prst="rect">
            <a:avLst/>
          </a:prstGeom>
          <a:noFill/>
        </p:spPr>
        <p:txBody>
          <a:bodyPr wrap="square">
            <a:spAutoFit/>
          </a:bodyPr>
          <a:lstStyle/>
          <a:p>
            <a:pPr algn="ctr">
              <a:defRPr sz="1400" b="1">
                <a:solidFill>
                  <a:srgbClr val="FFFFFF"/>
                </a:solidFill>
                <a:latin typeface="Arial"/>
              </a:defRPr>
            </a:pPr>
            <a:r>
              <a:t>Core Strategy</a:t>
            </a:r>
          </a:p>
        </p:txBody>
      </p:sp>
      <p:sp>
        <p:nvSpPr>
          <p:cNvPr id="12" name="Rectangle 11"/>
          <p:cNvSpPr/>
          <p:nvPr/>
        </p:nvSpPr>
        <p:spPr>
          <a:xfrm>
            <a:off x="11841480" y="2286000"/>
            <a:ext cx="914400" cy="411480"/>
          </a:xfrm>
          <a:prstGeom prst="rect">
            <a:avLst/>
          </a:prstGeom>
          <a:solidFill>
            <a:srgbClr val="1A6E4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0" y="2331720"/>
            <a:ext cx="822960" cy="320040"/>
          </a:xfrm>
          <a:prstGeom prst="rect">
            <a:avLst/>
          </a:prstGeom>
          <a:noFill/>
        </p:spPr>
        <p:txBody>
          <a:bodyPr wrap="square">
            <a:spAutoFit/>
          </a:bodyPr>
          <a:lstStyle/>
          <a:p>
            <a:pPr algn="ctr">
              <a:defRPr sz="1400" b="1">
                <a:solidFill>
                  <a:srgbClr val="FFFFFF"/>
                </a:solidFill>
                <a:latin typeface="Arial"/>
              </a:defRPr>
            </a:pPr>
            <a:r>
              <a:t>TOWS</a:t>
            </a:r>
          </a:p>
        </p:txBody>
      </p:sp>
      <p:sp>
        <p:nvSpPr>
          <p:cNvPr id="14" name="Rectangle 13"/>
          <p:cNvSpPr/>
          <p:nvPr/>
        </p:nvSpPr>
        <p:spPr>
          <a:xfrm>
            <a:off x="12755880" y="2286000"/>
            <a:ext cx="914400" cy="411480"/>
          </a:xfrm>
          <a:prstGeom prst="rect">
            <a:avLst/>
          </a:prstGeom>
          <a:solidFill>
            <a:srgbClr val="1A6E4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801600" y="2331720"/>
            <a:ext cx="822960" cy="320040"/>
          </a:xfrm>
          <a:prstGeom prst="rect">
            <a:avLst/>
          </a:prstGeom>
          <a:noFill/>
        </p:spPr>
        <p:txBody>
          <a:bodyPr wrap="square">
            <a:spAutoFit/>
          </a:bodyPr>
          <a:lstStyle/>
          <a:p>
            <a:pPr algn="ctr">
              <a:defRPr sz="1400" b="1">
                <a:solidFill>
                  <a:srgbClr val="FFFFFF"/>
                </a:solidFill>
                <a:latin typeface="Arial"/>
              </a:defRPr>
            </a:pPr>
            <a:r>
              <a:t>Priority</a:t>
            </a:r>
          </a:p>
        </p:txBody>
      </p:sp>
      <p:sp>
        <p:nvSpPr>
          <p:cNvPr id="16" name="Rectangle 15"/>
          <p:cNvSpPr/>
          <p:nvPr/>
        </p:nvSpPr>
        <p:spPr>
          <a:xfrm>
            <a:off x="1051560" y="2697480"/>
            <a:ext cx="164592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24712" y="2743200"/>
            <a:ext cx="1499616" cy="685800"/>
          </a:xfrm>
          <a:prstGeom prst="rect">
            <a:avLst/>
          </a:prstGeom>
          <a:noFill/>
        </p:spPr>
        <p:txBody>
          <a:bodyPr wrap="square">
            <a:spAutoFit/>
          </a:bodyPr>
          <a:lstStyle/>
          <a:p>
            <a:pPr algn="l">
              <a:defRPr sz="1400" b="1">
                <a:solidFill>
                  <a:srgbClr val="16191C"/>
                </a:solidFill>
                <a:latin typeface="Arial"/>
              </a:defRPr>
            </a:pPr>
            <a:r>
              <a:t>PRODUCT</a:t>
            </a:r>
          </a:p>
        </p:txBody>
      </p:sp>
      <p:sp>
        <p:nvSpPr>
          <p:cNvPr id="18" name="Rectangle 17"/>
          <p:cNvSpPr/>
          <p:nvPr/>
        </p:nvSpPr>
        <p:spPr>
          <a:xfrm>
            <a:off x="2697480" y="2697480"/>
            <a:ext cx="13716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70632" y="2743200"/>
            <a:ext cx="1225296" cy="685800"/>
          </a:xfrm>
          <a:prstGeom prst="rect">
            <a:avLst/>
          </a:prstGeom>
          <a:noFill/>
        </p:spPr>
        <p:txBody>
          <a:bodyPr wrap="square">
            <a:spAutoFit/>
          </a:bodyPr>
          <a:lstStyle/>
          <a:p>
            <a:pPr algn="ctr">
              <a:defRPr sz="1400" b="0">
                <a:solidFill>
                  <a:srgbClr val="1A6E4F"/>
                </a:solidFill>
                <a:latin typeface="Arial"/>
              </a:defRPr>
            </a:pPr>
            <a:r>
              <a:t>3.603 → 3.700+</a:t>
            </a:r>
          </a:p>
        </p:txBody>
      </p:sp>
      <p:sp>
        <p:nvSpPr>
          <p:cNvPr id="20" name="Rectangle 19"/>
          <p:cNvSpPr/>
          <p:nvPr/>
        </p:nvSpPr>
        <p:spPr>
          <a:xfrm>
            <a:off x="4069080" y="2697480"/>
            <a:ext cx="77724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42232" y="2743200"/>
            <a:ext cx="7626096" cy="685800"/>
          </a:xfrm>
          <a:prstGeom prst="rect">
            <a:avLst/>
          </a:prstGeom>
          <a:noFill/>
        </p:spPr>
        <p:txBody>
          <a:bodyPr wrap="square">
            <a:spAutoFit/>
          </a:bodyPr>
          <a:lstStyle/>
          <a:p>
            <a:pPr algn="l">
              <a:defRPr sz="1300" b="0">
                <a:solidFill>
                  <a:srgbClr val="16191C"/>
                </a:solidFill>
                <a:latin typeface="Arial"/>
              </a:defRPr>
            </a:pPr>
            <a:r>
              <a:t>Verified Bioethanol Transparency Program;</a:t>
            </a:r>
            <a:br/>
            <a:r>
              <a:t>Vehicle-segment communication;</a:t>
            </a:r>
            <a:br/>
            <a:r>
              <a:t>Pump labeling &amp; manufacturer co-endorsement</a:t>
            </a:r>
          </a:p>
        </p:txBody>
      </p:sp>
      <p:sp>
        <p:nvSpPr>
          <p:cNvPr id="22" name="Rectangle 21"/>
          <p:cNvSpPr/>
          <p:nvPr/>
        </p:nvSpPr>
        <p:spPr>
          <a:xfrm>
            <a:off x="11841480" y="2697480"/>
            <a:ext cx="9144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914632" y="2743200"/>
            <a:ext cx="768096" cy="685800"/>
          </a:xfrm>
          <a:prstGeom prst="rect">
            <a:avLst/>
          </a:prstGeom>
          <a:noFill/>
        </p:spPr>
        <p:txBody>
          <a:bodyPr wrap="square">
            <a:spAutoFit/>
          </a:bodyPr>
          <a:lstStyle/>
          <a:p>
            <a:pPr algn="ctr">
              <a:defRPr sz="1400" b="0">
                <a:solidFill>
                  <a:srgbClr val="CF8A4A"/>
                </a:solidFill>
                <a:latin typeface="Arial"/>
              </a:defRPr>
            </a:pPr>
            <a:r>
              <a:t>ST</a:t>
            </a:r>
          </a:p>
        </p:txBody>
      </p:sp>
      <p:sp>
        <p:nvSpPr>
          <p:cNvPr id="24" name="Rectangle 23"/>
          <p:cNvSpPr/>
          <p:nvPr/>
        </p:nvSpPr>
        <p:spPr>
          <a:xfrm>
            <a:off x="12755880" y="2697480"/>
            <a:ext cx="9144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29032" y="2743200"/>
            <a:ext cx="768096" cy="685800"/>
          </a:xfrm>
          <a:prstGeom prst="rect">
            <a:avLst/>
          </a:prstGeom>
          <a:noFill/>
        </p:spPr>
        <p:txBody>
          <a:bodyPr wrap="square">
            <a:spAutoFit/>
          </a:bodyPr>
          <a:lstStyle/>
          <a:p>
            <a:pPr algn="ctr">
              <a:defRPr sz="1400" b="0">
                <a:solidFill>
                  <a:srgbClr val="16191C"/>
                </a:solidFill>
                <a:latin typeface="Arial"/>
              </a:defRPr>
            </a:pPr>
            <a:r>
              <a:t>Medium</a:t>
            </a:r>
          </a:p>
        </p:txBody>
      </p:sp>
      <p:sp>
        <p:nvSpPr>
          <p:cNvPr id="26" name="Rectangle 25"/>
          <p:cNvSpPr/>
          <p:nvPr/>
        </p:nvSpPr>
        <p:spPr>
          <a:xfrm>
            <a:off x="1051560" y="3474720"/>
            <a:ext cx="164592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4712" y="3520440"/>
            <a:ext cx="1499616" cy="685800"/>
          </a:xfrm>
          <a:prstGeom prst="rect">
            <a:avLst/>
          </a:prstGeom>
          <a:noFill/>
        </p:spPr>
        <p:txBody>
          <a:bodyPr wrap="square">
            <a:spAutoFit/>
          </a:bodyPr>
          <a:lstStyle/>
          <a:p>
            <a:pPr algn="l">
              <a:defRPr sz="1400" b="1">
                <a:solidFill>
                  <a:srgbClr val="16191C"/>
                </a:solidFill>
                <a:latin typeface="Arial"/>
              </a:defRPr>
            </a:pPr>
            <a:r>
              <a:t>PRICE</a:t>
            </a:r>
          </a:p>
        </p:txBody>
      </p:sp>
      <p:sp>
        <p:nvSpPr>
          <p:cNvPr id="28" name="Rectangle 27"/>
          <p:cNvSpPr/>
          <p:nvPr/>
        </p:nvSpPr>
        <p:spPr>
          <a:xfrm>
            <a:off x="2697480" y="3474720"/>
            <a:ext cx="137160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0632" y="3520440"/>
            <a:ext cx="1225296" cy="685800"/>
          </a:xfrm>
          <a:prstGeom prst="rect">
            <a:avLst/>
          </a:prstGeom>
          <a:noFill/>
        </p:spPr>
        <p:txBody>
          <a:bodyPr wrap="square">
            <a:spAutoFit/>
          </a:bodyPr>
          <a:lstStyle/>
          <a:p>
            <a:pPr algn="ctr">
              <a:defRPr sz="1400" b="0">
                <a:solidFill>
                  <a:srgbClr val="1A6E4F"/>
                </a:solidFill>
                <a:latin typeface="Arial"/>
              </a:defRPr>
            </a:pPr>
            <a:r>
              <a:t>3.079 → 3.400+</a:t>
            </a:r>
          </a:p>
        </p:txBody>
      </p:sp>
      <p:sp>
        <p:nvSpPr>
          <p:cNvPr id="30" name="Rectangle 29"/>
          <p:cNvSpPr/>
          <p:nvPr/>
        </p:nvSpPr>
        <p:spPr>
          <a:xfrm>
            <a:off x="4069080" y="3474720"/>
            <a:ext cx="777240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42232" y="3520440"/>
            <a:ext cx="7626096" cy="685800"/>
          </a:xfrm>
          <a:prstGeom prst="rect">
            <a:avLst/>
          </a:prstGeom>
          <a:noFill/>
        </p:spPr>
        <p:txBody>
          <a:bodyPr wrap="square">
            <a:spAutoFit/>
          </a:bodyPr>
          <a:lstStyle/>
          <a:p>
            <a:pPr algn="l">
              <a:defRPr sz="1300" b="0">
                <a:solidFill>
                  <a:srgbClr val="16191C"/>
                </a:solidFill>
                <a:latin typeface="Arial"/>
              </a:defRPr>
            </a:pPr>
            <a:r>
              <a:t>Green Value Guarantee dashboard;</a:t>
            </a:r>
            <a:br/>
            <a:r>
              <a:t>First-fill 10–15% trial credit;</a:t>
            </a:r>
            <a:br/>
            <a:r>
              <a:t>Motorcycle fixed-price bundle pilot</a:t>
            </a:r>
          </a:p>
        </p:txBody>
      </p:sp>
      <p:sp>
        <p:nvSpPr>
          <p:cNvPr id="32" name="Rectangle 31"/>
          <p:cNvSpPr/>
          <p:nvPr/>
        </p:nvSpPr>
        <p:spPr>
          <a:xfrm>
            <a:off x="11841480" y="3474720"/>
            <a:ext cx="91440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914632" y="3520440"/>
            <a:ext cx="768096" cy="685800"/>
          </a:xfrm>
          <a:prstGeom prst="rect">
            <a:avLst/>
          </a:prstGeom>
          <a:noFill/>
        </p:spPr>
        <p:txBody>
          <a:bodyPr wrap="square">
            <a:spAutoFit/>
          </a:bodyPr>
          <a:lstStyle/>
          <a:p>
            <a:pPr algn="ctr">
              <a:defRPr sz="1400" b="0">
                <a:solidFill>
                  <a:srgbClr val="CF8A4A"/>
                </a:solidFill>
                <a:latin typeface="Arial"/>
              </a:defRPr>
            </a:pPr>
            <a:r>
              <a:t>ST</a:t>
            </a:r>
          </a:p>
        </p:txBody>
      </p:sp>
      <p:sp>
        <p:nvSpPr>
          <p:cNvPr id="34" name="Rectangle 33"/>
          <p:cNvSpPr/>
          <p:nvPr/>
        </p:nvSpPr>
        <p:spPr>
          <a:xfrm>
            <a:off x="12755880" y="3474720"/>
            <a:ext cx="91440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829032" y="3520440"/>
            <a:ext cx="768096" cy="685800"/>
          </a:xfrm>
          <a:prstGeom prst="rect">
            <a:avLst/>
          </a:prstGeom>
          <a:noFill/>
        </p:spPr>
        <p:txBody>
          <a:bodyPr wrap="square">
            <a:spAutoFit/>
          </a:bodyPr>
          <a:lstStyle/>
          <a:p>
            <a:pPr algn="ctr">
              <a:defRPr sz="1400" b="0">
                <a:solidFill>
                  <a:srgbClr val="16191C"/>
                </a:solidFill>
                <a:latin typeface="Arial"/>
              </a:defRPr>
            </a:pPr>
            <a:r>
              <a:t>High</a:t>
            </a:r>
          </a:p>
        </p:txBody>
      </p:sp>
      <p:sp>
        <p:nvSpPr>
          <p:cNvPr id="36" name="Rectangle 35"/>
          <p:cNvSpPr/>
          <p:nvPr/>
        </p:nvSpPr>
        <p:spPr>
          <a:xfrm>
            <a:off x="1051560" y="4251960"/>
            <a:ext cx="164592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4712" y="4297680"/>
            <a:ext cx="1499616" cy="685800"/>
          </a:xfrm>
          <a:prstGeom prst="rect">
            <a:avLst/>
          </a:prstGeom>
          <a:noFill/>
        </p:spPr>
        <p:txBody>
          <a:bodyPr wrap="square">
            <a:spAutoFit/>
          </a:bodyPr>
          <a:lstStyle/>
          <a:p>
            <a:pPr algn="l">
              <a:defRPr sz="1400" b="1">
                <a:solidFill>
                  <a:srgbClr val="16191C"/>
                </a:solidFill>
                <a:latin typeface="Arial"/>
              </a:defRPr>
            </a:pPr>
            <a:r>
              <a:t>PLACE</a:t>
            </a:r>
          </a:p>
        </p:txBody>
      </p:sp>
      <p:sp>
        <p:nvSpPr>
          <p:cNvPr id="38" name="Rectangle 37"/>
          <p:cNvSpPr/>
          <p:nvPr/>
        </p:nvSpPr>
        <p:spPr>
          <a:xfrm>
            <a:off x="2697480" y="4251960"/>
            <a:ext cx="13716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70632" y="4297680"/>
            <a:ext cx="1225296" cy="685800"/>
          </a:xfrm>
          <a:prstGeom prst="rect">
            <a:avLst/>
          </a:prstGeom>
          <a:noFill/>
        </p:spPr>
        <p:txBody>
          <a:bodyPr wrap="square">
            <a:spAutoFit/>
          </a:bodyPr>
          <a:lstStyle/>
          <a:p>
            <a:pPr algn="ctr">
              <a:defRPr sz="1400" b="0">
                <a:solidFill>
                  <a:srgbClr val="1A6E4F"/>
                </a:solidFill>
                <a:latin typeface="Arial"/>
              </a:defRPr>
            </a:pPr>
            <a:r>
              <a:t>3.356 → 3.600+</a:t>
            </a:r>
          </a:p>
        </p:txBody>
      </p:sp>
      <p:sp>
        <p:nvSpPr>
          <p:cNvPr id="40" name="Rectangle 39"/>
          <p:cNvSpPr/>
          <p:nvPr/>
        </p:nvSpPr>
        <p:spPr>
          <a:xfrm>
            <a:off x="4069080" y="4251960"/>
            <a:ext cx="77724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42232" y="4297680"/>
            <a:ext cx="7626096" cy="685800"/>
          </a:xfrm>
          <a:prstGeom prst="rect">
            <a:avLst/>
          </a:prstGeom>
          <a:noFill/>
        </p:spPr>
        <p:txBody>
          <a:bodyPr wrap="square">
            <a:spAutoFit/>
          </a:bodyPr>
          <a:lstStyle/>
          <a:p>
            <a:pPr algn="l">
              <a:defRPr sz="1300" b="0">
                <a:solidFill>
                  <a:srgbClr val="16191C"/>
                </a:solidFill>
                <a:latin typeface="Arial"/>
              </a:defRPr>
            </a:pPr>
            <a:r>
              <a:t>Java densification to ~1,950 stations (30%);</a:t>
            </a:r>
            <a:br/>
            <a:r>
              <a:t>Denpasar/Medan pilots; supply security;</a:t>
            </a:r>
            <a:br/>
            <a:r>
              <a:t>MyPertamina real-time locator</a:t>
            </a:r>
          </a:p>
        </p:txBody>
      </p:sp>
      <p:sp>
        <p:nvSpPr>
          <p:cNvPr id="42" name="Rectangle 41"/>
          <p:cNvSpPr/>
          <p:nvPr/>
        </p:nvSpPr>
        <p:spPr>
          <a:xfrm>
            <a:off x="11841480" y="4251960"/>
            <a:ext cx="9144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914632" y="4297680"/>
            <a:ext cx="768096" cy="685800"/>
          </a:xfrm>
          <a:prstGeom prst="rect">
            <a:avLst/>
          </a:prstGeom>
          <a:noFill/>
        </p:spPr>
        <p:txBody>
          <a:bodyPr wrap="square">
            <a:spAutoFit/>
          </a:bodyPr>
          <a:lstStyle/>
          <a:p>
            <a:pPr algn="ctr">
              <a:defRPr sz="1400" b="0">
                <a:solidFill>
                  <a:srgbClr val="C0492F"/>
                </a:solidFill>
                <a:latin typeface="Arial"/>
              </a:defRPr>
            </a:pPr>
            <a:r>
              <a:t>SO/WT</a:t>
            </a:r>
          </a:p>
        </p:txBody>
      </p:sp>
      <p:sp>
        <p:nvSpPr>
          <p:cNvPr id="44" name="Rectangle 43"/>
          <p:cNvSpPr/>
          <p:nvPr/>
        </p:nvSpPr>
        <p:spPr>
          <a:xfrm>
            <a:off x="12755880" y="4251960"/>
            <a:ext cx="9144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829032" y="4297680"/>
            <a:ext cx="768096" cy="685800"/>
          </a:xfrm>
          <a:prstGeom prst="rect">
            <a:avLst/>
          </a:prstGeom>
          <a:noFill/>
        </p:spPr>
        <p:txBody>
          <a:bodyPr wrap="square">
            <a:spAutoFit/>
          </a:bodyPr>
          <a:lstStyle/>
          <a:p>
            <a:pPr algn="ctr">
              <a:defRPr sz="1400" b="0">
                <a:solidFill>
                  <a:srgbClr val="16191C"/>
                </a:solidFill>
                <a:latin typeface="Arial"/>
              </a:defRPr>
            </a:pPr>
            <a:r>
              <a:t>High</a:t>
            </a:r>
          </a:p>
        </p:txBody>
      </p:sp>
      <p:sp>
        <p:nvSpPr>
          <p:cNvPr id="46" name="Rectangle 45"/>
          <p:cNvSpPr/>
          <p:nvPr/>
        </p:nvSpPr>
        <p:spPr>
          <a:xfrm>
            <a:off x="1051560" y="5029200"/>
            <a:ext cx="164592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24712" y="5074920"/>
            <a:ext cx="1499616" cy="685800"/>
          </a:xfrm>
          <a:prstGeom prst="rect">
            <a:avLst/>
          </a:prstGeom>
          <a:noFill/>
        </p:spPr>
        <p:txBody>
          <a:bodyPr wrap="square">
            <a:spAutoFit/>
          </a:bodyPr>
          <a:lstStyle/>
          <a:p>
            <a:pPr algn="l">
              <a:defRPr sz="1400" b="1">
                <a:solidFill>
                  <a:srgbClr val="16191C"/>
                </a:solidFill>
                <a:latin typeface="Arial"/>
              </a:defRPr>
            </a:pPr>
            <a:r>
              <a:t>PROMOTION</a:t>
            </a:r>
          </a:p>
        </p:txBody>
      </p:sp>
      <p:sp>
        <p:nvSpPr>
          <p:cNvPr id="48" name="Rectangle 47"/>
          <p:cNvSpPr/>
          <p:nvPr/>
        </p:nvSpPr>
        <p:spPr>
          <a:xfrm>
            <a:off x="2697480" y="5029200"/>
            <a:ext cx="137160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70632" y="5074920"/>
            <a:ext cx="1225296" cy="685800"/>
          </a:xfrm>
          <a:prstGeom prst="rect">
            <a:avLst/>
          </a:prstGeom>
          <a:noFill/>
        </p:spPr>
        <p:txBody>
          <a:bodyPr wrap="square">
            <a:spAutoFit/>
          </a:bodyPr>
          <a:lstStyle/>
          <a:p>
            <a:pPr algn="ctr">
              <a:defRPr sz="1400" b="0">
                <a:solidFill>
                  <a:srgbClr val="1A6E4F"/>
                </a:solidFill>
                <a:latin typeface="Arial"/>
              </a:defRPr>
            </a:pPr>
            <a:r>
              <a:t>2.848 → 3.200+</a:t>
            </a:r>
          </a:p>
        </p:txBody>
      </p:sp>
      <p:sp>
        <p:nvSpPr>
          <p:cNvPr id="50" name="Rectangle 49"/>
          <p:cNvSpPr/>
          <p:nvPr/>
        </p:nvSpPr>
        <p:spPr>
          <a:xfrm>
            <a:off x="4069080" y="5029200"/>
            <a:ext cx="777240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142232" y="5074920"/>
            <a:ext cx="7626096" cy="685800"/>
          </a:xfrm>
          <a:prstGeom prst="rect">
            <a:avLst/>
          </a:prstGeom>
          <a:noFill/>
        </p:spPr>
        <p:txBody>
          <a:bodyPr wrap="square">
            <a:spAutoFit/>
          </a:bodyPr>
          <a:lstStyle/>
          <a:p>
            <a:pPr algn="l">
              <a:defRPr sz="1300" b="0">
                <a:solidFill>
                  <a:srgbClr val="16191C"/>
                </a:solidFill>
                <a:latin typeface="Arial"/>
              </a:defRPr>
            </a:pPr>
            <a:r>
              <a:t>Always-on digital (IG/YT/TT);</a:t>
            </a:r>
            <a:br/>
            <a:r>
              <a:t>20–30 automotive ambassadors;</a:t>
            </a:r>
            <a:br/>
            <a:r>
              <a:t>500 awareness panels at non-stocking stations</a:t>
            </a:r>
          </a:p>
        </p:txBody>
      </p:sp>
      <p:sp>
        <p:nvSpPr>
          <p:cNvPr id="52" name="Rectangle 51"/>
          <p:cNvSpPr/>
          <p:nvPr/>
        </p:nvSpPr>
        <p:spPr>
          <a:xfrm>
            <a:off x="11841480" y="5029200"/>
            <a:ext cx="91440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914632" y="5074920"/>
            <a:ext cx="768096" cy="685800"/>
          </a:xfrm>
          <a:prstGeom prst="rect">
            <a:avLst/>
          </a:prstGeom>
          <a:noFill/>
        </p:spPr>
        <p:txBody>
          <a:bodyPr wrap="square">
            <a:spAutoFit/>
          </a:bodyPr>
          <a:lstStyle/>
          <a:p>
            <a:pPr algn="ctr">
              <a:defRPr sz="1400" b="0">
                <a:solidFill>
                  <a:srgbClr val="1A6E4F"/>
                </a:solidFill>
                <a:latin typeface="Arial"/>
              </a:defRPr>
            </a:pPr>
            <a:r>
              <a:t>WO</a:t>
            </a:r>
          </a:p>
        </p:txBody>
      </p:sp>
      <p:sp>
        <p:nvSpPr>
          <p:cNvPr id="54" name="Rectangle 53"/>
          <p:cNvSpPr/>
          <p:nvPr/>
        </p:nvSpPr>
        <p:spPr>
          <a:xfrm>
            <a:off x="12755880" y="5029200"/>
            <a:ext cx="91440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2829032" y="5074920"/>
            <a:ext cx="768096" cy="685800"/>
          </a:xfrm>
          <a:prstGeom prst="rect">
            <a:avLst/>
          </a:prstGeom>
          <a:noFill/>
        </p:spPr>
        <p:txBody>
          <a:bodyPr wrap="square">
            <a:spAutoFit/>
          </a:bodyPr>
          <a:lstStyle/>
          <a:p>
            <a:pPr algn="ctr">
              <a:defRPr sz="1400" b="0">
                <a:solidFill>
                  <a:srgbClr val="C0492F"/>
                </a:solidFill>
                <a:latin typeface="Arial"/>
              </a:defRPr>
            </a:pPr>
            <a:r>
              <a:t>Critical</a:t>
            </a:r>
          </a:p>
        </p:txBody>
      </p:sp>
      <p:sp>
        <p:nvSpPr>
          <p:cNvPr id="56" name="Rectangle 55"/>
          <p:cNvSpPr/>
          <p:nvPr/>
        </p:nvSpPr>
        <p:spPr>
          <a:xfrm>
            <a:off x="1051560" y="5806440"/>
            <a:ext cx="164592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24712" y="5852159"/>
            <a:ext cx="1499616" cy="685800"/>
          </a:xfrm>
          <a:prstGeom prst="rect">
            <a:avLst/>
          </a:prstGeom>
          <a:noFill/>
        </p:spPr>
        <p:txBody>
          <a:bodyPr wrap="square">
            <a:spAutoFit/>
          </a:bodyPr>
          <a:lstStyle/>
          <a:p>
            <a:pPr algn="l">
              <a:defRPr sz="1400" b="1">
                <a:solidFill>
                  <a:srgbClr val="16191C"/>
                </a:solidFill>
                <a:latin typeface="Arial"/>
              </a:defRPr>
            </a:pPr>
            <a:r>
              <a:t>PEOPLE</a:t>
            </a:r>
          </a:p>
        </p:txBody>
      </p:sp>
      <p:sp>
        <p:nvSpPr>
          <p:cNvPr id="58" name="Rectangle 57"/>
          <p:cNvSpPr/>
          <p:nvPr/>
        </p:nvSpPr>
        <p:spPr>
          <a:xfrm>
            <a:off x="2697480" y="5806440"/>
            <a:ext cx="13716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70632" y="5852159"/>
            <a:ext cx="1225296" cy="685800"/>
          </a:xfrm>
          <a:prstGeom prst="rect">
            <a:avLst/>
          </a:prstGeom>
          <a:noFill/>
        </p:spPr>
        <p:txBody>
          <a:bodyPr wrap="square">
            <a:spAutoFit/>
          </a:bodyPr>
          <a:lstStyle/>
          <a:p>
            <a:pPr algn="ctr">
              <a:defRPr sz="1400" b="0">
                <a:solidFill>
                  <a:srgbClr val="1A6E4F"/>
                </a:solidFill>
                <a:latin typeface="Arial"/>
              </a:defRPr>
            </a:pPr>
            <a:r>
              <a:t>3.762 → 3.900+</a:t>
            </a:r>
          </a:p>
        </p:txBody>
      </p:sp>
      <p:sp>
        <p:nvSpPr>
          <p:cNvPr id="60" name="Rectangle 59"/>
          <p:cNvSpPr/>
          <p:nvPr/>
        </p:nvSpPr>
        <p:spPr>
          <a:xfrm>
            <a:off x="4069080" y="5806440"/>
            <a:ext cx="77724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142232" y="5852159"/>
            <a:ext cx="7626096" cy="685800"/>
          </a:xfrm>
          <a:prstGeom prst="rect">
            <a:avLst/>
          </a:prstGeom>
          <a:noFill/>
        </p:spPr>
        <p:txBody>
          <a:bodyPr wrap="square">
            <a:spAutoFit/>
          </a:bodyPr>
          <a:lstStyle/>
          <a:p>
            <a:pPr algn="l">
              <a:defRPr sz="1300" b="0">
                <a:solidFill>
                  <a:srgbClr val="16191C"/>
                </a:solidFill>
                <a:latin typeface="Arial"/>
              </a:defRPr>
            </a:pPr>
            <a:r>
              <a:t>Ambassador Certification (4-module);</a:t>
            </a:r>
            <a:br/>
            <a:r>
              <a:t>Sales-linked incentive &amp; badge;</a:t>
            </a:r>
            <a:br/>
            <a:r>
              <a:t>Technical escalation protocol</a:t>
            </a:r>
          </a:p>
        </p:txBody>
      </p:sp>
      <p:sp>
        <p:nvSpPr>
          <p:cNvPr id="62" name="Rectangle 61"/>
          <p:cNvSpPr/>
          <p:nvPr/>
        </p:nvSpPr>
        <p:spPr>
          <a:xfrm>
            <a:off x="11841480" y="5806440"/>
            <a:ext cx="9144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914632" y="5852159"/>
            <a:ext cx="768096" cy="685800"/>
          </a:xfrm>
          <a:prstGeom prst="rect">
            <a:avLst/>
          </a:prstGeom>
          <a:noFill/>
        </p:spPr>
        <p:txBody>
          <a:bodyPr wrap="square">
            <a:spAutoFit/>
          </a:bodyPr>
          <a:lstStyle/>
          <a:p>
            <a:pPr algn="ctr">
              <a:defRPr sz="1400" b="0">
                <a:solidFill>
                  <a:srgbClr val="1A6E4F"/>
                </a:solidFill>
                <a:latin typeface="Arial"/>
              </a:defRPr>
            </a:pPr>
            <a:r>
              <a:t>WO</a:t>
            </a:r>
          </a:p>
        </p:txBody>
      </p:sp>
      <p:sp>
        <p:nvSpPr>
          <p:cNvPr id="64" name="Rectangle 63"/>
          <p:cNvSpPr/>
          <p:nvPr/>
        </p:nvSpPr>
        <p:spPr>
          <a:xfrm>
            <a:off x="12755880" y="5806440"/>
            <a:ext cx="9144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2829032" y="5852159"/>
            <a:ext cx="768096" cy="685800"/>
          </a:xfrm>
          <a:prstGeom prst="rect">
            <a:avLst/>
          </a:prstGeom>
          <a:noFill/>
        </p:spPr>
        <p:txBody>
          <a:bodyPr wrap="square">
            <a:spAutoFit/>
          </a:bodyPr>
          <a:lstStyle/>
          <a:p>
            <a:pPr algn="ctr">
              <a:defRPr sz="1400" b="0">
                <a:solidFill>
                  <a:srgbClr val="16191C"/>
                </a:solidFill>
                <a:latin typeface="Arial"/>
              </a:defRPr>
            </a:pPr>
            <a:r>
              <a:t>Medium</a:t>
            </a:r>
          </a:p>
        </p:txBody>
      </p:sp>
      <p:sp>
        <p:nvSpPr>
          <p:cNvPr id="66" name="Rectangle 65"/>
          <p:cNvSpPr/>
          <p:nvPr/>
        </p:nvSpPr>
        <p:spPr>
          <a:xfrm>
            <a:off x="1051560" y="6583680"/>
            <a:ext cx="164592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24712" y="6629400"/>
            <a:ext cx="1499616" cy="685800"/>
          </a:xfrm>
          <a:prstGeom prst="rect">
            <a:avLst/>
          </a:prstGeom>
          <a:noFill/>
        </p:spPr>
        <p:txBody>
          <a:bodyPr wrap="square">
            <a:spAutoFit/>
          </a:bodyPr>
          <a:lstStyle/>
          <a:p>
            <a:pPr algn="l">
              <a:defRPr sz="1400" b="1">
                <a:solidFill>
                  <a:srgbClr val="16191C"/>
                </a:solidFill>
                <a:latin typeface="Arial"/>
              </a:defRPr>
            </a:pPr>
            <a:r>
              <a:t>PROCESS</a:t>
            </a:r>
          </a:p>
        </p:txBody>
      </p:sp>
      <p:sp>
        <p:nvSpPr>
          <p:cNvPr id="68" name="Rectangle 67"/>
          <p:cNvSpPr/>
          <p:nvPr/>
        </p:nvSpPr>
        <p:spPr>
          <a:xfrm>
            <a:off x="2697480" y="6583680"/>
            <a:ext cx="137160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770632" y="6629400"/>
            <a:ext cx="1225296" cy="685800"/>
          </a:xfrm>
          <a:prstGeom prst="rect">
            <a:avLst/>
          </a:prstGeom>
          <a:noFill/>
        </p:spPr>
        <p:txBody>
          <a:bodyPr wrap="square">
            <a:spAutoFit/>
          </a:bodyPr>
          <a:lstStyle/>
          <a:p>
            <a:pPr algn="ctr">
              <a:defRPr sz="1400" b="0">
                <a:solidFill>
                  <a:srgbClr val="1A6E4F"/>
                </a:solidFill>
                <a:latin typeface="Arial"/>
              </a:defRPr>
            </a:pPr>
            <a:r>
              <a:t>3.869 → 4.000+</a:t>
            </a:r>
          </a:p>
        </p:txBody>
      </p:sp>
      <p:sp>
        <p:nvSpPr>
          <p:cNvPr id="70" name="Rectangle 69"/>
          <p:cNvSpPr/>
          <p:nvPr/>
        </p:nvSpPr>
        <p:spPr>
          <a:xfrm>
            <a:off x="4069080" y="6583680"/>
            <a:ext cx="777240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142232" y="6629400"/>
            <a:ext cx="7626096" cy="685800"/>
          </a:xfrm>
          <a:prstGeom prst="rect">
            <a:avLst/>
          </a:prstGeom>
          <a:noFill/>
        </p:spPr>
        <p:txBody>
          <a:bodyPr wrap="square">
            <a:spAutoFit/>
          </a:bodyPr>
          <a:lstStyle/>
          <a:p>
            <a:pPr algn="l">
              <a:defRPr sz="1300" b="0">
                <a:solidFill>
                  <a:srgbClr val="16191C"/>
                </a:solidFill>
                <a:latin typeface="Arial"/>
              </a:defRPr>
            </a:pPr>
            <a:r>
              <a:t>Proximity push alerts;</a:t>
            </a:r>
            <a:br/>
            <a:r>
              <a:t>Green Impact Receipt (CO₂/farmer link);</a:t>
            </a:r>
            <a:br/>
            <a:r>
              <a:t>Gamification &amp; pump-screen animation</a:t>
            </a:r>
          </a:p>
        </p:txBody>
      </p:sp>
      <p:sp>
        <p:nvSpPr>
          <p:cNvPr id="72" name="Rectangle 71"/>
          <p:cNvSpPr/>
          <p:nvPr/>
        </p:nvSpPr>
        <p:spPr>
          <a:xfrm>
            <a:off x="11841480" y="6583680"/>
            <a:ext cx="91440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914632" y="6629400"/>
            <a:ext cx="768096" cy="685800"/>
          </a:xfrm>
          <a:prstGeom prst="rect">
            <a:avLst/>
          </a:prstGeom>
          <a:noFill/>
        </p:spPr>
        <p:txBody>
          <a:bodyPr wrap="square">
            <a:spAutoFit/>
          </a:bodyPr>
          <a:lstStyle/>
          <a:p>
            <a:pPr algn="ctr">
              <a:defRPr sz="1400" b="0">
                <a:solidFill>
                  <a:srgbClr val="C0492F"/>
                </a:solidFill>
                <a:latin typeface="Arial"/>
              </a:defRPr>
            </a:pPr>
            <a:r>
              <a:t>WO/WT</a:t>
            </a:r>
          </a:p>
        </p:txBody>
      </p:sp>
      <p:sp>
        <p:nvSpPr>
          <p:cNvPr id="74" name="Rectangle 73"/>
          <p:cNvSpPr/>
          <p:nvPr/>
        </p:nvSpPr>
        <p:spPr>
          <a:xfrm>
            <a:off x="12755880" y="6583680"/>
            <a:ext cx="914400" cy="77724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2829032" y="6629400"/>
            <a:ext cx="768096" cy="685800"/>
          </a:xfrm>
          <a:prstGeom prst="rect">
            <a:avLst/>
          </a:prstGeom>
          <a:noFill/>
        </p:spPr>
        <p:txBody>
          <a:bodyPr wrap="square">
            <a:spAutoFit/>
          </a:bodyPr>
          <a:lstStyle/>
          <a:p>
            <a:pPr algn="ctr">
              <a:defRPr sz="1400" b="0">
                <a:solidFill>
                  <a:srgbClr val="16191C"/>
                </a:solidFill>
                <a:latin typeface="Arial"/>
              </a:defRPr>
            </a:pPr>
            <a:r>
              <a:t>Med-Low</a:t>
            </a:r>
          </a:p>
        </p:txBody>
      </p:sp>
      <p:sp>
        <p:nvSpPr>
          <p:cNvPr id="76" name="Rectangle 75"/>
          <p:cNvSpPr/>
          <p:nvPr/>
        </p:nvSpPr>
        <p:spPr>
          <a:xfrm>
            <a:off x="1051560" y="7360920"/>
            <a:ext cx="164592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24712" y="7406640"/>
            <a:ext cx="1499616" cy="685800"/>
          </a:xfrm>
          <a:prstGeom prst="rect">
            <a:avLst/>
          </a:prstGeom>
          <a:noFill/>
        </p:spPr>
        <p:txBody>
          <a:bodyPr wrap="square">
            <a:spAutoFit/>
          </a:bodyPr>
          <a:lstStyle/>
          <a:p>
            <a:pPr algn="l">
              <a:defRPr sz="1400" b="1">
                <a:solidFill>
                  <a:srgbClr val="16191C"/>
                </a:solidFill>
                <a:latin typeface="Arial"/>
              </a:defRPr>
            </a:pPr>
            <a:r>
              <a:t>PHYSICAL</a:t>
            </a:r>
            <a:br/>
            <a:r>
              <a:t>EVIDENCE</a:t>
            </a:r>
          </a:p>
        </p:txBody>
      </p:sp>
      <p:sp>
        <p:nvSpPr>
          <p:cNvPr id="78" name="Rectangle 77"/>
          <p:cNvSpPr/>
          <p:nvPr/>
        </p:nvSpPr>
        <p:spPr>
          <a:xfrm>
            <a:off x="2697480" y="7360920"/>
            <a:ext cx="13716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770632" y="7406640"/>
            <a:ext cx="1225296" cy="685800"/>
          </a:xfrm>
          <a:prstGeom prst="rect">
            <a:avLst/>
          </a:prstGeom>
          <a:noFill/>
        </p:spPr>
        <p:txBody>
          <a:bodyPr wrap="square">
            <a:spAutoFit/>
          </a:bodyPr>
          <a:lstStyle/>
          <a:p>
            <a:pPr algn="ctr">
              <a:defRPr sz="1400" b="0">
                <a:solidFill>
                  <a:srgbClr val="1A6E4F"/>
                </a:solidFill>
                <a:latin typeface="Arial"/>
              </a:defRPr>
            </a:pPr>
            <a:r>
              <a:t>3.851 → 3.800+</a:t>
            </a:r>
          </a:p>
        </p:txBody>
      </p:sp>
      <p:sp>
        <p:nvSpPr>
          <p:cNvPr id="80" name="Rectangle 79"/>
          <p:cNvSpPr/>
          <p:nvPr/>
        </p:nvSpPr>
        <p:spPr>
          <a:xfrm>
            <a:off x="4069080" y="7360920"/>
            <a:ext cx="77724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142232" y="7406640"/>
            <a:ext cx="7626096" cy="685800"/>
          </a:xfrm>
          <a:prstGeom prst="rect">
            <a:avLst/>
          </a:prstGeom>
          <a:noFill/>
        </p:spPr>
        <p:txBody>
          <a:bodyPr wrap="square">
            <a:spAutoFit/>
          </a:bodyPr>
          <a:lstStyle/>
          <a:p>
            <a:pPr algn="l">
              <a:defRPr sz="1300" b="0">
                <a:solidFill>
                  <a:srgbClr val="16191C"/>
                </a:solidFill>
                <a:latin typeface="Arial"/>
              </a:defRPr>
            </a:pPr>
            <a:r>
              <a:t>Green Zone 5-element package;</a:t>
            </a:r>
            <a:br/>
            <a:r>
              <a:t>Monthly Green Impact Poster;</a:t>
            </a:r>
            <a:br/>
            <a:r>
              <a:t>Shared visual ID on awareness panels</a:t>
            </a:r>
          </a:p>
        </p:txBody>
      </p:sp>
      <p:sp>
        <p:nvSpPr>
          <p:cNvPr id="82" name="Rectangle 81"/>
          <p:cNvSpPr/>
          <p:nvPr/>
        </p:nvSpPr>
        <p:spPr>
          <a:xfrm>
            <a:off x="11841480" y="7360920"/>
            <a:ext cx="9144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1914632" y="7406640"/>
            <a:ext cx="768096" cy="685800"/>
          </a:xfrm>
          <a:prstGeom prst="rect">
            <a:avLst/>
          </a:prstGeom>
          <a:noFill/>
        </p:spPr>
        <p:txBody>
          <a:bodyPr wrap="square">
            <a:spAutoFit/>
          </a:bodyPr>
          <a:lstStyle/>
          <a:p>
            <a:pPr algn="ctr">
              <a:defRPr sz="1400" b="0">
                <a:solidFill>
                  <a:srgbClr val="1A6E4F"/>
                </a:solidFill>
                <a:latin typeface="Arial"/>
              </a:defRPr>
            </a:pPr>
            <a:r>
              <a:t>SO</a:t>
            </a:r>
          </a:p>
        </p:txBody>
      </p:sp>
      <p:sp>
        <p:nvSpPr>
          <p:cNvPr id="84" name="Rectangle 83"/>
          <p:cNvSpPr/>
          <p:nvPr/>
        </p:nvSpPr>
        <p:spPr>
          <a:xfrm>
            <a:off x="12755880" y="7360920"/>
            <a:ext cx="914400" cy="777240"/>
          </a:xfrm>
          <a:prstGeom prst="rect">
            <a:avLst/>
          </a:prstGeom>
          <a:solidFill>
            <a:srgbClr val="BFE0D2"/>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2829032" y="7406640"/>
            <a:ext cx="768096" cy="685800"/>
          </a:xfrm>
          <a:prstGeom prst="rect">
            <a:avLst/>
          </a:prstGeom>
          <a:noFill/>
        </p:spPr>
        <p:txBody>
          <a:bodyPr wrap="square">
            <a:spAutoFit/>
          </a:bodyPr>
          <a:lstStyle/>
          <a:p>
            <a:pPr algn="ctr">
              <a:defRPr sz="1400" b="0">
                <a:solidFill>
                  <a:srgbClr val="16191C"/>
                </a:solidFill>
                <a:latin typeface="Arial"/>
              </a:defRPr>
            </a:pPr>
            <a:r>
              <a:t>Medium</a:t>
            </a:r>
          </a:p>
        </p:txBody>
      </p:sp>
      <p:sp>
        <p:nvSpPr>
          <p:cNvPr id="86" name="Rectangle 85"/>
          <p:cNvSpPr/>
          <p:nvPr/>
        </p:nvSpPr>
        <p:spPr>
          <a:xfrm>
            <a:off x="1051560" y="8412480"/>
            <a:ext cx="16194024"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51560" y="8595360"/>
            <a:ext cx="16194024" cy="914400"/>
          </a:xfrm>
          <a:prstGeom prst="rect">
            <a:avLst/>
          </a:prstGeom>
          <a:noFill/>
        </p:spPr>
        <p:txBody>
          <a:bodyPr wrap="square">
            <a:spAutoFit/>
          </a:bodyPr>
          <a:lstStyle/>
          <a:p>
            <a:pPr algn="l">
              <a:defRPr sz="1600" b="0">
                <a:solidFill>
                  <a:srgbClr val="16191C"/>
                </a:solidFill>
                <a:latin typeface="Arial"/>
              </a:defRPr>
            </a:pPr>
            <a:r>
              <a:t>▸ Promotion is the foundational prerequisite — without awareness, Place/Product/Price improvements cannot generate trial among the 44.4% unaware/untried.</a:t>
            </a:r>
            <a:br/>
            <a:r>
              <a:t>▸ Place expansion constrained by bioethanol supply (SWOT T3) — supply &amp; distribution commitments must precede or accompany promotional scale-up.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804672"/>
            <a:ext cx="13716000" cy="365760"/>
          </a:xfrm>
          <a:prstGeom prst="rect">
            <a:avLst/>
          </a:prstGeom>
          <a:noFill/>
        </p:spPr>
        <p:txBody>
          <a:bodyPr wrap="square">
            <a:spAutoFit/>
          </a:bodyPr>
          <a:lstStyle/>
          <a:p>
            <a:pPr algn="l">
              <a:defRPr sz="1800" b="1">
                <a:solidFill>
                  <a:srgbClr val="1A6E4F"/>
                </a:solidFill>
                <a:latin typeface="Arial"/>
              </a:defRPr>
            </a:pPr>
            <a:r>
              <a:t>STRATEGY  ·  PRIORITY INTERVENTIONS: PROMOTION &amp; PLACE</a:t>
            </a:r>
          </a:p>
        </p:txBody>
      </p:sp>
      <p:sp>
        <p:nvSpPr>
          <p:cNvPr id="3" name="TextBox 2"/>
          <p:cNvSpPr txBox="1"/>
          <p:nvPr/>
        </p:nvSpPr>
        <p:spPr>
          <a:xfrm>
            <a:off x="1051560" y="1197864"/>
            <a:ext cx="13716000" cy="731520"/>
          </a:xfrm>
          <a:prstGeom prst="rect">
            <a:avLst/>
          </a:prstGeom>
          <a:noFill/>
        </p:spPr>
        <p:txBody>
          <a:bodyPr wrap="square">
            <a:spAutoFit/>
          </a:bodyPr>
          <a:lstStyle/>
          <a:p>
            <a:pPr algn="l">
              <a:defRPr sz="3900" b="1">
                <a:solidFill>
                  <a:srgbClr val="16191C"/>
                </a:solidFill>
                <a:latin typeface="Arial"/>
              </a:defRPr>
            </a:pPr>
            <a:r>
              <a:t>Digital-First Promotion + Data-Driven Distribution Densification</a:t>
            </a:r>
          </a:p>
        </p:txBody>
      </p:sp>
      <p:sp>
        <p:nvSpPr>
          <p:cNvPr id="4" name="Rectangle 3"/>
          <p:cNvSpPr/>
          <p:nvPr/>
        </p:nvSpPr>
        <p:spPr>
          <a:xfrm>
            <a:off x="1051560" y="1975104"/>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u_logo_cropped.png"/>
          <p:cNvPicPr>
            <a:picLocks noChangeAspect="1"/>
          </p:cNvPicPr>
          <p:nvPr/>
        </p:nvPicPr>
        <p:blipFill>
          <a:blip r:embed="rId2"/>
          <a:stretch>
            <a:fillRect/>
          </a:stretch>
        </p:blipFill>
        <p:spPr>
          <a:xfrm>
            <a:off x="15261336" y="822960"/>
            <a:ext cx="1984248" cy="731520"/>
          </a:xfrm>
          <a:prstGeom prst="rect">
            <a:avLst/>
          </a:prstGeom>
        </p:spPr>
      </p:pic>
      <p:sp>
        <p:nvSpPr>
          <p:cNvPr id="6" name="Rectangle 5"/>
          <p:cNvSpPr/>
          <p:nvPr/>
        </p:nvSpPr>
        <p:spPr>
          <a:xfrm>
            <a:off x="1051560" y="2286000"/>
            <a:ext cx="7772400"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377440"/>
            <a:ext cx="7772400" cy="365760"/>
          </a:xfrm>
          <a:prstGeom prst="rect">
            <a:avLst/>
          </a:prstGeom>
          <a:noFill/>
        </p:spPr>
        <p:txBody>
          <a:bodyPr wrap="square">
            <a:spAutoFit/>
          </a:bodyPr>
          <a:lstStyle/>
          <a:p>
            <a:pPr algn="l">
              <a:defRPr sz="2200" b="1">
                <a:solidFill>
                  <a:srgbClr val="1A6E4F"/>
                </a:solidFill>
                <a:latin typeface="Arial"/>
              </a:defRPr>
            </a:pPr>
            <a:r>
              <a:t>PROMOTION (Critical Priority)</a:t>
            </a:r>
          </a:p>
        </p:txBody>
      </p:sp>
      <p:sp>
        <p:nvSpPr>
          <p:cNvPr id="8" name="TextBox 7"/>
          <p:cNvSpPr txBox="1"/>
          <p:nvPr/>
        </p:nvSpPr>
        <p:spPr>
          <a:xfrm>
            <a:off x="1051560" y="2834640"/>
            <a:ext cx="365760" cy="365760"/>
          </a:xfrm>
          <a:prstGeom prst="rect">
            <a:avLst/>
          </a:prstGeom>
          <a:noFill/>
        </p:spPr>
        <p:txBody>
          <a:bodyPr wrap="square">
            <a:spAutoFit/>
          </a:bodyPr>
          <a:lstStyle/>
          <a:p>
            <a:pPr algn="l">
              <a:defRPr sz="2400" b="1">
                <a:solidFill>
                  <a:srgbClr val="1A6E4F"/>
                </a:solidFill>
                <a:latin typeface="Arial"/>
              </a:defRPr>
            </a:pPr>
            <a:r>
              <a:t>1</a:t>
            </a:r>
          </a:p>
        </p:txBody>
      </p:sp>
      <p:sp>
        <p:nvSpPr>
          <p:cNvPr id="9" name="TextBox 8"/>
          <p:cNvSpPr txBox="1"/>
          <p:nvPr/>
        </p:nvSpPr>
        <p:spPr>
          <a:xfrm>
            <a:off x="1463040" y="2834640"/>
            <a:ext cx="7315200" cy="365760"/>
          </a:xfrm>
          <a:prstGeom prst="rect">
            <a:avLst/>
          </a:prstGeom>
          <a:noFill/>
        </p:spPr>
        <p:txBody>
          <a:bodyPr wrap="square">
            <a:spAutoFit/>
          </a:bodyPr>
          <a:lstStyle/>
          <a:p>
            <a:pPr algn="l">
              <a:defRPr sz="1800" b="1">
                <a:solidFill>
                  <a:srgbClr val="16191C"/>
                </a:solidFill>
                <a:latin typeface="Arial"/>
              </a:defRPr>
            </a:pPr>
            <a:r>
              <a:t>Always-On Digital Content Program</a:t>
            </a:r>
          </a:p>
        </p:txBody>
      </p:sp>
      <p:sp>
        <p:nvSpPr>
          <p:cNvPr id="10" name="TextBox 9"/>
          <p:cNvSpPr txBox="1"/>
          <p:nvPr/>
        </p:nvSpPr>
        <p:spPr>
          <a:xfrm>
            <a:off x="1463040" y="3200400"/>
            <a:ext cx="7315200" cy="1280160"/>
          </a:xfrm>
          <a:prstGeom prst="rect">
            <a:avLst/>
          </a:prstGeom>
          <a:noFill/>
        </p:spPr>
        <p:txBody>
          <a:bodyPr wrap="square">
            <a:spAutoFit/>
          </a:bodyPr>
          <a:lstStyle/>
          <a:p>
            <a:pPr algn="l">
              <a:defRPr sz="1500" b="0">
                <a:solidFill>
                  <a:srgbClr val="4A4F54"/>
                </a:solidFill>
                <a:latin typeface="Arial"/>
              </a:defRPr>
            </a:pPr>
            <a:r>
              <a:t>Monthly content on Instagram, YouTube, TikTok: Green Impact Series, Mojokerto Farmer Series, Engine Truth Series. A/B tested, 3-month production sprint.</a:t>
            </a:r>
          </a:p>
        </p:txBody>
      </p:sp>
      <p:sp>
        <p:nvSpPr>
          <p:cNvPr id="11" name="TextBox 10"/>
          <p:cNvSpPr txBox="1"/>
          <p:nvPr/>
        </p:nvSpPr>
        <p:spPr>
          <a:xfrm>
            <a:off x="1051560" y="4663440"/>
            <a:ext cx="365760" cy="365760"/>
          </a:xfrm>
          <a:prstGeom prst="rect">
            <a:avLst/>
          </a:prstGeom>
          <a:noFill/>
        </p:spPr>
        <p:txBody>
          <a:bodyPr wrap="square">
            <a:spAutoFit/>
          </a:bodyPr>
          <a:lstStyle/>
          <a:p>
            <a:pPr algn="l">
              <a:defRPr sz="2400" b="1">
                <a:solidFill>
                  <a:srgbClr val="1A6E4F"/>
                </a:solidFill>
                <a:latin typeface="Arial"/>
              </a:defRPr>
            </a:pPr>
            <a:r>
              <a:t>2</a:t>
            </a:r>
          </a:p>
        </p:txBody>
      </p:sp>
      <p:sp>
        <p:nvSpPr>
          <p:cNvPr id="12" name="TextBox 11"/>
          <p:cNvSpPr txBox="1"/>
          <p:nvPr/>
        </p:nvSpPr>
        <p:spPr>
          <a:xfrm>
            <a:off x="1463040" y="4663440"/>
            <a:ext cx="7315200" cy="365760"/>
          </a:xfrm>
          <a:prstGeom prst="rect">
            <a:avLst/>
          </a:prstGeom>
          <a:noFill/>
        </p:spPr>
        <p:txBody>
          <a:bodyPr wrap="square">
            <a:spAutoFit/>
          </a:bodyPr>
          <a:lstStyle/>
          <a:p>
            <a:pPr algn="l">
              <a:defRPr sz="1800" b="1">
                <a:solidFill>
                  <a:srgbClr val="16191C"/>
                </a:solidFill>
                <a:latin typeface="Arial"/>
              </a:defRPr>
            </a:pPr>
            <a:r>
              <a:t>Automotive Ambassador &amp; Community Program</a:t>
            </a:r>
          </a:p>
        </p:txBody>
      </p:sp>
      <p:sp>
        <p:nvSpPr>
          <p:cNvPr id="13" name="TextBox 12"/>
          <p:cNvSpPr txBox="1"/>
          <p:nvPr/>
        </p:nvSpPr>
        <p:spPr>
          <a:xfrm>
            <a:off x="1463040" y="5029200"/>
            <a:ext cx="7315200" cy="1280160"/>
          </a:xfrm>
          <a:prstGeom prst="rect">
            <a:avLst/>
          </a:prstGeom>
          <a:noFill/>
        </p:spPr>
        <p:txBody>
          <a:bodyPr wrap="square">
            <a:spAutoFit/>
          </a:bodyPr>
          <a:lstStyle/>
          <a:p>
            <a:pPr algn="l">
              <a:defRPr sz="1500" b="0">
                <a:solidFill>
                  <a:srgbClr val="4A4F54"/>
                </a:solidFill>
                <a:latin typeface="Arial"/>
              </a:defRPr>
            </a:pPr>
            <a:r>
              <a:t>20–30 creators (5M+ combined reach): mechanics &amp; reviewers &gt; lifestyle influencers. Mass trial events with before/after efficiency measurement.</a:t>
            </a:r>
          </a:p>
        </p:txBody>
      </p:sp>
      <p:sp>
        <p:nvSpPr>
          <p:cNvPr id="14" name="TextBox 13"/>
          <p:cNvSpPr txBox="1"/>
          <p:nvPr/>
        </p:nvSpPr>
        <p:spPr>
          <a:xfrm>
            <a:off x="1051560" y="6492240"/>
            <a:ext cx="365760" cy="365760"/>
          </a:xfrm>
          <a:prstGeom prst="rect">
            <a:avLst/>
          </a:prstGeom>
          <a:noFill/>
        </p:spPr>
        <p:txBody>
          <a:bodyPr wrap="square">
            <a:spAutoFit/>
          </a:bodyPr>
          <a:lstStyle/>
          <a:p>
            <a:pPr algn="l">
              <a:defRPr sz="2400" b="1">
                <a:solidFill>
                  <a:srgbClr val="1A6E4F"/>
                </a:solidFill>
                <a:latin typeface="Arial"/>
              </a:defRPr>
            </a:pPr>
            <a:r>
              <a:t>3</a:t>
            </a:r>
          </a:p>
        </p:txBody>
      </p:sp>
      <p:sp>
        <p:nvSpPr>
          <p:cNvPr id="15" name="TextBox 14"/>
          <p:cNvSpPr txBox="1"/>
          <p:nvPr/>
        </p:nvSpPr>
        <p:spPr>
          <a:xfrm>
            <a:off x="1463040" y="6492240"/>
            <a:ext cx="7315200" cy="365760"/>
          </a:xfrm>
          <a:prstGeom prst="rect">
            <a:avLst/>
          </a:prstGeom>
          <a:noFill/>
        </p:spPr>
        <p:txBody>
          <a:bodyPr wrap="square">
            <a:spAutoFit/>
          </a:bodyPr>
          <a:lstStyle/>
          <a:p>
            <a:pPr algn="l">
              <a:defRPr sz="1800" b="1">
                <a:solidFill>
                  <a:srgbClr val="16191C"/>
                </a:solidFill>
                <a:latin typeface="Arial"/>
              </a:defRPr>
            </a:pPr>
            <a:r>
              <a:t>Point-of-Purchase Conversion</a:t>
            </a:r>
          </a:p>
        </p:txBody>
      </p:sp>
      <p:sp>
        <p:nvSpPr>
          <p:cNvPr id="16" name="TextBox 15"/>
          <p:cNvSpPr txBox="1"/>
          <p:nvPr/>
        </p:nvSpPr>
        <p:spPr>
          <a:xfrm>
            <a:off x="1463040" y="6858000"/>
            <a:ext cx="7315200" cy="1280160"/>
          </a:xfrm>
          <a:prstGeom prst="rect">
            <a:avLst/>
          </a:prstGeom>
          <a:noFill/>
        </p:spPr>
        <p:txBody>
          <a:bodyPr wrap="square">
            <a:spAutoFit/>
          </a:bodyPr>
          <a:lstStyle/>
          <a:p>
            <a:pPr algn="l">
              <a:defRPr sz="1500" b="0">
                <a:solidFill>
                  <a:srgbClr val="4A4F54"/>
                </a:solidFill>
                <a:latin typeface="Arial"/>
              </a:defRPr>
            </a:pPr>
            <a:r>
              <a:t>Awareness panels + QR at 500 highest-traffic non-stocking stations. MyPertamina contextual push when refueling nearby.</a:t>
            </a:r>
          </a:p>
        </p:txBody>
      </p:sp>
      <p:sp>
        <p:nvSpPr>
          <p:cNvPr id="17" name="Rectangle 16"/>
          <p:cNvSpPr/>
          <p:nvPr/>
        </p:nvSpPr>
        <p:spPr>
          <a:xfrm>
            <a:off x="9601200" y="2286000"/>
            <a:ext cx="7772400"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0" y="2377440"/>
            <a:ext cx="7772400" cy="365760"/>
          </a:xfrm>
          <a:prstGeom prst="rect">
            <a:avLst/>
          </a:prstGeom>
          <a:noFill/>
        </p:spPr>
        <p:txBody>
          <a:bodyPr wrap="square">
            <a:spAutoFit/>
          </a:bodyPr>
          <a:lstStyle/>
          <a:p>
            <a:pPr algn="l">
              <a:defRPr sz="2200" b="1">
                <a:solidFill>
                  <a:srgbClr val="1A6E4F"/>
                </a:solidFill>
                <a:latin typeface="Arial"/>
              </a:defRPr>
            </a:pPr>
            <a:r>
              <a:t>PLACE (High Priority)</a:t>
            </a:r>
          </a:p>
        </p:txBody>
      </p:sp>
      <p:sp>
        <p:nvSpPr>
          <p:cNvPr id="19" name="TextBox 18"/>
          <p:cNvSpPr txBox="1"/>
          <p:nvPr/>
        </p:nvSpPr>
        <p:spPr>
          <a:xfrm>
            <a:off x="9601200" y="2834640"/>
            <a:ext cx="365760" cy="365760"/>
          </a:xfrm>
          <a:prstGeom prst="rect">
            <a:avLst/>
          </a:prstGeom>
          <a:noFill/>
        </p:spPr>
        <p:txBody>
          <a:bodyPr wrap="square">
            <a:spAutoFit/>
          </a:bodyPr>
          <a:lstStyle/>
          <a:p>
            <a:pPr algn="l">
              <a:defRPr sz="2400" b="1">
                <a:solidFill>
                  <a:srgbClr val="1A6E4F"/>
                </a:solidFill>
                <a:latin typeface="Arial"/>
              </a:defRPr>
            </a:pPr>
            <a:r>
              <a:t>1</a:t>
            </a:r>
          </a:p>
        </p:txBody>
      </p:sp>
      <p:sp>
        <p:nvSpPr>
          <p:cNvPr id="20" name="TextBox 19"/>
          <p:cNvSpPr txBox="1"/>
          <p:nvPr/>
        </p:nvSpPr>
        <p:spPr>
          <a:xfrm>
            <a:off x="10058400" y="2834640"/>
            <a:ext cx="7132320" cy="365760"/>
          </a:xfrm>
          <a:prstGeom prst="rect">
            <a:avLst/>
          </a:prstGeom>
          <a:noFill/>
        </p:spPr>
        <p:txBody>
          <a:bodyPr wrap="square">
            <a:spAutoFit/>
          </a:bodyPr>
          <a:lstStyle/>
          <a:p>
            <a:pPr algn="l">
              <a:defRPr sz="1800" b="1">
                <a:solidFill>
                  <a:srgbClr val="16191C"/>
                </a:solidFill>
                <a:latin typeface="Arial"/>
              </a:defRPr>
            </a:pPr>
            <a:r>
              <a:t>Data-Driven Java Densification</a:t>
            </a:r>
          </a:p>
        </p:txBody>
      </p:sp>
      <p:sp>
        <p:nvSpPr>
          <p:cNvPr id="21" name="TextBox 20"/>
          <p:cNvSpPr txBox="1"/>
          <p:nvPr/>
        </p:nvSpPr>
        <p:spPr>
          <a:xfrm>
            <a:off x="10058400" y="3200400"/>
            <a:ext cx="7132320" cy="1005840"/>
          </a:xfrm>
          <a:prstGeom prst="rect">
            <a:avLst/>
          </a:prstGeom>
          <a:noFill/>
        </p:spPr>
        <p:txBody>
          <a:bodyPr wrap="square">
            <a:spAutoFit/>
          </a:bodyPr>
          <a:lstStyle/>
          <a:p>
            <a:pPr algn="l">
              <a:defRPr sz="1500" b="0">
                <a:solidFill>
                  <a:srgbClr val="4A4F54"/>
                </a:solidFill>
                <a:latin typeface="Arial"/>
              </a:defRPr>
            </a:pPr>
            <a:r>
              <a:t>Distribution Acceleration Task Force (VP Retail Fuel Sales chair). GPS-traffic model ranks stations → target ~1,950 stations (30%) by Month 24.</a:t>
            </a:r>
          </a:p>
        </p:txBody>
      </p:sp>
      <p:sp>
        <p:nvSpPr>
          <p:cNvPr id="22" name="TextBox 21"/>
          <p:cNvSpPr txBox="1"/>
          <p:nvPr/>
        </p:nvSpPr>
        <p:spPr>
          <a:xfrm>
            <a:off x="9601200" y="4297680"/>
            <a:ext cx="365760" cy="365760"/>
          </a:xfrm>
          <a:prstGeom prst="rect">
            <a:avLst/>
          </a:prstGeom>
          <a:noFill/>
        </p:spPr>
        <p:txBody>
          <a:bodyPr wrap="square">
            <a:spAutoFit/>
          </a:bodyPr>
          <a:lstStyle/>
          <a:p>
            <a:pPr algn="l">
              <a:defRPr sz="2400" b="1">
                <a:solidFill>
                  <a:srgbClr val="1A6E4F"/>
                </a:solidFill>
                <a:latin typeface="Arial"/>
              </a:defRPr>
            </a:pPr>
            <a:r>
              <a:t>2</a:t>
            </a:r>
          </a:p>
        </p:txBody>
      </p:sp>
      <p:sp>
        <p:nvSpPr>
          <p:cNvPr id="23" name="TextBox 22"/>
          <p:cNvSpPr txBox="1"/>
          <p:nvPr/>
        </p:nvSpPr>
        <p:spPr>
          <a:xfrm>
            <a:off x="10058400" y="4297680"/>
            <a:ext cx="7132320" cy="365760"/>
          </a:xfrm>
          <a:prstGeom prst="rect">
            <a:avLst/>
          </a:prstGeom>
          <a:noFill/>
        </p:spPr>
        <p:txBody>
          <a:bodyPr wrap="square">
            <a:spAutoFit/>
          </a:bodyPr>
          <a:lstStyle/>
          <a:p>
            <a:pPr algn="l">
              <a:defRPr sz="1800" b="1">
                <a:solidFill>
                  <a:srgbClr val="16191C"/>
                </a:solidFill>
                <a:latin typeface="Arial"/>
              </a:defRPr>
            </a:pPr>
            <a:r>
              <a:t>Controlled Non-Java Expansion</a:t>
            </a:r>
          </a:p>
        </p:txBody>
      </p:sp>
      <p:sp>
        <p:nvSpPr>
          <p:cNvPr id="24" name="TextBox 23"/>
          <p:cNvSpPr txBox="1"/>
          <p:nvPr/>
        </p:nvSpPr>
        <p:spPr>
          <a:xfrm>
            <a:off x="10058400" y="4663440"/>
            <a:ext cx="7132320" cy="1005840"/>
          </a:xfrm>
          <a:prstGeom prst="rect">
            <a:avLst/>
          </a:prstGeom>
          <a:noFill/>
        </p:spPr>
        <p:txBody>
          <a:bodyPr wrap="square">
            <a:spAutoFit/>
          </a:bodyPr>
          <a:lstStyle/>
          <a:p>
            <a:pPr algn="l">
              <a:defRPr sz="1500" b="0">
                <a:solidFill>
                  <a:srgbClr val="4A4F54"/>
                </a:solidFill>
                <a:latin typeface="Arial"/>
              </a:defRPr>
            </a:pPr>
            <a:r>
              <a:t>Pilots: 5+ stations each in Denpasar &amp; Medan (Month 12–24). Extend only where pilot volume ≥ Java average.</a:t>
            </a:r>
          </a:p>
        </p:txBody>
      </p:sp>
      <p:sp>
        <p:nvSpPr>
          <p:cNvPr id="25" name="TextBox 24"/>
          <p:cNvSpPr txBox="1"/>
          <p:nvPr/>
        </p:nvSpPr>
        <p:spPr>
          <a:xfrm>
            <a:off x="9601200" y="5760720"/>
            <a:ext cx="365760" cy="365760"/>
          </a:xfrm>
          <a:prstGeom prst="rect">
            <a:avLst/>
          </a:prstGeom>
          <a:noFill/>
        </p:spPr>
        <p:txBody>
          <a:bodyPr wrap="square">
            <a:spAutoFit/>
          </a:bodyPr>
          <a:lstStyle/>
          <a:p>
            <a:pPr algn="l">
              <a:defRPr sz="2400" b="1">
                <a:solidFill>
                  <a:srgbClr val="1A6E4F"/>
                </a:solidFill>
                <a:latin typeface="Arial"/>
              </a:defRPr>
            </a:pPr>
            <a:r>
              <a:t>3</a:t>
            </a:r>
          </a:p>
        </p:txBody>
      </p:sp>
      <p:sp>
        <p:nvSpPr>
          <p:cNvPr id="26" name="TextBox 25"/>
          <p:cNvSpPr txBox="1"/>
          <p:nvPr/>
        </p:nvSpPr>
        <p:spPr>
          <a:xfrm>
            <a:off x="10058400" y="5760720"/>
            <a:ext cx="7132320" cy="365760"/>
          </a:xfrm>
          <a:prstGeom prst="rect">
            <a:avLst/>
          </a:prstGeom>
          <a:noFill/>
        </p:spPr>
        <p:txBody>
          <a:bodyPr wrap="square">
            <a:spAutoFit/>
          </a:bodyPr>
          <a:lstStyle/>
          <a:p>
            <a:pPr algn="l">
              <a:defRPr sz="1800" b="1">
                <a:solidFill>
                  <a:srgbClr val="16191C"/>
                </a:solidFill>
                <a:latin typeface="Arial"/>
              </a:defRPr>
            </a:pPr>
            <a:r>
              <a:t>Supply Security Before Expansion</a:t>
            </a:r>
          </a:p>
        </p:txBody>
      </p:sp>
      <p:sp>
        <p:nvSpPr>
          <p:cNvPr id="27" name="TextBox 26"/>
          <p:cNvSpPr txBox="1"/>
          <p:nvPr/>
        </p:nvSpPr>
        <p:spPr>
          <a:xfrm>
            <a:off x="10058400" y="6126480"/>
            <a:ext cx="7132320" cy="1005840"/>
          </a:xfrm>
          <a:prstGeom prst="rect">
            <a:avLst/>
          </a:prstGeom>
          <a:noFill/>
        </p:spPr>
        <p:txBody>
          <a:bodyPr wrap="square">
            <a:spAutoFit/>
          </a:bodyPr>
          <a:lstStyle/>
          <a:p>
            <a:pPr algn="l">
              <a:defRPr sz="1500" b="0">
                <a:solidFill>
                  <a:srgbClr val="4A4F54"/>
                </a:solidFill>
                <a:latin typeface="Arial"/>
              </a:defRPr>
            </a:pPr>
            <a:r>
              <a:t>Contingency contracts with secondary bioethanol producers + ESDM-authorized ethanol imports as bridge supply (Month 1–6).</a:t>
            </a:r>
          </a:p>
        </p:txBody>
      </p:sp>
      <p:sp>
        <p:nvSpPr>
          <p:cNvPr id="28" name="TextBox 27"/>
          <p:cNvSpPr txBox="1"/>
          <p:nvPr/>
        </p:nvSpPr>
        <p:spPr>
          <a:xfrm>
            <a:off x="9601200" y="7223760"/>
            <a:ext cx="365760" cy="365760"/>
          </a:xfrm>
          <a:prstGeom prst="rect">
            <a:avLst/>
          </a:prstGeom>
          <a:noFill/>
        </p:spPr>
        <p:txBody>
          <a:bodyPr wrap="square">
            <a:spAutoFit/>
          </a:bodyPr>
          <a:lstStyle/>
          <a:p>
            <a:pPr algn="l">
              <a:defRPr sz="2400" b="1">
                <a:solidFill>
                  <a:srgbClr val="1A6E4F"/>
                </a:solidFill>
                <a:latin typeface="Arial"/>
              </a:defRPr>
            </a:pPr>
            <a:r>
              <a:t>4</a:t>
            </a:r>
          </a:p>
        </p:txBody>
      </p:sp>
      <p:sp>
        <p:nvSpPr>
          <p:cNvPr id="29" name="TextBox 28"/>
          <p:cNvSpPr txBox="1"/>
          <p:nvPr/>
        </p:nvSpPr>
        <p:spPr>
          <a:xfrm>
            <a:off x="10058400" y="7223760"/>
            <a:ext cx="7132320" cy="365760"/>
          </a:xfrm>
          <a:prstGeom prst="rect">
            <a:avLst/>
          </a:prstGeom>
          <a:noFill/>
        </p:spPr>
        <p:txBody>
          <a:bodyPr wrap="square">
            <a:spAutoFit/>
          </a:bodyPr>
          <a:lstStyle/>
          <a:p>
            <a:pPr algn="l">
              <a:defRPr sz="1800" b="1">
                <a:solidFill>
                  <a:srgbClr val="16191C"/>
                </a:solidFill>
                <a:latin typeface="Arial"/>
              </a:defRPr>
            </a:pPr>
            <a:r>
              <a:t>MyPertamina Green 95 Locator</a:t>
            </a:r>
          </a:p>
        </p:txBody>
      </p:sp>
      <p:sp>
        <p:nvSpPr>
          <p:cNvPr id="30" name="TextBox 29"/>
          <p:cNvSpPr txBox="1"/>
          <p:nvPr/>
        </p:nvSpPr>
        <p:spPr>
          <a:xfrm>
            <a:off x="10058400" y="7589520"/>
            <a:ext cx="7132320" cy="1005840"/>
          </a:xfrm>
          <a:prstGeom prst="rect">
            <a:avLst/>
          </a:prstGeom>
          <a:noFill/>
        </p:spPr>
        <p:txBody>
          <a:bodyPr wrap="square">
            <a:spAutoFit/>
          </a:bodyPr>
          <a:lstStyle/>
          <a:p>
            <a:pPr algn="l">
              <a:defRPr sz="1500" b="0">
                <a:solidFill>
                  <a:srgbClr val="4A4F54"/>
                </a:solidFill>
                <a:latin typeface="Arial"/>
              </a:defRPr>
            </a:pPr>
            <a:r>
              <a:t>Real-time stock status locator live by Month 4. Removes off-route deterrence (P3.1 = 2.210).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51560" y="804672"/>
            <a:ext cx="13716000" cy="365760"/>
          </a:xfrm>
          <a:prstGeom prst="rect">
            <a:avLst/>
          </a:prstGeom>
          <a:noFill/>
        </p:spPr>
        <p:txBody>
          <a:bodyPr wrap="square">
            <a:spAutoFit/>
          </a:bodyPr>
          <a:lstStyle/>
          <a:p>
            <a:pPr algn="l">
              <a:defRPr sz="1800" b="1">
                <a:solidFill>
                  <a:srgbClr val="1A6E4F"/>
                </a:solidFill>
                <a:latin typeface="Arial"/>
              </a:defRPr>
            </a:pPr>
            <a:r>
              <a:t>IMPLEMENTATION  ·  GUARANTEES &amp; PROJECTIONS</a:t>
            </a:r>
          </a:p>
        </p:txBody>
      </p:sp>
      <p:sp>
        <p:nvSpPr>
          <p:cNvPr id="3" name="TextBox 2"/>
          <p:cNvSpPr txBox="1"/>
          <p:nvPr/>
        </p:nvSpPr>
        <p:spPr>
          <a:xfrm>
            <a:off x="1051560" y="1197864"/>
            <a:ext cx="13716000" cy="731520"/>
          </a:xfrm>
          <a:prstGeom prst="rect">
            <a:avLst/>
          </a:prstGeom>
          <a:noFill/>
        </p:spPr>
        <p:txBody>
          <a:bodyPr wrap="square">
            <a:spAutoFit/>
          </a:bodyPr>
          <a:lstStyle/>
          <a:p>
            <a:pPr algn="l">
              <a:defRPr sz="3900" b="1">
                <a:solidFill>
                  <a:srgbClr val="16191C"/>
                </a:solidFill>
                <a:latin typeface="Arial"/>
              </a:defRPr>
            </a:pPr>
            <a:r>
              <a:t>Four Structural Guarantees Enable Strategy Execution; 12-Month Targets Set</a:t>
            </a:r>
          </a:p>
        </p:txBody>
      </p:sp>
      <p:sp>
        <p:nvSpPr>
          <p:cNvPr id="4" name="Rectangle 3"/>
          <p:cNvSpPr/>
          <p:nvPr/>
        </p:nvSpPr>
        <p:spPr>
          <a:xfrm>
            <a:off x="1051560" y="1975104"/>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u_logo_cropped.png"/>
          <p:cNvPicPr>
            <a:picLocks noChangeAspect="1"/>
          </p:cNvPicPr>
          <p:nvPr/>
        </p:nvPicPr>
        <p:blipFill>
          <a:blip r:embed="rId2"/>
          <a:stretch>
            <a:fillRect/>
          </a:stretch>
        </p:blipFill>
        <p:spPr>
          <a:xfrm>
            <a:off x="15261336" y="822960"/>
            <a:ext cx="1984248" cy="731520"/>
          </a:xfrm>
          <a:prstGeom prst="rect">
            <a:avLst/>
          </a:prstGeom>
        </p:spPr>
      </p:pic>
      <p:sp>
        <p:nvSpPr>
          <p:cNvPr id="6" name="Rectangle 5"/>
          <p:cNvSpPr/>
          <p:nvPr/>
        </p:nvSpPr>
        <p:spPr>
          <a:xfrm>
            <a:off x="1051560" y="2286000"/>
            <a:ext cx="3931920" cy="502920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2286000"/>
            <a:ext cx="3931920"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19" y="2423160"/>
            <a:ext cx="3657600" cy="457200"/>
          </a:xfrm>
          <a:prstGeom prst="rect">
            <a:avLst/>
          </a:prstGeom>
          <a:noFill/>
        </p:spPr>
        <p:txBody>
          <a:bodyPr wrap="square">
            <a:spAutoFit/>
          </a:bodyPr>
          <a:lstStyle/>
          <a:p>
            <a:pPr algn="l">
              <a:defRPr sz="2000" b="1">
                <a:solidFill>
                  <a:srgbClr val="1A6E4F"/>
                </a:solidFill>
                <a:latin typeface="Arial"/>
              </a:defRPr>
            </a:pPr>
            <a:r>
              <a:t>MANAGEMENT</a:t>
            </a:r>
          </a:p>
        </p:txBody>
      </p:sp>
      <p:sp>
        <p:nvSpPr>
          <p:cNvPr id="9" name="TextBox 8"/>
          <p:cNvSpPr txBox="1"/>
          <p:nvPr/>
        </p:nvSpPr>
        <p:spPr>
          <a:xfrm>
            <a:off x="1188719" y="2926080"/>
            <a:ext cx="3657600" cy="2286000"/>
          </a:xfrm>
          <a:prstGeom prst="rect">
            <a:avLst/>
          </a:prstGeom>
          <a:noFill/>
        </p:spPr>
        <p:txBody>
          <a:bodyPr wrap="square">
            <a:spAutoFit/>
          </a:bodyPr>
          <a:lstStyle/>
          <a:p>
            <a:pPr algn="l">
              <a:defRPr sz="1500" b="0">
                <a:solidFill>
                  <a:srgbClr val="4A4F54"/>
                </a:solidFill>
                <a:latin typeface="Arial"/>
              </a:defRPr>
            </a:pPr>
            <a:r>
              <a:t>Green 95 Implementation Committee</a:t>
            </a:r>
            <a:br/>
            <a:r>
              <a:t>(Dir. Regional Marketing chair)</a:t>
            </a:r>
            <a:br/>
            <a:r>
              <a:t>Fast-track station approval pathway</a:t>
            </a:r>
            <a:br/>
            <a:r>
              <a:t>Quarterly 7P KPI reviews</a:t>
            </a:r>
          </a:p>
        </p:txBody>
      </p:sp>
      <p:sp>
        <p:nvSpPr>
          <p:cNvPr id="10" name="TextBox 9"/>
          <p:cNvSpPr txBox="1"/>
          <p:nvPr/>
        </p:nvSpPr>
        <p:spPr>
          <a:xfrm>
            <a:off x="1188719" y="5303520"/>
            <a:ext cx="3657600" cy="274320"/>
          </a:xfrm>
          <a:prstGeom prst="rect">
            <a:avLst/>
          </a:prstGeom>
          <a:noFill/>
        </p:spPr>
        <p:txBody>
          <a:bodyPr wrap="square">
            <a:spAutoFit/>
          </a:bodyPr>
          <a:lstStyle/>
          <a:p>
            <a:pPr algn="l">
              <a:defRPr sz="1400" b="1">
                <a:solidFill>
                  <a:srgbClr val="8A9099"/>
                </a:solidFill>
                <a:latin typeface="Arial"/>
              </a:defRPr>
            </a:pPr>
            <a:r>
              <a:t>Targeted 7P: P3, P4</a:t>
            </a:r>
            <a:br/>
            <a:r>
              <a:t>(all 7Ps)</a:t>
            </a:r>
          </a:p>
        </p:txBody>
      </p:sp>
      <p:sp>
        <p:nvSpPr>
          <p:cNvPr id="11" name="Rectangle 10"/>
          <p:cNvSpPr/>
          <p:nvPr/>
        </p:nvSpPr>
        <p:spPr>
          <a:xfrm>
            <a:off x="1188719" y="5669280"/>
            <a:ext cx="3657600" cy="36576"/>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19" y="5806440"/>
            <a:ext cx="3657600" cy="731520"/>
          </a:xfrm>
          <a:prstGeom prst="rect">
            <a:avLst/>
          </a:prstGeom>
          <a:noFill/>
        </p:spPr>
        <p:txBody>
          <a:bodyPr wrap="square">
            <a:spAutoFit/>
          </a:bodyPr>
          <a:lstStyle/>
          <a:p>
            <a:pPr algn="l">
              <a:defRPr sz="1600" b="1">
                <a:solidFill>
                  <a:srgbClr val="16191C"/>
                </a:solidFill>
                <a:latin typeface="Arial"/>
              </a:defRPr>
            </a:pPr>
            <a:r>
              <a:t>12-Month KPI: CLI 3.552 → 3.800</a:t>
            </a:r>
          </a:p>
        </p:txBody>
      </p:sp>
      <p:sp>
        <p:nvSpPr>
          <p:cNvPr id="13" name="Rectangle 12"/>
          <p:cNvSpPr/>
          <p:nvPr/>
        </p:nvSpPr>
        <p:spPr>
          <a:xfrm>
            <a:off x="5257800" y="2286000"/>
            <a:ext cx="3931920" cy="502920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57800" y="2286000"/>
            <a:ext cx="3931920"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0" y="2423160"/>
            <a:ext cx="3657600" cy="457200"/>
          </a:xfrm>
          <a:prstGeom prst="rect">
            <a:avLst/>
          </a:prstGeom>
          <a:noFill/>
        </p:spPr>
        <p:txBody>
          <a:bodyPr wrap="square">
            <a:spAutoFit/>
          </a:bodyPr>
          <a:lstStyle/>
          <a:p>
            <a:pPr algn="l">
              <a:defRPr sz="2000" b="1">
                <a:solidFill>
                  <a:srgbClr val="1A6E4F"/>
                </a:solidFill>
                <a:latin typeface="Arial"/>
              </a:defRPr>
            </a:pPr>
            <a:r>
              <a:t>HUMAN RESOURCE</a:t>
            </a:r>
          </a:p>
        </p:txBody>
      </p:sp>
      <p:sp>
        <p:nvSpPr>
          <p:cNvPr id="16" name="TextBox 15"/>
          <p:cNvSpPr txBox="1"/>
          <p:nvPr/>
        </p:nvSpPr>
        <p:spPr>
          <a:xfrm>
            <a:off x="5394960" y="2926080"/>
            <a:ext cx="3657600" cy="2286000"/>
          </a:xfrm>
          <a:prstGeom prst="rect">
            <a:avLst/>
          </a:prstGeom>
          <a:noFill/>
        </p:spPr>
        <p:txBody>
          <a:bodyPr wrap="square">
            <a:spAutoFit/>
          </a:bodyPr>
          <a:lstStyle/>
          <a:p>
            <a:pPr algn="l">
              <a:defRPr sz="1500" b="0">
                <a:solidFill>
                  <a:srgbClr val="4A4F54"/>
                </a:solidFill>
                <a:latin typeface="Arial"/>
              </a:defRPr>
            </a:pPr>
            <a:r>
              <a:t>Ambassador Certification (mandatory)</a:t>
            </a:r>
            <a:br/>
            <a:r>
              <a:t>Digital Marketing Unit (3–5 FTEs)</a:t>
            </a:r>
            <a:br/>
            <a:r>
              <a:t>Sales-linked incentive scheme</a:t>
            </a:r>
          </a:p>
        </p:txBody>
      </p:sp>
      <p:sp>
        <p:nvSpPr>
          <p:cNvPr id="17" name="TextBox 16"/>
          <p:cNvSpPr txBox="1"/>
          <p:nvPr/>
        </p:nvSpPr>
        <p:spPr>
          <a:xfrm>
            <a:off x="5394960" y="5303520"/>
            <a:ext cx="3657600" cy="274320"/>
          </a:xfrm>
          <a:prstGeom prst="rect">
            <a:avLst/>
          </a:prstGeom>
          <a:noFill/>
        </p:spPr>
        <p:txBody>
          <a:bodyPr wrap="square">
            <a:spAutoFit/>
          </a:bodyPr>
          <a:lstStyle/>
          <a:p>
            <a:pPr algn="l">
              <a:defRPr sz="1400" b="1">
                <a:solidFill>
                  <a:srgbClr val="8A9099"/>
                </a:solidFill>
                <a:latin typeface="Arial"/>
              </a:defRPr>
            </a:pPr>
            <a:r>
              <a:t>Targeted 7P: P4, P5</a:t>
            </a:r>
          </a:p>
        </p:txBody>
      </p:sp>
      <p:sp>
        <p:nvSpPr>
          <p:cNvPr id="18" name="Rectangle 17"/>
          <p:cNvSpPr/>
          <p:nvPr/>
        </p:nvSpPr>
        <p:spPr>
          <a:xfrm>
            <a:off x="5394960" y="5669280"/>
            <a:ext cx="3657600" cy="36576"/>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4960" y="5806440"/>
            <a:ext cx="3657600" cy="731520"/>
          </a:xfrm>
          <a:prstGeom prst="rect">
            <a:avLst/>
          </a:prstGeom>
          <a:noFill/>
        </p:spPr>
        <p:txBody>
          <a:bodyPr wrap="square">
            <a:spAutoFit/>
          </a:bodyPr>
          <a:lstStyle/>
          <a:p>
            <a:pPr algn="l">
              <a:defRPr sz="1600" b="1">
                <a:solidFill>
                  <a:srgbClr val="16191C"/>
                </a:solidFill>
                <a:latin typeface="Arial"/>
              </a:defRPr>
            </a:pPr>
            <a:r>
              <a:t>12-Month KPI: P5.1 → 3.800</a:t>
            </a:r>
            <a:br/>
            <a:r>
              <a:t>P4 team launched Q2</a:t>
            </a:r>
          </a:p>
        </p:txBody>
      </p:sp>
      <p:sp>
        <p:nvSpPr>
          <p:cNvPr id="20" name="Rectangle 19"/>
          <p:cNvSpPr/>
          <p:nvPr/>
        </p:nvSpPr>
        <p:spPr>
          <a:xfrm>
            <a:off x="9464040" y="2286000"/>
            <a:ext cx="3931920" cy="502920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464040" y="2286000"/>
            <a:ext cx="3931920"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0" y="2423160"/>
            <a:ext cx="3657600" cy="457200"/>
          </a:xfrm>
          <a:prstGeom prst="rect">
            <a:avLst/>
          </a:prstGeom>
          <a:noFill/>
        </p:spPr>
        <p:txBody>
          <a:bodyPr wrap="square">
            <a:spAutoFit/>
          </a:bodyPr>
          <a:lstStyle/>
          <a:p>
            <a:pPr algn="l">
              <a:defRPr sz="2000" b="1">
                <a:solidFill>
                  <a:srgbClr val="1A6E4F"/>
                </a:solidFill>
                <a:latin typeface="Arial"/>
              </a:defRPr>
            </a:pPr>
            <a:r>
              <a:t>FINANCIAL</a:t>
            </a:r>
          </a:p>
        </p:txBody>
      </p:sp>
      <p:sp>
        <p:nvSpPr>
          <p:cNvPr id="23" name="TextBox 22"/>
          <p:cNvSpPr txBox="1"/>
          <p:nvPr/>
        </p:nvSpPr>
        <p:spPr>
          <a:xfrm>
            <a:off x="9601200" y="2926080"/>
            <a:ext cx="3657600" cy="2286000"/>
          </a:xfrm>
          <a:prstGeom prst="rect">
            <a:avLst/>
          </a:prstGeom>
          <a:noFill/>
        </p:spPr>
        <p:txBody>
          <a:bodyPr wrap="square">
            <a:spAutoFit/>
          </a:bodyPr>
          <a:lstStyle/>
          <a:p>
            <a:pPr algn="l">
              <a:defRPr sz="1500" b="0">
                <a:solidFill>
                  <a:srgbClr val="4A4F54"/>
                </a:solidFill>
                <a:latin typeface="Arial"/>
              </a:defRPr>
            </a:pPr>
            <a:r>
              <a:t>Dedicated RKAP budget line</a:t>
            </a:r>
            <a:br/>
            <a:r>
              <a:t>BPDP-KS/ESDM grant pursuit</a:t>
            </a:r>
            <a:br/>
            <a:r>
              <a:t>Phased capex: Promo/PhysEvid first</a:t>
            </a:r>
          </a:p>
        </p:txBody>
      </p:sp>
      <p:sp>
        <p:nvSpPr>
          <p:cNvPr id="24" name="TextBox 23"/>
          <p:cNvSpPr txBox="1"/>
          <p:nvPr/>
        </p:nvSpPr>
        <p:spPr>
          <a:xfrm>
            <a:off x="9601200" y="5303520"/>
            <a:ext cx="3657600" cy="274320"/>
          </a:xfrm>
          <a:prstGeom prst="rect">
            <a:avLst/>
          </a:prstGeom>
          <a:noFill/>
        </p:spPr>
        <p:txBody>
          <a:bodyPr wrap="square">
            <a:spAutoFit/>
          </a:bodyPr>
          <a:lstStyle/>
          <a:p>
            <a:pPr algn="l">
              <a:defRPr sz="1400" b="1">
                <a:solidFill>
                  <a:srgbClr val="8A9099"/>
                </a:solidFill>
                <a:latin typeface="Arial"/>
              </a:defRPr>
            </a:pPr>
            <a:r>
              <a:t>Targeted 7P: All 7Ps</a:t>
            </a:r>
            <a:br/>
            <a:r>
              <a:t>(Priority P4+P3)</a:t>
            </a:r>
          </a:p>
        </p:txBody>
      </p:sp>
      <p:sp>
        <p:nvSpPr>
          <p:cNvPr id="25" name="Rectangle 24"/>
          <p:cNvSpPr/>
          <p:nvPr/>
        </p:nvSpPr>
        <p:spPr>
          <a:xfrm>
            <a:off x="9601200" y="5669280"/>
            <a:ext cx="3657600" cy="36576"/>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0" y="5806440"/>
            <a:ext cx="3657600" cy="731520"/>
          </a:xfrm>
          <a:prstGeom prst="rect">
            <a:avLst/>
          </a:prstGeom>
          <a:noFill/>
        </p:spPr>
        <p:txBody>
          <a:bodyPr wrap="square">
            <a:spAutoFit/>
          </a:bodyPr>
          <a:lstStyle/>
          <a:p>
            <a:pPr algn="l">
              <a:defRPr sz="1600" b="1">
                <a:solidFill>
                  <a:srgbClr val="16191C"/>
                </a:solidFill>
                <a:latin typeface="Arial"/>
              </a:defRPr>
            </a:pPr>
            <a:r>
              <a:t>12-Month KPI: Promo budget deployed Q1</a:t>
            </a:r>
            <a:br/>
            <a:r>
              <a:t>Cost per new user tracked</a:t>
            </a:r>
          </a:p>
        </p:txBody>
      </p:sp>
      <p:sp>
        <p:nvSpPr>
          <p:cNvPr id="27" name="Rectangle 26"/>
          <p:cNvSpPr/>
          <p:nvPr/>
        </p:nvSpPr>
        <p:spPr>
          <a:xfrm>
            <a:off x="13670280" y="2286000"/>
            <a:ext cx="3931920" cy="5029200"/>
          </a:xfrm>
          <a:prstGeom prst="rect">
            <a:avLst/>
          </a:prstGeom>
          <a:solidFill>
            <a:srgbClr val="FFFFFF"/>
          </a:solidFill>
          <a:ln w="5461">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3670280" y="2286000"/>
            <a:ext cx="3931920"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807440" y="2423160"/>
            <a:ext cx="3657600" cy="457200"/>
          </a:xfrm>
          <a:prstGeom prst="rect">
            <a:avLst/>
          </a:prstGeom>
          <a:noFill/>
        </p:spPr>
        <p:txBody>
          <a:bodyPr wrap="square">
            <a:spAutoFit/>
          </a:bodyPr>
          <a:lstStyle/>
          <a:p>
            <a:pPr algn="l">
              <a:defRPr sz="2000" b="1">
                <a:solidFill>
                  <a:srgbClr val="1A6E4F"/>
                </a:solidFill>
                <a:latin typeface="Arial"/>
              </a:defRPr>
            </a:pPr>
            <a:r>
              <a:t>INFORMATION</a:t>
            </a:r>
            <a:br/>
            <a:r>
              <a:t>TECHNOLOGY</a:t>
            </a:r>
          </a:p>
        </p:txBody>
      </p:sp>
      <p:sp>
        <p:nvSpPr>
          <p:cNvPr id="30" name="TextBox 29"/>
          <p:cNvSpPr txBox="1"/>
          <p:nvPr/>
        </p:nvSpPr>
        <p:spPr>
          <a:xfrm>
            <a:off x="13807440" y="2926080"/>
            <a:ext cx="3657600" cy="2286000"/>
          </a:xfrm>
          <a:prstGeom prst="rect">
            <a:avLst/>
          </a:prstGeom>
          <a:noFill/>
        </p:spPr>
        <p:txBody>
          <a:bodyPr wrap="square">
            <a:spAutoFit/>
          </a:bodyPr>
          <a:lstStyle/>
          <a:p>
            <a:pPr algn="l">
              <a:defRPr sz="1500" b="0">
                <a:solidFill>
                  <a:srgbClr val="4A4F54"/>
                </a:solidFill>
                <a:latin typeface="Arial"/>
              </a:defRPr>
            </a:pPr>
            <a:r>
              <a:t>MyPertamina Green 95 Roadmap (3 phases)</a:t>
            </a:r>
            <a:br/>
            <a:r>
              <a:t>Locator (M4) → Green Impact Receipt (M8)</a:t>
            </a:r>
            <a:br/>
            <a:r>
              <a:t>→ Gamification (M12) + analytics platform</a:t>
            </a:r>
          </a:p>
        </p:txBody>
      </p:sp>
      <p:sp>
        <p:nvSpPr>
          <p:cNvPr id="31" name="TextBox 30"/>
          <p:cNvSpPr txBox="1"/>
          <p:nvPr/>
        </p:nvSpPr>
        <p:spPr>
          <a:xfrm>
            <a:off x="13807440" y="5303520"/>
            <a:ext cx="3657600" cy="274320"/>
          </a:xfrm>
          <a:prstGeom prst="rect">
            <a:avLst/>
          </a:prstGeom>
          <a:noFill/>
        </p:spPr>
        <p:txBody>
          <a:bodyPr wrap="square">
            <a:spAutoFit/>
          </a:bodyPr>
          <a:lstStyle/>
          <a:p>
            <a:pPr algn="l">
              <a:defRPr sz="1400" b="1">
                <a:solidFill>
                  <a:srgbClr val="8A9099"/>
                </a:solidFill>
                <a:latin typeface="Arial"/>
              </a:defRPr>
            </a:pPr>
            <a:r>
              <a:t>Targeted 7P: P3, P2, P6</a:t>
            </a:r>
          </a:p>
        </p:txBody>
      </p:sp>
      <p:sp>
        <p:nvSpPr>
          <p:cNvPr id="32" name="Rectangle 31"/>
          <p:cNvSpPr/>
          <p:nvPr/>
        </p:nvSpPr>
        <p:spPr>
          <a:xfrm>
            <a:off x="13807440" y="5669280"/>
            <a:ext cx="3657600" cy="36576"/>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807440" y="5806440"/>
            <a:ext cx="3657600" cy="731520"/>
          </a:xfrm>
          <a:prstGeom prst="rect">
            <a:avLst/>
          </a:prstGeom>
          <a:noFill/>
        </p:spPr>
        <p:txBody>
          <a:bodyPr wrap="square">
            <a:spAutoFit/>
          </a:bodyPr>
          <a:lstStyle/>
          <a:p>
            <a:pPr algn="l">
              <a:defRPr sz="1600" b="1">
                <a:solidFill>
                  <a:srgbClr val="16191C"/>
                </a:solidFill>
                <a:latin typeface="Arial"/>
              </a:defRPr>
            </a:pPr>
            <a:r>
              <a:t>12-Month KPI: P6.4 → 3.800</a:t>
            </a:r>
            <a:br/>
            <a:r>
              <a:t>Locator live Month 4</a:t>
            </a:r>
          </a:p>
        </p:txBody>
      </p:sp>
      <p:sp>
        <p:nvSpPr>
          <p:cNvPr id="34" name="Rectangle 33"/>
          <p:cNvSpPr/>
          <p:nvPr/>
        </p:nvSpPr>
        <p:spPr>
          <a:xfrm>
            <a:off x="1051560" y="7772400"/>
            <a:ext cx="16194024" cy="54864"/>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7955279"/>
            <a:ext cx="16194024" cy="914400"/>
          </a:xfrm>
          <a:prstGeom prst="rect">
            <a:avLst/>
          </a:prstGeom>
          <a:noFill/>
        </p:spPr>
        <p:txBody>
          <a:bodyPr wrap="square">
            <a:spAutoFit/>
          </a:bodyPr>
          <a:lstStyle/>
          <a:p>
            <a:pPr algn="l">
              <a:defRPr sz="1875" b="1">
                <a:solidFill>
                  <a:srgbClr val="16191C"/>
                </a:solidFill>
                <a:latin typeface="Arial"/>
              </a:defRPr>
            </a:pPr>
            <a:r>
              <a:t>PROJECTED 12-MONTH OUTCOMES (Directional):  Overall 7Ps Mean: 3.449 → 3.65–3.70  |  Composite Loyalty Index: 3.552 → 3.80  |  NPS: −12.1% → Positive Territory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051560" y="2286000"/>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1560" y="7772400"/>
            <a:ext cx="16194024" cy="13716"/>
          </a:xfrm>
          <a:prstGeom prst="rect">
            <a:avLst/>
          </a:prstGeom>
          <a:solidFill>
            <a:srgbClr val="E3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200400"/>
            <a:ext cx="420624" cy="27432"/>
          </a:xfrm>
          <a:prstGeom prst="rect">
            <a:avLst/>
          </a:prstGeom>
          <a:solidFill>
            <a:srgbClr val="1A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383280"/>
            <a:ext cx="16194024" cy="1371600"/>
          </a:xfrm>
          <a:prstGeom prst="rect">
            <a:avLst/>
          </a:prstGeom>
          <a:noFill/>
        </p:spPr>
        <p:txBody>
          <a:bodyPr wrap="square">
            <a:spAutoFit/>
          </a:bodyPr>
          <a:lstStyle/>
          <a:p>
            <a:pPr algn="ctr">
              <a:defRPr sz="8000" b="1">
                <a:solidFill>
                  <a:srgbClr val="16191C"/>
                </a:solidFill>
                <a:latin typeface="Arial"/>
              </a:defRPr>
            </a:pPr>
            <a:r>
              <a:t>Q &amp; A</a:t>
            </a:r>
          </a:p>
        </p:txBody>
      </p:sp>
      <p:sp>
        <p:nvSpPr>
          <p:cNvPr id="6" name="TextBox 5"/>
          <p:cNvSpPr txBox="1"/>
          <p:nvPr/>
        </p:nvSpPr>
        <p:spPr>
          <a:xfrm>
            <a:off x="1051560" y="4754880"/>
            <a:ext cx="16194024" cy="731520"/>
          </a:xfrm>
          <a:prstGeom prst="rect">
            <a:avLst/>
          </a:prstGeom>
          <a:noFill/>
        </p:spPr>
        <p:txBody>
          <a:bodyPr wrap="square">
            <a:spAutoFit/>
          </a:bodyPr>
          <a:lstStyle/>
          <a:p>
            <a:pPr algn="ctr">
              <a:defRPr sz="4800" b="0">
                <a:solidFill>
                  <a:srgbClr val="1A6E4F"/>
                </a:solidFill>
                <a:latin typeface="Arial"/>
              </a:defRPr>
            </a:pPr>
            <a:r>
              <a:t>Thank You</a:t>
            </a:r>
          </a:p>
        </p:txBody>
      </p:sp>
      <p:sp>
        <p:nvSpPr>
          <p:cNvPr id="7" name="TextBox 6"/>
          <p:cNvSpPr txBox="1"/>
          <p:nvPr/>
        </p:nvSpPr>
        <p:spPr>
          <a:xfrm>
            <a:off x="1051560" y="5943600"/>
            <a:ext cx="16194024" cy="914400"/>
          </a:xfrm>
          <a:prstGeom prst="rect">
            <a:avLst/>
          </a:prstGeom>
          <a:noFill/>
        </p:spPr>
        <p:txBody>
          <a:bodyPr wrap="square">
            <a:spAutoFit/>
          </a:bodyPr>
          <a:lstStyle/>
          <a:p>
            <a:pPr algn="ctr">
              <a:defRPr sz="1800" b="0">
                <a:solidFill>
                  <a:srgbClr val="8A9099"/>
                </a:solidFill>
                <a:latin typeface="Arial"/>
              </a:defRPr>
            </a:pPr>
            <a:r>
              <a:t>Research on the Marketing Strategy of Pertamina's Pertamax Green 95 in the Indonesian Market</a:t>
            </a:r>
          </a:p>
        </p:txBody>
      </p:sp>
      <p:pic>
        <p:nvPicPr>
          <p:cNvPr id="8" name="Picture 7" descr="neu_logo_cropped.png"/>
          <p:cNvPicPr>
            <a:picLocks noChangeAspect="1"/>
          </p:cNvPicPr>
          <p:nvPr/>
        </p:nvPicPr>
        <p:blipFill>
          <a:blip r:embed="rId2"/>
          <a:stretch>
            <a:fillRect/>
          </a:stretch>
        </p:blipFill>
        <p:spPr>
          <a:xfrm>
            <a:off x="15261336" y="822960"/>
            <a:ext cx="1984248" cy="731520"/>
          </a:xfrm>
          <a:prstGeom prst="rect">
            <a:avLst/>
          </a:prstGeom>
        </p:spPr>
      </p:pic>
      <p:sp>
        <p:nvSpPr>
          <p:cNvPr id="9" name="TextBox 8"/>
          <p:cNvSpPr txBox="1"/>
          <p:nvPr/>
        </p:nvSpPr>
        <p:spPr>
          <a:xfrm>
            <a:off x="1051560" y="8229600"/>
            <a:ext cx="16194024" cy="457200"/>
          </a:xfrm>
          <a:prstGeom prst="rect">
            <a:avLst/>
          </a:prstGeom>
          <a:noFill/>
        </p:spPr>
        <p:txBody>
          <a:bodyPr wrap="square">
            <a:spAutoFit/>
          </a:bodyPr>
          <a:lstStyle/>
          <a:p>
            <a:pPr algn="ctr">
              <a:defRPr sz="1600" b="0">
                <a:solidFill>
                  <a:srgbClr val="8A9099"/>
                </a:solidFill>
                <a:latin typeface="Arial"/>
              </a:defRPr>
            </a:pPr>
            <a:r>
              <a:t>Northeastern University  ·  School of Business Administration  ·  MBA Thesis Defense  ·  December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