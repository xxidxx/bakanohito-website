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61336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8A9099"/>
                </a:solidFill>
                <a:latin typeface="Arial"/>
              </a:defRPr>
            </a:pPr>
            <a:r>
              <a:t>MASTER OF BUSINESS ADMINISTRATION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777240"/>
            <a:ext cx="109728" cy="32004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NORTHEASTERN UNIVERSITY  ·  MBA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161940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Aft>
                <a:spcPts val="1080"/>
              </a:spcAft>
              <a:defRPr sz="5400" b="1">
                <a:solidFill>
                  <a:srgbClr val="16191C"/>
                </a:solidFill>
                <a:latin typeface="Arial"/>
              </a:defRPr>
            </a:pPr>
            <a:r>
              <a:t>Research on the Marketing Strategy of</a:t>
            </a:r>
            <a:br/>
            <a:r>
              <a:t>Pertamina's Pertamax Green 95 in the Indonesian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31920"/>
            <a:ext cx="1619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560"/>
              </a:spcAft>
              <a:defRPr sz="2800" b="0">
                <a:solidFill>
                  <a:srgbClr val="1A6E4F"/>
                </a:solidFill>
                <a:latin typeface="Arial"/>
              </a:defRPr>
            </a:pPr>
            <a:r>
              <a:t>Evidence-Based 7Ps Strategy for Green Fuel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463040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5029200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7772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0">
                <a:solidFill>
                  <a:srgbClr val="8A9099"/>
                </a:solidFill>
                <a:latin typeface="Arial"/>
              </a:defRPr>
            </a:pPr>
            <a:r>
              <a:t>December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8321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8A9099"/>
                </a:solidFill>
                <a:latin typeface="Arial"/>
              </a:defRPr>
            </a:pPr>
            <a:r>
              <a:t>School of Business Administration  ·  Northeastern University</a:t>
            </a:r>
          </a:p>
        </p:txBody>
      </p:sp>
      <p:pic>
        <p:nvPicPr>
          <p:cNvPr id="11" name="Picture 10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0"/>
              </a:lnSpc>
              <a:spcAft>
                <a:spcPts val="3000"/>
              </a:spcAft>
              <a:defRPr sz="15000" b="1">
                <a:solidFill>
                  <a:srgbClr val="EEF0F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74320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566160"/>
            <a:ext cx="16194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  <a:spcAft>
                <a:spcPts val="1280"/>
              </a:spcAft>
              <a:defRPr sz="6400" b="1">
                <a:solidFill>
                  <a:srgbClr val="16191C"/>
                </a:solidFill>
                <a:latin typeface="Arial"/>
              </a:defRPr>
            </a:pPr>
            <a:r>
              <a:t>Context &amp; Problem:</a:t>
            </a:r>
            <a:br/>
            <a:r>
              <a:t>Why Pertamax Green 95 Is Stalled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1206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0">
                <a:solidFill>
                  <a:srgbClr val="5B625F"/>
                </a:solidFill>
                <a:latin typeface="Arial"/>
              </a:defRPr>
            </a:pPr>
            <a:r>
              <a:t>Marketing activation failure — not product deficiency — drives low adoption</a:t>
            </a:r>
          </a:p>
        </p:txBody>
      </p:sp>
      <p:pic>
        <p:nvPicPr>
          <p:cNvPr id="7" name="Picture 6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CONTEXT  ·  PROBLEM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Marketing Activation Failure Masks Operational 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3566160" cy="137160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3.449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880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5B625F"/>
                </a:solidFill>
                <a:latin typeface="Arial"/>
              </a:defRPr>
            </a:pPr>
            <a:r>
              <a:t>Overall 7Ps Mean</a:t>
            </a:r>
            <a:br/>
            <a:r>
              <a:t>(Moderate)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79" y="2286000"/>
            <a:ext cx="3566160" cy="137160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C0492F"/>
                </a:solidFill>
                <a:latin typeface="Arial"/>
              </a:defRPr>
            </a:pPr>
            <a:r>
              <a:t>2.848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880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5B625F"/>
                </a:solidFill>
                <a:latin typeface="Arial"/>
              </a:defRPr>
            </a:pPr>
            <a:r>
              <a:t>Promotion</a:t>
            </a:r>
            <a:br/>
            <a:r>
              <a:t>(Needs Improvement)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2286000"/>
            <a:ext cx="3566160" cy="137160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A6E4F"/>
                </a:solidFill>
                <a:latin typeface="Arial"/>
              </a:defRPr>
            </a:pPr>
            <a:r>
              <a:t>3.869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880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5B625F"/>
                </a:solidFill>
                <a:latin typeface="Arial"/>
              </a:defRPr>
            </a:pPr>
            <a:r>
              <a:t>Process</a:t>
            </a:r>
            <a:br/>
            <a:r>
              <a:t>(Good)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47319" y="2286000"/>
            <a:ext cx="3566160" cy="137160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A6E4F"/>
                </a:solidFill>
                <a:latin typeface="Arial"/>
              </a:defRPr>
            </a:pPr>
            <a:r>
              <a:t>3.851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0" y="2880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5B625F"/>
                </a:solidFill>
                <a:latin typeface="Arial"/>
              </a:defRPr>
            </a:pPr>
            <a:r>
              <a:t>Physical Evidence</a:t>
            </a:r>
            <a:br/>
            <a:r>
              <a:t>(Good)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023360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06240"/>
            <a:ext cx="1619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324"/>
              </a:spcAft>
              <a:defRPr sz="1800" b="0">
                <a:solidFill>
                  <a:srgbClr val="16191C"/>
                </a:solidFill>
                <a:latin typeface="Arial"/>
              </a:defRPr>
            </a:pPr>
            <a:r>
              <a:t>1.021-point gap between highest (Process) and lowest (Promotion) dimension — operational excellence is invisible to the market.</a:t>
            </a:r>
          </a:p>
          <a:p>
            <a:pPr algn="l">
              <a:lnSpc>
                <a:spcPts val="2250"/>
              </a:lnSpc>
              <a:spcAft>
                <a:spcPts val="324"/>
              </a:spcAft>
              <a:defRPr sz="1800" b="0">
                <a:solidFill>
                  <a:srgbClr val="16191C"/>
                </a:solidFill>
                <a:latin typeface="Arial"/>
              </a:defRPr>
            </a:pPr>
            <a:r>
              <a:t>44.4% of respondents unaware or never tried after 28 months.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03520"/>
            <a:ext cx="16194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KEY BARRIERS FROM SURVEY (n=124)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760720"/>
            <a:ext cx="3566160" cy="128016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19" y="58521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640"/>
              </a:spcAft>
              <a:defRPr sz="3200" b="1">
                <a:solidFill>
                  <a:srgbClr val="16191C"/>
                </a:solidFill>
                <a:latin typeface="Arial"/>
              </a:defRPr>
            </a:pPr>
            <a:r>
              <a:t>60.48%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6263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0">
                <a:solidFill>
                  <a:srgbClr val="4A4F54"/>
                </a:solidFill>
                <a:latin typeface="Arial"/>
              </a:defRPr>
            </a:pPr>
            <a:r>
              <a:t>Availability &amp;</a:t>
            </a:r>
            <a:br/>
            <a:r>
              <a:t>Physical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6766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Primary barrier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5760720"/>
            <a:ext cx="3566160" cy="128016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58521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640"/>
              </a:spcAft>
              <a:defRPr sz="3200" b="1">
                <a:solidFill>
                  <a:srgbClr val="16191C"/>
                </a:solidFill>
                <a:latin typeface="Arial"/>
              </a:defRPr>
            </a:pPr>
            <a:r>
              <a:t>20.97%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6263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0">
                <a:solidFill>
                  <a:srgbClr val="4A4F54"/>
                </a:solidFill>
                <a:latin typeface="Arial"/>
              </a:defRPr>
            </a:pPr>
            <a:r>
              <a:t>Price &amp; Cost</a:t>
            </a:r>
            <a:br/>
            <a:r>
              <a:t>Concerns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6766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Income-segmented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5760720"/>
            <a:ext cx="3566160" cy="128016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58521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640"/>
              </a:spcAft>
              <a:defRPr sz="3200" b="1">
                <a:solidFill>
                  <a:srgbClr val="16191C"/>
                </a:solidFill>
                <a:latin typeface="Arial"/>
              </a:defRPr>
            </a:pPr>
            <a:r>
              <a:t>11.29%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263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0">
                <a:solidFill>
                  <a:srgbClr val="4A4F54"/>
                </a:solidFill>
                <a:latin typeface="Arial"/>
              </a:defRPr>
            </a:pPr>
            <a:r>
              <a:t>Awareness &amp;</a:t>
            </a:r>
            <a:br/>
            <a:r>
              <a:t>Information Deficit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6766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Ad visibility 2.113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47319" y="5760720"/>
            <a:ext cx="3566160" cy="1280160"/>
          </a:xfrm>
          <a:prstGeom prst="rect">
            <a:avLst/>
          </a:prstGeom>
          <a:noFill/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84480" y="58521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640"/>
              </a:spcAft>
              <a:defRPr sz="3200" b="1">
                <a:solidFill>
                  <a:srgbClr val="16191C"/>
                </a:solidFill>
                <a:latin typeface="Arial"/>
              </a:defRPr>
            </a:pPr>
            <a:r>
              <a:t>7.26%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0" y="6263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0">
                <a:solidFill>
                  <a:srgbClr val="4A4F54"/>
                </a:solidFill>
                <a:latin typeface="Arial"/>
              </a:defRPr>
            </a:pPr>
            <a:r>
              <a:t>Brand Inertia</a:t>
            </a:r>
            <a:br/>
            <a:r>
              <a:t>&amp; Loyalty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0" y="6766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Habitual resistance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CONTEXT  ·  7Ps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Severe Internal Asymmetry: Promotion Is the Critical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320040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286000"/>
            <a:ext cx="118872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331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286000"/>
            <a:ext cx="100584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331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286000"/>
            <a:ext cx="182880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286000"/>
            <a:ext cx="128016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Gap vs. Best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743200"/>
            <a:ext cx="32004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P6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743200"/>
            <a:ext cx="118872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788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3.869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743200"/>
            <a:ext cx="100584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788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0.403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743200"/>
            <a:ext cx="18288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A6E4F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2743200"/>
            <a:ext cx="128016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3200400"/>
            <a:ext cx="32004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P7 Physical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200400"/>
            <a:ext cx="118872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246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3.851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3200400"/>
            <a:ext cx="100584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0.478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200400"/>
            <a:ext cx="18288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A6E4F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200400"/>
            <a:ext cx="128016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-0.018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3657600"/>
            <a:ext cx="32004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P5 People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3657600"/>
            <a:ext cx="118872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3703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3.762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3657600"/>
            <a:ext cx="100584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0.407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3657600"/>
            <a:ext cx="18288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A6E4F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657600"/>
            <a:ext cx="128016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703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-0.107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4114800"/>
            <a:ext cx="32004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P1 Product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4114800"/>
            <a:ext cx="118872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3.603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114800"/>
            <a:ext cx="100584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4160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0.445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114800"/>
            <a:ext cx="18288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A6E4F"/>
                </a:solidFill>
                <a:latin typeface="Arial"/>
              </a:defRPr>
            </a:pPr>
            <a:r>
              <a:t>Good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4114800"/>
            <a:ext cx="128016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4160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-0.266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" y="4572000"/>
            <a:ext cx="32004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P3 Place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4572000"/>
            <a:ext cx="118872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4617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3.356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4572000"/>
            <a:ext cx="100584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4617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0.434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4572000"/>
            <a:ext cx="18288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4572000"/>
            <a:ext cx="128016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-0.513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" y="5029200"/>
            <a:ext cx="32004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30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P2 Price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5029200"/>
            <a:ext cx="118872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43400" y="5074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3.079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5029200"/>
            <a:ext cx="100584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32120" y="5074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0.507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46520" y="5029200"/>
            <a:ext cx="182880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75320" y="5029200"/>
            <a:ext cx="1280160" cy="457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5074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-0.790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1560" y="5486400"/>
            <a:ext cx="32004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43000" y="5532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P4 Promotion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5486400"/>
            <a:ext cx="118872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43400" y="5532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2.848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0680" y="5486400"/>
            <a:ext cx="100584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32120" y="5532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0.577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46520" y="5486400"/>
            <a:ext cx="182880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3796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C0492F"/>
                </a:solidFill>
                <a:latin typeface="Arial"/>
              </a:defRPr>
            </a:pPr>
            <a:r>
              <a:t>Needs Improvement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5486400"/>
            <a:ext cx="1280160" cy="457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5532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-1.021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1560" y="5943600"/>
            <a:ext cx="8503920" cy="457200"/>
          </a:xfrm>
          <a:prstGeom prst="rect">
            <a:avLst/>
          </a:prstGeom>
          <a:solidFill>
            <a:srgbClr val="16191C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43000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OVERALL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1960" y="5989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3.449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40679" y="5989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0.268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652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75320" y="5989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1560" y="6035040"/>
            <a:ext cx="54864" cy="228600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34440" y="6035040"/>
            <a:ext cx="1600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P4.1 Advertisement Visibility = 2.113 (lowest of 32 items)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P3.1 Availability at Visited Stations = 2.210 (2nd lowest)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P2.3 Value for Money = 2.637 (3rd lowest)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▸ Promotion failure is the foundational constraint: without awareness,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  distribution expansion cannot generate trial, and price incentives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  cannot stimulate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0"/>
              </a:lnSpc>
              <a:spcAft>
                <a:spcPts val="3000"/>
              </a:spcAft>
              <a:defRPr sz="15000" b="1">
                <a:solidFill>
                  <a:srgbClr val="EEF0F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74320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566160"/>
            <a:ext cx="16194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  <a:spcAft>
                <a:spcPts val="1280"/>
              </a:spcAft>
              <a:defRPr sz="6400" b="1">
                <a:solidFill>
                  <a:srgbClr val="16191C"/>
                </a:solidFill>
                <a:latin typeface="Arial"/>
              </a:defRPr>
            </a:pPr>
            <a:r>
              <a:t>Environment Analysis:</a:t>
            </a:r>
            <a:br/>
            <a:r>
              <a:t>PESTEL · Five Forces · SWOT · TOWS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1206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0">
                <a:solidFill>
                  <a:srgbClr val="5B625F"/>
                </a:solidFill>
                <a:latin typeface="Arial"/>
              </a:defRPr>
            </a:pPr>
            <a:r>
              <a:t>Favorable macro tailwinds; competitive intensity demands precise targeting</a:t>
            </a:r>
          </a:p>
        </p:txBody>
      </p:sp>
      <p:pic>
        <p:nvPicPr>
          <p:cNvPr id="7" name="Picture 6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ENVIRONMENT  ·  PESTEL MACRO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Policy Tailwinds Meet Supply &amp; Credibility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POLITICAL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E10 mandate by 2027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Presidential Decree 15/2024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SOE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42900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Positive: regulatory demand growth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Risk: policy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ECONOMIC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97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GDP 5.03%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middle-class growth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44% refined fuel imports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IDR volatility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42900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Growing consumer base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Pricing flexibility constrained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414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41480" y="2697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141M+ vehicles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rising green consciousness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national pride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41480" y="342900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4148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Positive long-term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Near-term price sensitivity dominates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TECHNOLOGICAL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172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E10 trial underway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digital gap (MyPertamina)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EV targets 2030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690372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70408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Production advantage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Digital infrastructure deficit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ENVIRONMENTAL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72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Net-zero 2060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NDC targets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feedstock supply constraints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690372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70408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Policy legitimacy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Credibility &amp; supply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148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LEGAL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41480" y="6172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E5 codified (ESDM 252/2023)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MOPS pricing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Euro 4/5</a:t>
            </a:r>
          </a:p>
          <a:p>
            <a:pPr algn="l">
              <a:lnSpc>
                <a:spcPts val="1750"/>
              </a:lnSpc>
              <a:spcAft>
                <a:spcPts val="252"/>
              </a:spcAft>
              <a:defRPr sz="1400" b="0">
                <a:solidFill>
                  <a:srgbClr val="4A4F54"/>
                </a:solidFill>
                <a:latin typeface="Arial"/>
              </a:defRPr>
            </a:pPr>
            <a:r>
              <a:t>E10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41480" y="6903720"/>
            <a:ext cx="50292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41480" y="70408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Compliance market</a:t>
            </a:r>
          </a:p>
          <a:p>
            <a:pPr algn="l">
              <a:lnSpc>
                <a:spcPts val="1625"/>
              </a:lnSpc>
              <a:spcAft>
                <a:spcPts val="234"/>
              </a:spcAft>
              <a:defRPr sz="1300" b="0">
                <a:solidFill>
                  <a:srgbClr val="5B625F"/>
                </a:solidFill>
                <a:latin typeface="Arial"/>
              </a:defRPr>
            </a:pPr>
            <a:r>
              <a:t>Pricing &amp; investment uncertainty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ENVIRONMENT  ·  PORTER'S FIVE FORCES  ·  SWOT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High Rivalry &amp; Buyer Power; Promotional Weakness Is Primary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Competitive Rivalry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C0492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286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Shell V-Power (200 stations); subsidized fuel substitution; weak differentiation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New Entrants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566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4A4F54"/>
                </a:solidFill>
                <a:latin typeface="Arial"/>
              </a:defRPr>
            </a:pPr>
            <a:r>
              <a:t>LOW–MOD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566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High capital/regulatory barriers; indirect EV/charging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Supplier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846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4A4F54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Strong petroleum; fragmented bioethanol; no ethanol subsidy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264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Buyer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12647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C0492F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61264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Low switching costs; high price sensitivity; fuel is credence 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7406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Substitutes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7406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4A4F54"/>
                </a:solidFill>
                <a:latin typeface="Arial"/>
              </a:defRPr>
            </a:pPr>
            <a:r>
              <a:t>MOD–HIGH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7406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Direct: lower-tier fuels; Indirect: EVs, public transport, ride-hailing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2286000"/>
            <a:ext cx="6272784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2377440"/>
            <a:ext cx="6272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SWOT HIGHLIGHTS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0" y="2926080"/>
            <a:ext cx="2926080" cy="2743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1A6E4F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333756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40"/>
              </a:spcAft>
              <a:defRPr sz="1200" b="0">
                <a:solidFill>
                  <a:srgbClr val="4A4F54"/>
                </a:solidFill>
                <a:latin typeface="Arial"/>
              </a:defRPr>
            </a:pPr>
            <a:r>
              <a:t>S1: First-mover E5, LEMIGAS-certified</a:t>
            </a:r>
            <a:br/>
            <a:r>
              <a:t>S2: E10 trial technical lead</a:t>
            </a:r>
            <a:br/>
            <a:r>
              <a:t>S3: 6,000+ stations (30× Shell)</a:t>
            </a:r>
            <a:br/>
            <a:r>
              <a:t>S4: SOE regulatory alignment</a:t>
            </a:r>
            <a:br/>
            <a:r>
              <a:t>S5: Frontline service quality</a:t>
            </a:r>
            <a:br/>
            <a:r>
              <a:t>S6: Regulation-backed eco authenticity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81760" y="2926080"/>
            <a:ext cx="2926080" cy="2743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C0492F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0" y="333756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40"/>
              </a:spcAft>
              <a:defRPr sz="1200" b="0">
                <a:solidFill>
                  <a:srgbClr val="4A4F54"/>
                </a:solidFill>
                <a:latin typeface="Arial"/>
              </a:defRPr>
            </a:pPr>
            <a:r>
              <a:t>W1: No dedicated ad campaign</a:t>
            </a:r>
            <a:br/>
            <a:r>
              <a:t>W2: 177 of 6,000+ stations (Java-only)</a:t>
            </a:r>
            <a:br/>
            <a:r>
              <a:t>W3: Price-value perception gap</a:t>
            </a:r>
            <a:br/>
            <a:r>
              <a:t>W4: MyPertamina app underperforming</a:t>
            </a:r>
            <a:br/>
            <a:r>
              <a:t>W5: Staff lack product knowledge</a:t>
            </a:r>
            <a:br/>
            <a:r>
              <a:t>W6: Green claims lack verified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0" y="5943600"/>
            <a:ext cx="2926080" cy="27432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1A6E4F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550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40"/>
              </a:spcAft>
              <a:defRPr sz="1200" b="0">
                <a:solidFill>
                  <a:srgbClr val="4A4F54"/>
                </a:solidFill>
                <a:latin typeface="Arial"/>
              </a:defRPr>
            </a:pPr>
            <a:r>
              <a:t>O1: E10 mandate 2027 → regulatory demand</a:t>
            </a:r>
            <a:br/>
            <a:r>
              <a:t>O2: Growing green consciousness (25–44)</a:t>
            </a:r>
            <a:br/>
            <a:r>
              <a:t>O3: 22.6% aware non-triers to convert</a:t>
            </a:r>
            <a:br/>
            <a:r>
              <a:t>O4: Turbo/high-compression engine growth</a:t>
            </a:r>
            <a:br/>
            <a:r>
              <a:t>O5: Government ethanol investment</a:t>
            </a:r>
            <a:br/>
            <a:r>
              <a:t>O6: Middle-class income growth 5%+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081760" y="5943600"/>
            <a:ext cx="2926080" cy="2743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C0492F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0" y="63550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40"/>
              </a:spcAft>
              <a:defRPr sz="1200" b="0">
                <a:solidFill>
                  <a:srgbClr val="4A4F54"/>
                </a:solidFill>
                <a:latin typeface="Arial"/>
              </a:defRPr>
            </a:pPr>
            <a:r>
              <a:t>T1: EV adoption (2M 2W by 2030)</a:t>
            </a:r>
            <a:br/>
            <a:r>
              <a:t>T2: Shell/BP superior marketing</a:t>
            </a:r>
            <a:br/>
            <a:r>
              <a:t>T3: Bioethanol supply gap (160K vs 4B L)</a:t>
            </a:r>
            <a:br/>
            <a:r>
              <a:t>T4: E10 regulation pending; reversal risk</a:t>
            </a:r>
            <a:br/>
            <a:r>
              <a:t>T5: Subsidized fuel substitution</a:t>
            </a:r>
            <a:br/>
            <a:r>
              <a:t>T6: Rupiah volatility; import cost pressure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ENVIRONMENT  ·  TOWS STRATEGY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Four Strategic Pathways: Promotional Failure Is the Foundational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286000"/>
            <a:ext cx="3931920" cy="100584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377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SO</a:t>
            </a:r>
            <a:br/>
            <a:r>
              <a:t>(Strengths + Opportunities)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474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320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Leverage product certification &amp; station network</a:t>
            </a:r>
            <a:br/>
            <a:r>
              <a:t>to capture E10 mandate market. Use SOE status</a:t>
            </a:r>
            <a:br/>
            <a:r>
              <a:t>for government fleet contracts.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2286000"/>
            <a:ext cx="3931920" cy="100584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377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WO</a:t>
            </a:r>
            <a:br/>
            <a:r>
              <a:t>(Weaknesses + Opportunities)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74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320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Use digital marketing &amp; sustainability trends</a:t>
            </a:r>
            <a:br/>
            <a:r>
              <a:t>to overcome promotional weakness. Partner with</a:t>
            </a:r>
            <a:br/>
            <a:r>
              <a:t>EV manufacturers for hybrid positioning.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2286000"/>
            <a:ext cx="3931920" cy="1005840"/>
          </a:xfrm>
          <a:prstGeom prst="rect">
            <a:avLst/>
          </a:prstGeom>
          <a:solidFill>
            <a:srgbClr val="CF8A4A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377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ST</a:t>
            </a:r>
            <a:br/>
            <a:r>
              <a:t>(Strengths + Threats)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74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320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Use RON 95 certification &amp; LEMIGAS validation</a:t>
            </a:r>
            <a:br/>
            <a:r>
              <a:t>to differentiate against Shell V-Power. Accelerate</a:t>
            </a:r>
            <a:br/>
            <a:r>
              <a:t>E10 readiness to maintain regulatory advantage.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7028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670280" y="2286000"/>
            <a:ext cx="3931920" cy="1005840"/>
          </a:xfrm>
          <a:prstGeom prst="rect">
            <a:avLst/>
          </a:prstGeom>
          <a:solidFill>
            <a:srgbClr val="C0492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40" y="2377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WT</a:t>
            </a:r>
            <a:br/>
            <a:r>
              <a:t>(Weaknesses + Threats)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0" y="3474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320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Develop bioethanol supply chain resilience.</a:t>
            </a:r>
            <a:br/>
            <a:r>
              <a:t>Build digital consumer engagement before EV</a:t>
            </a:r>
            <a:br/>
            <a:r>
              <a:t>substitution accelerates gasoline demand decline.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7772400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7909560"/>
            <a:ext cx="1619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▸ Promotional failure (W1) is the primary constraint: without resolving it, SO strategies around product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  certification and distribution expansion yield suboptimal returns — consumers remain unaware of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  improved availability or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0"/>
              </a:lnSpc>
              <a:spcAft>
                <a:spcPts val="3000"/>
              </a:spcAft>
              <a:defRPr sz="15000" b="1">
                <a:solidFill>
                  <a:srgbClr val="EEF0F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74320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566160"/>
            <a:ext cx="16194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  <a:spcAft>
                <a:spcPts val="1280"/>
              </a:spcAft>
              <a:defRPr sz="6400" b="1">
                <a:solidFill>
                  <a:srgbClr val="16191C"/>
                </a:solidFill>
                <a:latin typeface="Arial"/>
              </a:defRPr>
            </a:pPr>
            <a:r>
              <a:t>Strategy Design:</a:t>
            </a:r>
            <a:br/>
            <a:r>
              <a:t>STP + Integrated 7P Marketing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1206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0">
                <a:solidFill>
                  <a:srgbClr val="5B625F"/>
                </a:solidFill>
                <a:latin typeface="Arial"/>
              </a:defRPr>
            </a:pPr>
            <a:r>
              <a:t>Three-stage logic: Diagnostic → TOWS Match → STP Target → 7P Execution</a:t>
            </a:r>
          </a:p>
        </p:txBody>
      </p:sp>
      <p:pic>
        <p:nvPicPr>
          <p:cNvPr id="7" name="Picture 6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STRATEGY  ·  STP: SEGMENTATION &amp;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Primary Target: Green-Affluent Urban Professionals (25–44, 10–50M IDR, High Eco-Concern)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8046720" cy="320040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286000"/>
            <a:ext cx="80467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4231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Green-Affluent</a:t>
            </a:r>
            <a:br/>
            <a:r>
              <a:t>Urban Professionals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310896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16.13% share  |  45% usage</a:t>
            </a:r>
            <a:br/>
            <a:r>
              <a:t>Age 25–44  |  10–50M IDR</a:t>
            </a:r>
            <a:br/>
            <a:r>
              <a:t>High eco-concern  |  Digital-native</a:t>
            </a:r>
            <a:br/>
            <a:br/>
            <a:r>
              <a:t>PRIMARY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2286000"/>
            <a:ext cx="8046720" cy="32004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286000"/>
            <a:ext cx="80467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24231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Eco-Activist</a:t>
            </a:r>
            <a:br/>
            <a:r>
              <a:t>Early Adopters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310896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26.61% share  |  42% usage</a:t>
            </a:r>
            <a:br/>
            <a:r>
              <a:t>All ages  |  Very high eco-concern</a:t>
            </a:r>
            <a:br/>
            <a:r>
              <a:t>Availability/awareness gaps</a:t>
            </a:r>
            <a:br/>
            <a:br/>
            <a:r>
              <a:t>RETENTION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5760720"/>
            <a:ext cx="8046720" cy="32004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5760720"/>
            <a:ext cx="80467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58978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8A7A3F"/>
                </a:solidFill>
                <a:latin typeface="Arial"/>
              </a:defRPr>
            </a:pPr>
            <a:r>
              <a:t>Conservative</a:t>
            </a:r>
            <a:br/>
            <a:r>
              <a:t>Established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9" y="658368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5.65% share  |  57% usage</a:t>
            </a:r>
            <a:br/>
            <a:r>
              <a:t>Age 35–54  |  &gt;20M IDR</a:t>
            </a:r>
            <a:br/>
            <a:r>
              <a:t>Moderate eco-concern</a:t>
            </a:r>
            <a:br/>
            <a:r>
              <a:t>Need performance evidence</a:t>
            </a:r>
            <a:br/>
            <a:br/>
            <a:r>
              <a:t>CONVERSION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5760720"/>
            <a:ext cx="8046720" cy="32004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5760720"/>
            <a:ext cx="80467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19" y="58978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8A9099"/>
                </a:solidFill>
                <a:latin typeface="Arial"/>
              </a:defRPr>
            </a:pPr>
            <a:r>
              <a:t>Price-Sensitive</a:t>
            </a:r>
            <a:br/>
            <a:r>
              <a:t>Young Commuters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19" y="658368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2.42% share  |  33% usage</a:t>
            </a:r>
            <a:br/>
            <a:r>
              <a:t>Age 18–34  |  &lt;10M IDR</a:t>
            </a:r>
            <a:br/>
            <a:r>
              <a:t>Motorcycle-dominant</a:t>
            </a:r>
            <a:br/>
            <a:r>
              <a:t>Price incentives required</a:t>
            </a:r>
            <a:br/>
            <a:br/>
            <a:r>
              <a:t>BROAD TACTICS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7132320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7315200"/>
            <a:ext cx="16194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A6E4F"/>
                </a:solidFill>
                <a:latin typeface="Arial"/>
              </a:defRPr>
            </a:pPr>
            <a:r>
              <a:t>TARGETING PRIORITY: Retention (54% current users) → Conversion (22.6% aware non-triers) → Acquisition (~15% unaware eco-concerned)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STRATEGY  · 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Uncontested 'Green Premium': Certified RON 95 + Verified Eco-Benefits at Mid-Market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2926080"/>
            <a:ext cx="12801600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18288" cy="3657600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675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8A9099"/>
                </a:solidFill>
                <a:latin typeface="Arial"/>
              </a:defRPr>
            </a:pPr>
            <a: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8A9099"/>
                </a:solidFill>
                <a:latin typeface="Arial"/>
              </a:defRPr>
            </a:pPr>
            <a:r>
              <a:t>ENVIRONMENTAL</a:t>
            </a:r>
            <a:br/>
            <a:r>
              <a:t>CREDIBILITY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HIGH PRICE / LOW ECO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HIGH PRICE / HIGH ECO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LOW PRICE / LOW 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8A9099"/>
                </a:solidFill>
                <a:latin typeface="Arial"/>
              </a:defRPr>
            </a:pPr>
            <a:r>
              <a:t>LOW PRICE / HIGH 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6080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Pertalite RON 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Pertamax RON 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8A7A3F"/>
                </a:solidFill>
                <a:latin typeface="Arial"/>
              </a:defRPr>
            </a:pPr>
            <a:r>
              <a:t>Pertamax Turbo RON 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977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0492F"/>
                </a:solidFill>
                <a:latin typeface="Arial"/>
              </a:defRPr>
            </a:pPr>
            <a:r>
              <a:t>Shell V-Power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006699"/>
                </a:solidFill>
                <a:latin typeface="Arial"/>
              </a:defRPr>
            </a:pPr>
            <a:r>
              <a:t>BP Ultimate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00"/>
              </a:spcAft>
              <a:defRPr sz="1500" b="1">
                <a:solidFill>
                  <a:srgbClr val="1A6E4F"/>
                </a:solidFill>
                <a:latin typeface="Arial"/>
              </a:defRPr>
            </a:pPr>
            <a:r>
              <a:t>Pertamax Green 95 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7498079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7680960"/>
            <a:ext cx="16194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For environmentally conscious Indonesian vehicle owners aged 25–44 with household income above 10M IDR,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Pertamax Green 95 is the premium fuel that delivers certified RON 95 engine performance while reducing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carbon emissions through 5% bioethanol from Indonesian sugarcane. Unlike conventional Pertamax or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imported alternatives, Pertamax Green 95 offers independently verified environmental impact transparency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0">
                <a:solidFill>
                  <a:srgbClr val="16191C"/>
                </a:solidFill>
                <a:latin typeface="Arial"/>
              </a:defRPr>
            </a:pPr>
            <a:r>
              <a:t>combined with national agricultural community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STRATEGY  ·  INTEGRATED 7P MARKETING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Seven Coordinated Programs Addressing Five Prioritized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164592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7P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286000"/>
            <a:ext cx="146304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86000"/>
            <a:ext cx="822960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331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Core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90120" y="2286000"/>
            <a:ext cx="91440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0" y="2331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286000"/>
            <a:ext cx="914400" cy="457200"/>
          </a:xfrm>
          <a:prstGeom prst="rect">
            <a:avLst/>
          </a:prstGeom>
          <a:solidFill>
            <a:srgbClr val="1A6E4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0" y="2331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743200"/>
            <a:ext cx="164592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78892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743200"/>
            <a:ext cx="146304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0632" y="278892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3.603 → 3.700+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82296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278892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Verified Bioethanol Transparency Program; Vehicle-segment communication; Pump labeling &amp; manufacturer co-endorsement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90120" y="274320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63272" y="278892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F8A4A"/>
                </a:solidFill>
                <a:latin typeface="Arial"/>
              </a:defRPr>
            </a:pPr>
            <a:r>
              <a:t>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04520" y="274320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77672" y="278892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3611880"/>
            <a:ext cx="164592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365760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3611880"/>
            <a:ext cx="146304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365760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3.079 → 3.400+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3611880"/>
            <a:ext cx="82296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3672" y="365760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Green Value Guarantee dashboard; First-fill 10–15% trial credit; Motorcycle fixed-price bundle pilot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90120" y="361188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63272" y="365760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F8A4A"/>
                </a:solidFill>
                <a:latin typeface="Arial"/>
              </a:defRPr>
            </a:pPr>
            <a:r>
              <a:t>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304520" y="361188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77672" y="365760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480560"/>
            <a:ext cx="164592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712" y="452628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PLACE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480560"/>
            <a:ext cx="146304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452628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3.356 → 3.600+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82296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33672" y="452628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Java densification to ~1,950 stations (30%); Denpasar/Medan pilots; supply security; MyPertamina real-time locator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390120" y="448056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63272" y="452628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0492F"/>
                </a:solidFill>
                <a:latin typeface="Arial"/>
              </a:defRPr>
            </a:pPr>
            <a:r>
              <a:t>SO/WT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304520" y="448056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77672" y="452628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5349240"/>
            <a:ext cx="164592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" y="5394959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PROMOTION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5349240"/>
            <a:ext cx="146304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70632" y="5394959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2.848 → 3.200+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349240"/>
            <a:ext cx="82296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3672" y="5394959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Always-on digital (IG/YT/TT); 20–30 automotive ambassadors; 500 awareness panels at non-stocking stations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90120" y="534924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63272" y="5394959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304520" y="534924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77672" y="5394959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0492F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" y="6217920"/>
            <a:ext cx="164592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4712" y="626364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6217920"/>
            <a:ext cx="146304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70632" y="626364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3.762 → 3.900+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6217920"/>
            <a:ext cx="82296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33672" y="626364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Ambassador Certification (4-module); Sales-linked incentive &amp; badge; Technical escalation protocol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90120" y="621792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63272" y="626364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304520" y="6217920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377672" y="626364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" y="7086600"/>
            <a:ext cx="164592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4712" y="713232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80" y="7086600"/>
            <a:ext cx="146304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70632" y="713232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3.869 → 4.000+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20" y="7086600"/>
            <a:ext cx="82296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33672" y="713232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Proximity push alerts; Green Impact Receipt (CO₂/farmer link); Gamification &amp; pump-screen animation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390120" y="708660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463272" y="713232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C0492F"/>
                </a:solidFill>
                <a:latin typeface="Arial"/>
              </a:defRPr>
            </a:pPr>
            <a:r>
              <a:t>WO/WT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304520" y="7086600"/>
            <a:ext cx="914400" cy="82296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377672" y="713232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Med-Low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1560" y="7955279"/>
            <a:ext cx="164592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4712" y="8001000"/>
            <a:ext cx="1499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16191C"/>
                </a:solidFill>
                <a:latin typeface="Arial"/>
              </a:defRPr>
            </a:pPr>
            <a:r>
              <a:t>PHYSICAL</a:t>
            </a:r>
            <a:br/>
            <a:r>
              <a:t>EVIDENCE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97480" y="7955279"/>
            <a:ext cx="146304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70632" y="8001000"/>
            <a:ext cx="1316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3.851 → 3.800+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60520" y="7955279"/>
            <a:ext cx="82296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33672" y="8001000"/>
            <a:ext cx="8083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40"/>
              </a:spcAft>
              <a:defRPr sz="1200" b="0">
                <a:solidFill>
                  <a:srgbClr val="16191C"/>
                </a:solidFill>
                <a:latin typeface="Arial"/>
              </a:defRPr>
            </a:pPr>
            <a:r>
              <a:t>Green Zone 5-element package; Monthly Green Impact Poster; Shared visual ID on awareness panels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390120" y="7955279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463272" y="800100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A6E4F"/>
                </a:solidFill>
                <a:latin typeface="Arial"/>
              </a:defRPr>
            </a:pPr>
            <a:r>
              <a:t>SO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304520" y="7955279"/>
            <a:ext cx="914400" cy="822960"/>
          </a:xfrm>
          <a:prstGeom prst="rect">
            <a:avLst/>
          </a:prstGeom>
          <a:solidFill>
            <a:srgbClr val="BFE0D2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77672" y="8001000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260"/>
              </a:spcAft>
              <a:defRPr sz="1300" b="0">
                <a:solidFill>
                  <a:srgbClr val="16191C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1560" y="8503920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1560" y="8641080"/>
            <a:ext cx="16194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52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▸ Promotion is the foundational prerequisite — without awareness, Place/Product/Price improvements cannot generate trial among the 44.4% unaware/untried.</a:t>
            </a:r>
          </a:p>
          <a:p>
            <a:pPr algn="l">
              <a:lnSpc>
                <a:spcPts val="1820"/>
              </a:lnSpc>
              <a:spcAft>
                <a:spcPts val="252"/>
              </a:spcAft>
              <a:defRPr sz="1400" b="0">
                <a:solidFill>
                  <a:srgbClr val="16191C"/>
                </a:solidFill>
                <a:latin typeface="Arial"/>
              </a:defRPr>
            </a:pPr>
            <a:r>
              <a:t>▸ Place expansion constrained by bioethanol supply (SWOT T3) — supply &amp; distribution commitments must precede or accompany promotional scale-up.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STRATEGY  ·  PRIORITY INTERVENTIONS: PROMOTION &amp;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Digital-First Promotion + Data-Driven Distribution Densification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777240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1A6E4F"/>
                </a:solidFill>
                <a:latin typeface="Arial"/>
              </a:defRPr>
            </a:pPr>
            <a:r>
              <a:t>PROMOTION (Critical Priority)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Always-On Digital Content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004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Monthly content on Instagram, YouTube, TikTok: Green Impact Series, Mojokerto Farmer Series, Engine Truth Series. A/B tested, 3-month production sprint.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Automotive Ambassador &amp; Community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292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20–30 creators (5M+ combined reach): mechanics &amp; reviewers &gt; lifestyle influencers. Mass trial events with before/after efficiency measurement.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Point-of-Purchase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68580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Awareness panels + QR at 500 highest-traffic non-stocking stations. MyPertamina contextual push when refueling nearby.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777240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1A6E4F"/>
                </a:solidFill>
                <a:latin typeface="Arial"/>
              </a:defRPr>
            </a:pPr>
            <a:r>
              <a:t>PLACE (High Priority)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834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Data-Driven Java Densification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0040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Distribution Acceleration Task Force (VP Retail Fuel Sales chair). GPS-traffic model ranks stations → target ~1,950 stations (30%) by Month 24.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297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Controlled Non-Java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66344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Pilots: 5+ stations each in Denpasar &amp; Medan (Month 12–24). Extend only where pilot volume ≥ Java average.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760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7607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Supply Security Before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12648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Contingency contracts with secondary bioethanol producers + ESDM-authorized ethanol imports as bridge supply (Month 1–6).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7223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40"/>
              </a:spcAft>
              <a:defRPr sz="2200" b="1">
                <a:solidFill>
                  <a:srgbClr val="1A6E4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7223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320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MyPertamina Green 95 Locator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758952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Real-time stock status locator live by Month 4. Removes off-route deterrence (P3.1 = 2.210).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80467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IMPLEMENTATION  ·  GUARANTEES &amp;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197864"/>
            <a:ext cx="1371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720"/>
              </a:spcAft>
              <a:defRPr sz="3600" b="1">
                <a:solidFill>
                  <a:srgbClr val="16191C"/>
                </a:solidFill>
                <a:latin typeface="Arial"/>
              </a:defRPr>
            </a:pPr>
            <a:r>
              <a:t>Four Structural Guarantees Enable Strategy Execution; 12-Month Targets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975104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286000"/>
            <a:ext cx="39319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880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Green 95 Implementation Committee</a:t>
            </a:r>
            <a:br/>
            <a:r>
              <a:t>(Dir. Regional Marketing chair)</a:t>
            </a:r>
            <a:br/>
            <a:r>
              <a:t>Fast-track station approval pathway</a:t>
            </a:r>
            <a:br/>
            <a:r>
              <a:t>Quarterly 7P KPI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8A9099"/>
                </a:solidFill>
                <a:latin typeface="Arial"/>
              </a:defRPr>
            </a:pPr>
            <a:r>
              <a:t>Targeted 7P: P3, P4</a:t>
            </a:r>
            <a:br/>
            <a:r>
              <a:t>(all 7Ps)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19" y="5577840"/>
            <a:ext cx="36576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5715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12-Month KPI: CLI 3.552 → 3.800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2286000"/>
            <a:ext cx="39319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HUMAN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880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Ambassador Certification (mandatory)</a:t>
            </a:r>
            <a:br/>
            <a:r>
              <a:t>Digital Marketing Unit (3–5 FTEs)</a:t>
            </a:r>
            <a:br/>
            <a:r>
              <a:t>Sales-linked incentive scheme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8A9099"/>
                </a:solidFill>
                <a:latin typeface="Arial"/>
              </a:defRPr>
            </a:pPr>
            <a:r>
              <a:t>Targeted 7P: P4, 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5577840"/>
            <a:ext cx="36576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5715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12-Month KPI: P5.1 → 3.800</a:t>
            </a:r>
            <a:br/>
            <a:r>
              <a:t>P4 team launched 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4040" y="2286000"/>
            <a:ext cx="39319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FINANCIAL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Dedicated RKAP budget line</a:t>
            </a:r>
            <a:br/>
            <a:r>
              <a:t>BPDP-KS/ESDM grant pursuit</a:t>
            </a:r>
            <a:br/>
            <a:r>
              <a:t>Phased capex: Promo/PhysEvid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8A9099"/>
                </a:solidFill>
                <a:latin typeface="Arial"/>
              </a:defRPr>
            </a:pPr>
            <a:r>
              <a:t>Targeted 7P: All 7Ps</a:t>
            </a:r>
            <a:br/>
            <a:r>
              <a:t>(Priority P4+P3)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5577840"/>
            <a:ext cx="36576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5715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12-Month KPI: Promo budget deployed Q1</a:t>
            </a:r>
            <a:br/>
            <a:r>
              <a:t>Cost per new user tracked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670280" y="2286000"/>
            <a:ext cx="3931920" cy="5029200"/>
          </a:xfrm>
          <a:prstGeom prst="rect">
            <a:avLst/>
          </a:prstGeom>
          <a:solidFill>
            <a:srgbClr val="FFFFFF"/>
          </a:solidFill>
          <a:ln w="5461"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670280" y="2286000"/>
            <a:ext cx="3931920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60"/>
              </a:spcAft>
              <a:defRPr sz="1800" b="1">
                <a:solidFill>
                  <a:srgbClr val="1A6E4F"/>
                </a:solidFill>
                <a:latin typeface="Arial"/>
              </a:defRPr>
            </a:pPr>
            <a:r>
              <a:t>INFORMATION</a:t>
            </a:r>
            <a:br/>
            <a:r>
              <a:t>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07440" y="2880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260"/>
              </a:spcAft>
              <a:defRPr sz="1300" b="0">
                <a:solidFill>
                  <a:srgbClr val="4A4F54"/>
                </a:solidFill>
                <a:latin typeface="Arial"/>
              </a:defRPr>
            </a:pPr>
            <a:r>
              <a:t>MyPertamina Green 95 Roadmap (3 phases)</a:t>
            </a:r>
            <a:br/>
            <a:r>
              <a:t>Locator (M4) → Green Impact Receipt (M8)</a:t>
            </a:r>
            <a:br/>
            <a:r>
              <a:t>→ Gamification (M12) + analytics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60"/>
              </a:spcAft>
              <a:defRPr sz="1300" b="1">
                <a:solidFill>
                  <a:srgbClr val="8A9099"/>
                </a:solidFill>
                <a:latin typeface="Arial"/>
              </a:defRPr>
            </a:pPr>
            <a:r>
              <a:t>Targeted 7P: P3, P2, P6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07440" y="5577840"/>
            <a:ext cx="3657600" cy="36576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0" y="5715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280"/>
              </a:spcAft>
              <a:defRPr sz="1400" b="1">
                <a:solidFill>
                  <a:srgbClr val="16191C"/>
                </a:solidFill>
                <a:latin typeface="Arial"/>
              </a:defRPr>
            </a:pPr>
            <a:r>
              <a:t>12-Month KPI: P6.4 → 3.800</a:t>
            </a:r>
            <a:br/>
            <a:r>
              <a:t>Locator live Month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7772400"/>
            <a:ext cx="16194024" cy="45720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7909560"/>
            <a:ext cx="1619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88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PROJECTED 12-MONTH OUTCOMES (Directional):</a:t>
            </a:r>
          </a:p>
          <a:p>
            <a:pPr algn="l">
              <a:lnSpc>
                <a:spcPts val="2080"/>
              </a:lnSpc>
              <a:spcAft>
                <a:spcPts val="288"/>
              </a:spcAft>
              <a:defRPr sz="1600" b="1">
                <a:solidFill>
                  <a:srgbClr val="16191C"/>
                </a:solidFill>
                <a:latin typeface="Arial"/>
              </a:defRPr>
            </a:pPr>
            <a:r>
              <a:t>Overall 7Ps Mean: 3.449 → 3.65–3.70  |  Composite Loyalty Index: 3.552 → 3.80  |  NPS: −12.1% → Positive Territory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2286000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7772400"/>
            <a:ext cx="16194024" cy="13716"/>
          </a:xfrm>
          <a:prstGeom prst="rect">
            <a:avLst/>
          </a:prstGeom>
          <a:solidFill>
            <a:srgbClr val="E3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3200400"/>
            <a:ext cx="420624" cy="27432"/>
          </a:xfrm>
          <a:prstGeom prst="rect">
            <a:avLst/>
          </a:prstGeom>
          <a:solidFill>
            <a:srgbClr val="1A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0"/>
            <a:ext cx="16194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1440"/>
              </a:spcAft>
              <a:defRPr sz="7200" b="1">
                <a:solidFill>
                  <a:srgbClr val="16191C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16194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Aft>
                <a:spcPts val="880"/>
              </a:spcAft>
              <a:defRPr sz="4400" b="0">
                <a:solidFill>
                  <a:srgbClr val="1A6E4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619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320"/>
              </a:spcAft>
              <a:defRPr sz="1600" b="0">
                <a:solidFill>
                  <a:srgbClr val="8A9099"/>
                </a:solidFill>
                <a:latin typeface="Arial"/>
              </a:defRPr>
            </a:pPr>
            <a:r>
              <a:t>Research on the Marketing Strategy of Pertamina's Pertamax Green 95 in the Indonesian Market</a:t>
            </a:r>
          </a:p>
        </p:txBody>
      </p:sp>
      <p:pic>
        <p:nvPicPr>
          <p:cNvPr id="8" name="Picture 7" descr="neu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36" y="822960"/>
            <a:ext cx="1984248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8229600"/>
            <a:ext cx="16194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80"/>
              </a:spcAft>
              <a:defRPr sz="1400" b="0">
                <a:solidFill>
                  <a:srgbClr val="8A9099"/>
                </a:solidFill>
                <a:latin typeface="Arial"/>
              </a:defRPr>
            </a:pPr>
            <a:r>
              <a:t>Northeastern University  ·  School of Business Administration  ·  MBA Thesis Defense  ·  December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