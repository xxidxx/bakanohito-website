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02920"/>
            <a:ext cx="235586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8229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MBA THESIS PRE-DEFENSE · [MONTH YEAR]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103120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01752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GRADUATE SCHOOL OF BUSINESS · MBA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977639"/>
            <a:ext cx="1618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200" b="1">
                <a:solidFill>
                  <a:srgbClr val="16191C"/>
                </a:solidFill>
                <a:latin typeface="Arial"/>
              </a:rPr>
              <a:t>Marketing Strategy of </a:t>
            </a:r>
            <a:r>
              <a:rPr sz="5200" b="1">
                <a:solidFill>
                  <a:srgbClr val="1A6E4F"/>
                </a:solidFill>
                <a:latin typeface="Arial"/>
              </a:rPr>
              <a:t>Pertamax Green 95</a:t>
            </a:r>
            <a:r>
              <a:rPr sz="5200" b="1">
                <a:solidFill>
                  <a:srgbClr val="16191C"/>
                </a:solidFill>
                <a:latin typeface="Arial"/>
              </a:rPr>
              <a:t>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200" b="1">
                <a:solidFill>
                  <a:srgbClr val="16191C"/>
                </a:solidFill>
                <a:latin typeface="Arial"/>
              </a:rPr>
              <a:t>Pre-Defense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3504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5B625F"/>
                </a:solidFill>
                <a:latin typeface="Arial"/>
              </a:rPr>
              <a:t>Research on the Marketing Strategy of Pertamina's Pertamax Green 95 in the Indonesian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7589520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7955279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Candidate:  </a:t>
            </a:r>
            <a:r>
              <a:rPr sz="1800" b="1">
                <a:solidFill>
                  <a:srgbClr val="34383C"/>
                </a:solidFill>
                <a:latin typeface="Arial"/>
              </a:rPr>
              <a:t>Id Arifandi  ·  [NIM]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Supervisor:  </a:t>
            </a:r>
            <a:r>
              <a:rPr sz="1800" b="0">
                <a:solidFill>
                  <a:srgbClr val="34383C"/>
                </a:solidFill>
                <a:latin typeface="Arial"/>
              </a:rPr>
              <a:t>[Prof. Dr. Name]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Date:  </a:t>
            </a:r>
            <a:r>
              <a:rPr sz="1800" b="0">
                <a:solidFill>
                  <a:srgbClr val="34383C"/>
                </a:solidFill>
                <a:latin typeface="Arial"/>
              </a:rPr>
              <a:t>[DD Month 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280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PRE-DEFENSE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900" b="1">
                <a:solidFill>
                  <a:srgbClr val="16191C"/>
                </a:solidFill>
                <a:latin typeface="Arial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3882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3774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A6E4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377440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6191C"/>
                </a:solidFill>
                <a:latin typeface="Arial"/>
              </a:rPr>
              <a:t>Research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83464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Industry context, green fuel transition, and why Pertamax Green 95 matters.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931920"/>
            <a:ext cx="987552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690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A6E4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4069080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6191C"/>
                </a:solidFill>
                <a:latin typeface="Arial"/>
              </a:rPr>
              <a:t>Problem Statement &amp;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52628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Research questions, objectives, scope, and significance.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5623560"/>
            <a:ext cx="987552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76072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A6E4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760720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6191C"/>
                </a:solidFill>
                <a:latin typeface="Arial"/>
              </a:rPr>
              <a:t>Literature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621792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Theoretical foundation: STP, marketing mix (7P), consumer behavior.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7315200"/>
            <a:ext cx="987552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745236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A6E4F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7452360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6191C"/>
                </a:solidFill>
                <a:latin typeface="Arial"/>
              </a:rPr>
              <a:t>Research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790956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Design, data sources, sampling, and analysis framework.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9006840"/>
            <a:ext cx="987552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914400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A6E4F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9144000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6191C"/>
                </a:solidFill>
                <a:latin typeface="Arial"/>
              </a:rPr>
              <a:t>Preliminary Findings &amp;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96012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Expected outcomes, contribution, and research timeline.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10698480"/>
            <a:ext cx="987552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12880" y="2377440"/>
            <a:ext cx="5632704" cy="7315200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78640" y="2651760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FE0D2"/>
                </a:solidFill>
                <a:latin typeface="Arial"/>
              </a:rPr>
              <a:t>GOAL OF THIS DEFENSE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78640" y="3154680"/>
            <a:ext cx="4901184" cy="6309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Obtain committee feedback and approval to proceed with the full research on Pertamax Green 95's marketing strategy for the Indonesian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011680"/>
            <a:ext cx="7315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0" b="1">
                <a:solidFill>
                  <a:srgbClr val="EEF0F2"/>
                </a:solidFill>
                <a:latin typeface="Arial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379476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02336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572000"/>
            <a:ext cx="1618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300" b="1">
                <a:solidFill>
                  <a:srgbClr val="16191C"/>
                </a:solidFill>
                <a:latin typeface="Arial"/>
              </a:rPr>
              <a:t>Research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1618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50" b="0">
                <a:solidFill>
                  <a:srgbClr val="5B625F"/>
                </a:solidFill>
                <a:latin typeface="Arial"/>
              </a:rPr>
              <a:t>Context of Indonesia's fuel market and green energy transition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280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ONE · RESEARCH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900" b="1">
                <a:solidFill>
                  <a:srgbClr val="16191C"/>
                </a:solidFill>
                <a:latin typeface="Arial"/>
              </a:rPr>
              <a:t>Fuel market shifting toward cleaner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3882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377440"/>
            <a:ext cx="5212080" cy="256032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500" b="1">
                <a:solidFill>
                  <a:srgbClr val="16191C"/>
                </a:solidFill>
                <a:latin typeface="Arial"/>
              </a:rPr>
              <a:t>[XX]%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88620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B625F"/>
                </a:solidFill>
                <a:latin typeface="Arial"/>
              </a:rPr>
              <a:t>Fuel demand growth in Indonesia, [year] — transport sector dominates consumption.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2377440"/>
            <a:ext cx="5212080" cy="256032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606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500" b="1">
                <a:solidFill>
                  <a:srgbClr val="C0492F"/>
                </a:solidFill>
                <a:latin typeface="Arial"/>
              </a:rPr>
              <a:t>[XX]%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88620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B625F"/>
                </a:solidFill>
                <a:latin typeface="Arial"/>
              </a:rPr>
              <a:t>Pertalite market share — subsidized fuel still dominates retail volume.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377440"/>
            <a:ext cx="5212080" cy="256032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98680" y="2606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500" b="1">
                <a:solidFill>
                  <a:srgbClr val="1A6E4F"/>
                </a:solidFill>
                <a:latin typeface="Arial"/>
              </a:rPr>
              <a:t>RP [X]T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98680" y="388620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B625F"/>
                </a:solidFill>
                <a:latin typeface="Arial"/>
              </a:rPr>
              <a:t>Government target / investment for green energy transition by [year].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39496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852160"/>
            <a:ext cx="1618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0">
                <a:solidFill>
                  <a:srgbClr val="4A4F54"/>
                </a:solidFill>
                <a:latin typeface="Arial"/>
              </a:rPr>
              <a:t>Pertamina launched </a:t>
            </a:r>
            <a:r>
              <a:rPr sz="2100" b="1">
                <a:solidFill>
                  <a:srgbClr val="16191C"/>
                </a:solidFill>
                <a:latin typeface="Arial"/>
              </a:rPr>
              <a:t>Pertamax Green 95</a:t>
            </a:r>
            <a:r>
              <a:rPr sz="2100" b="0">
                <a:solidFill>
                  <a:srgbClr val="4A4F54"/>
                </a:solidFill>
                <a:latin typeface="Arial"/>
              </a:rPr>
              <a:t> as a bioethanol-blended gasoline (E5) to bridge the transition toward low-emission fuels in the Indonesian market.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1">
                <a:solidFill>
                  <a:srgbClr val="1A6E4F"/>
                </a:solidFill>
                <a:latin typeface="Arial"/>
              </a:rPr>
              <a:t>Adoption remains below target — the core driver of this research.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280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ONE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900" b="1">
                <a:solidFill>
                  <a:srgbClr val="16191C"/>
                </a:solidFill>
                <a:latin typeface="Arial"/>
              </a:rPr>
              <a:t>Adoption lags behind launch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3882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68880"/>
            <a:ext cx="36576" cy="1371600"/>
          </a:xfrm>
          <a:prstGeom prst="rect">
            <a:avLst/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7452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7452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4A4F54"/>
                </a:solidFill>
                <a:latin typeface="Arial"/>
              </a:rPr>
              <a:t>Despite national launch and Pertamina's brand strength, Pertamax Green 95 sales volume reaches only [X]% of target in [region/period].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480560"/>
            <a:ext cx="36576" cy="1371600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480560"/>
            <a:ext cx="7452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KNOWLEDGE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92040"/>
            <a:ext cx="7452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4A4F54"/>
                </a:solidFill>
                <a:latin typeface="Arial"/>
              </a:rPr>
              <a:t>No prior study has examined the marketing strategy of bioethanol-blended gasoline in Indonesia using an integrated STP + 7P framework.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4688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RESEARCH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9718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4A4F54"/>
                </a:solidFill>
                <a:latin typeface="Arial"/>
              </a:rPr>
              <a:t>RQ1 — How is the current marketing mix (7P) of Pertamax Green 95 implemented?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3767328"/>
            <a:ext cx="768096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9319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4A4F54"/>
                </a:solidFill>
                <a:latin typeface="Arial"/>
              </a:rPr>
              <a:t>RQ2 — What internal and external factors shape its market performance?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4727448"/>
            <a:ext cx="768096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8920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4A4F54"/>
                </a:solidFill>
                <a:latin typeface="Arial"/>
              </a:rPr>
              <a:t>RQ3 — What marketing strategy should Pertamina adopt to increase adoption?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6492240"/>
            <a:ext cx="1618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6191C"/>
                </a:solidFill>
                <a:latin typeface="Arial"/>
              </a:rPr>
              <a:t>Objectives:  </a:t>
            </a:r>
            <a:r>
              <a:rPr sz="2100" b="0">
                <a:solidFill>
                  <a:srgbClr val="4A4F54"/>
                </a:solidFill>
                <a:latin typeface="Arial"/>
              </a:rPr>
              <a:t>(1) evaluate the current marketing mix; (2) diagnose market barriers via SWOT/PESTLE; </a:t>
            </a:r>
            <a:r>
              <a:rPr sz="2100" b="1">
                <a:solidFill>
                  <a:srgbClr val="1A6E4F"/>
                </a:solidFill>
                <a:latin typeface="Arial"/>
              </a:rPr>
              <a:t>(3) formulate a data-driven marketing strategy</a:t>
            </a:r>
            <a:r>
              <a:rPr sz="2100" b="0">
                <a:solidFill>
                  <a:srgbClr val="4A4F54"/>
                </a:solidFill>
                <a:latin typeface="Arial"/>
              </a:rPr>
              <a:t> for Pertamax Green 95.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011680"/>
            <a:ext cx="7315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0" b="1">
                <a:solidFill>
                  <a:srgbClr val="EEF0F2"/>
                </a:solidFill>
                <a:latin typeface="Arial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379476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02336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572000"/>
            <a:ext cx="1618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300" b="1">
                <a:solidFill>
                  <a:srgbClr val="16191C"/>
                </a:solidFill>
                <a:latin typeface="Arial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1618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50" b="0">
                <a:solidFill>
                  <a:srgbClr val="5B625F"/>
                </a:solidFill>
                <a:latin typeface="Arial"/>
              </a:rPr>
              <a:t>Theoretical foundation and conceptual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280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TWO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900" b="1">
                <a:solidFill>
                  <a:srgbClr val="16191C"/>
                </a:solidFill>
                <a:latin typeface="Arial"/>
              </a:rPr>
              <a:t>Three pillars support the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3882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377440"/>
            <a:ext cx="5212080" cy="603504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377440"/>
            <a:ext cx="5212080" cy="54864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974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6191C"/>
                </a:solidFill>
                <a:latin typeface="Arial"/>
              </a:rPr>
              <a:t>STP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918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A6E4F"/>
                </a:solidFill>
                <a:latin typeface="Arial"/>
              </a:rPr>
              <a:t>SEGMENTATION · TARGETING ·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297680"/>
            <a:ext cx="46634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Identifying priority consumer segments for green gasoline and sharpening Pertamax Green 95's positioning vs Pertalite/Pertamax.  (Kotler &amp; Keller, [year])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377440"/>
            <a:ext cx="5212080" cy="603504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2377440"/>
            <a:ext cx="5212080" cy="54864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6974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6191C"/>
                </a:solidFill>
                <a:latin typeface="Arial"/>
              </a:rPr>
              <a:t>7P Marketing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2918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A6E4F"/>
                </a:solidFill>
                <a:latin typeface="Arial"/>
              </a:rPr>
              <a:t>PRODUCT · PRICE · PLACE · PROMOTION · PEOPLE · PROCESS · PHYSICAL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297680"/>
            <a:ext cx="46634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Diagnosing the current service-dominant marketing mix of a fuel retail product.  (Booms &amp; Bitner, [year])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24360" y="2377440"/>
            <a:ext cx="5212080" cy="603504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24360" y="2377440"/>
            <a:ext cx="5212080" cy="54864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98680" y="26974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50" b="1">
                <a:solidFill>
                  <a:srgbClr val="16191C"/>
                </a:solidFill>
                <a:latin typeface="Arial"/>
              </a:rPr>
              <a:t>Consumer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98680" y="32918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A6E4F"/>
                </a:solidFill>
                <a:latin typeface="Arial"/>
              </a:rPr>
              <a:t>AWARENESS · PERCEPTION ·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98680" y="4297680"/>
            <a:ext cx="46634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75" b="0">
                <a:solidFill>
                  <a:srgbClr val="4A4F54"/>
                </a:solidFill>
                <a:latin typeface="Arial"/>
              </a:rPr>
              <a:t>Explaining green-fuel adoption barriers: price sensitivity, perceived quality, environmental concern.  ([Author, year])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8778240"/>
            <a:ext cx="1618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4A4F54"/>
                </a:solidFill>
                <a:latin typeface="Arial"/>
              </a:rPr>
              <a:t>Conceptual framework: </a:t>
            </a:r>
            <a:r>
              <a:rPr sz="2100" b="1">
                <a:solidFill>
                  <a:srgbClr val="16191C"/>
                </a:solidFill>
                <a:latin typeface="Arial"/>
              </a:rPr>
              <a:t>Internal &amp; external analysis (SWOT, PESTLE, Porter)  →  STP  →  7P strategy formulation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011680"/>
            <a:ext cx="7315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0" b="1">
                <a:solidFill>
                  <a:srgbClr val="EEF0F2"/>
                </a:solidFill>
                <a:latin typeface="Arial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379476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02336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572000"/>
            <a:ext cx="1618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300" b="1">
                <a:solidFill>
                  <a:srgbClr val="16191C"/>
                </a:solidFill>
                <a:latin typeface="Arial"/>
              </a:rPr>
              <a:t>Research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1618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50" b="0">
                <a:solidFill>
                  <a:srgbClr val="5B625F"/>
                </a:solidFill>
                <a:latin typeface="Arial"/>
              </a:rPr>
              <a:t>Design, data, and analysis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280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THREE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900" b="1">
                <a:solidFill>
                  <a:srgbClr val="16191C"/>
                </a:solidFill>
                <a:latin typeface="Arial"/>
              </a:rPr>
              <a:t>Mixed methods: internal data plus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3882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37744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A9099"/>
                </a:solidFill>
                <a:latin typeface="Arial"/>
              </a:rPr>
              <a:t>RESEARCH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304288"/>
            <a:ext cx="1188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34383C"/>
                </a:solidFill>
                <a:latin typeface="Arial"/>
              </a:rPr>
              <a:t>Descriptive–explanatory, mixed methods (qualitative + quantitative)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035808"/>
            <a:ext cx="1618488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930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A9099"/>
                </a:solidFill>
                <a:latin typeface="Arial"/>
              </a:rPr>
              <a:t>UNIT OF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419856"/>
            <a:ext cx="1188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34383C"/>
                </a:solidFill>
                <a:latin typeface="Arial"/>
              </a:rPr>
              <a:t>Pertamax Green 95 marketing program, Pertamina [Region/Area]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151376"/>
            <a:ext cx="1618488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6085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A9099"/>
                </a:solidFill>
                <a:latin typeface="Arial"/>
              </a:rPr>
              <a:t>PRIMARY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535424"/>
            <a:ext cx="1188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34383C"/>
                </a:solidFill>
                <a:latin typeface="Arial"/>
              </a:rPr>
              <a:t>Consumer survey (n = [X], purposive sampling) + in-depth interviews with [X] Pertamina marketing staff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5266944"/>
            <a:ext cx="1618488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72414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A9099"/>
                </a:solidFill>
                <a:latin typeface="Arial"/>
              </a:rPr>
              <a:t>SECONDARY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650992"/>
            <a:ext cx="1188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34383C"/>
                </a:solidFill>
                <a:latin typeface="Arial"/>
              </a:rPr>
              <a:t>Internal sales volume, pricing and distribution data; industry reports; ESDM regulations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6382512"/>
            <a:ext cx="1618488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683971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A9099"/>
                </a:solidFill>
                <a:latin typeface="Arial"/>
              </a:rPr>
              <a:t>ANALYSIS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6766559"/>
            <a:ext cx="1188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34383C"/>
                </a:solidFill>
                <a:latin typeface="Arial"/>
              </a:rPr>
              <a:t>SWOT + QSPM (strategy prioritization), PESTLE, Porter's Five Forces, descriptive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7498079"/>
            <a:ext cx="1618488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795527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A9099"/>
                </a:solidFill>
                <a:latin typeface="Arial"/>
              </a:rPr>
              <a:t>RESEARCH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7882127"/>
            <a:ext cx="1188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34383C"/>
                </a:solidFill>
                <a:latin typeface="Arial"/>
              </a:rPr>
              <a:t>[Month Year] – [Month Year]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8613648"/>
            <a:ext cx="16184880" cy="1270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280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THREE · PRELIMINARY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900" b="1">
                <a:solidFill>
                  <a:srgbClr val="16191C"/>
                </a:solidFill>
                <a:latin typeface="Arial"/>
              </a:rPr>
              <a:t>Early signals from internal and field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3882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377440"/>
            <a:ext cx="7955279" cy="274320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7406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500" b="1">
                <a:solidFill>
                  <a:srgbClr val="C0492F"/>
                </a:solidFill>
                <a:latin typeface="Arial"/>
              </a:rPr>
              <a:t>[X.X]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069080"/>
            <a:ext cx="7406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B625F"/>
                </a:solidFill>
                <a:latin typeface="Arial"/>
              </a:rPr>
              <a:t>Pertamax Green 95 sales volume (KL) in [period] — versus target of [X.X] M KL.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0303" y="2377440"/>
            <a:ext cx="7955279" cy="2743200"/>
          </a:xfrm>
          <a:prstGeom prst="rect">
            <a:avLst/>
          </a:prstGeom>
          <a:noFill/>
          <a:ln w="5461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64623" y="2606040"/>
            <a:ext cx="7406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500" b="1">
                <a:solidFill>
                  <a:srgbClr val="16191C"/>
                </a:solidFill>
                <a:latin typeface="Arial"/>
              </a:rPr>
              <a:t>[XX]%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4623" y="4069080"/>
            <a:ext cx="7406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B625F"/>
                </a:solidFill>
                <a:latin typeface="Arial"/>
              </a:rPr>
              <a:t>Consumer awareness of Pertamax Green 95 in preliminary field check (n=[X]).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577840"/>
            <a:ext cx="1618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WORKING 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6035040"/>
            <a:ext cx="1618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100" b="1">
                <a:solidFill>
                  <a:srgbClr val="1A6E4F"/>
                </a:solidFill>
                <a:latin typeface="Arial"/>
              </a:rPr>
              <a:t>H1: </a:t>
            </a:r>
            <a:r>
              <a:rPr sz="2100" b="0">
                <a:solidFill>
                  <a:srgbClr val="4A4F54"/>
                </a:solidFill>
                <a:latin typeface="Arial"/>
              </a:rPr>
              <a:t>Price premium over Pertalite is the primary adoption barrier for price-sensitive segments.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100" b="1">
                <a:solidFill>
                  <a:srgbClr val="1A6E4F"/>
                </a:solidFill>
                <a:latin typeface="Arial"/>
              </a:rPr>
              <a:t>H2: </a:t>
            </a:r>
            <a:r>
              <a:rPr sz="2100" b="0">
                <a:solidFill>
                  <a:srgbClr val="4A4F54"/>
                </a:solidFill>
                <a:latin typeface="Arial"/>
              </a:rPr>
              <a:t>Low promotion intensity and limited distribution coverage suppress trial and repeat purchase.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280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A6E4F"/>
                </a:solidFill>
                <a:latin typeface="Arial"/>
              </a:rPr>
              <a:t>PART THREE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900" b="1">
                <a:solidFill>
                  <a:srgbClr val="16191C"/>
                </a:solidFill>
                <a:latin typeface="Arial"/>
              </a:rPr>
              <a:t>Timeline and expected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3882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9099"/>
                </a:solidFill>
                <a:latin typeface="Arial"/>
              </a:rPr>
              <a:t>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127248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30175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34383C"/>
                </a:solidFill>
                <a:latin typeface="Arial"/>
              </a:rPr>
              <a:t>Data collection &amp;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4290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B625F"/>
                </a:solidFill>
                <a:latin typeface="Arial"/>
              </a:rPr>
              <a:t>[Mon–Mon 2026]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361688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425196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34383C"/>
                </a:solidFill>
                <a:latin typeface="Arial"/>
              </a:rPr>
              <a:t>Analysis (SWOT, QSPM, STP)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6634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B625F"/>
                </a:solidFill>
                <a:latin typeface="Arial"/>
              </a:rPr>
              <a:t>[Mon–Mon 2026]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5596128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548640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34383C"/>
                </a:solidFill>
                <a:latin typeface="Arial"/>
              </a:rPr>
              <a:t>Strategy formulation &amp; writing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8978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B625F"/>
                </a:solidFill>
                <a:latin typeface="Arial"/>
              </a:rPr>
              <a:t>[Mon–Mon 2026]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830568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67208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34383C"/>
                </a:solidFill>
                <a:latin typeface="Arial"/>
              </a:rPr>
              <a:t>Thesis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71323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B625F"/>
                </a:solidFill>
                <a:latin typeface="Arial"/>
              </a:rPr>
              <a:t>[Month 2026]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468880"/>
            <a:ext cx="8183879" cy="5760720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743200"/>
            <a:ext cx="7452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FE0D2"/>
                </a:solidFill>
                <a:latin typeface="Arial"/>
              </a:rPr>
              <a:t>EXPECTED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46120"/>
            <a:ext cx="745235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Academic — first integrated STP + 7P study of bioethanol-blended gasoline in Indonesia.
Practical — an actionable, prioritized marketing strategy roadmap for Pertamina to accelerate Pertamax Green 95 adoption and support the national energy transition.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" y="2103120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" y="365760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3977639"/>
            <a:ext cx="1618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>
                <a:solidFill>
                  <a:srgbClr val="16191C"/>
                </a:solidFill>
                <a:latin typeface="Arial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669280"/>
            <a:ext cx="1618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4A4F54"/>
                </a:solidFill>
                <a:latin typeface="Arial"/>
              </a:rPr>
              <a:t>Thank you — feedback and suggestions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694944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8A9099"/>
                </a:solidFill>
                <a:latin typeface="Arial"/>
              </a:rPr>
              <a:t>Research on the Marketing Strategy of Pertamina's Pertamax Green 95 in the Indonesian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8503920"/>
            <a:ext cx="16184880" cy="15240"/>
          </a:xfrm>
          <a:prstGeom prst="rect">
            <a:avLst/>
          </a:prstGeom>
          <a:solidFill>
            <a:srgbClr val="E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8778240"/>
            <a:ext cx="1735896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90068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8A9099"/>
                </a:solidFill>
                <a:latin typeface="Arial"/>
              </a:rPr>
              <a:t>Id Arifandi · MBA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